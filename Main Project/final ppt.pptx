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99" r:id="rId2"/>
    <p:sldId id="294" r:id="rId3"/>
    <p:sldId id="300" r:id="rId4"/>
    <p:sldId id="286" r:id="rId5"/>
    <p:sldId id="287" r:id="rId6"/>
    <p:sldId id="295" r:id="rId7"/>
    <p:sldId id="298" r:id="rId8"/>
    <p:sldId id="271" r:id="rId9"/>
    <p:sldId id="301" r:id="rId10"/>
    <p:sldId id="297" r:id="rId11"/>
    <p:sldId id="304" r:id="rId12"/>
    <p:sldId id="303" r:id="rId13"/>
    <p:sldId id="273" r:id="rId14"/>
    <p:sldId id="276" r:id="rId15"/>
    <p:sldId id="293" r:id="rId16"/>
    <p:sldId id="292" r:id="rId17"/>
    <p:sldId id="291" r:id="rId18"/>
    <p:sldId id="305" r:id="rId19"/>
    <p:sldId id="306" r:id="rId20"/>
    <p:sldId id="274" r:id="rId21"/>
    <p:sldId id="302" r:id="rId22"/>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460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rshith S" initials="HS" lastIdx="1" clrIdx="0">
    <p:extLst>
      <p:ext uri="{19B8F6BF-5375-455C-9EA6-DF929625EA0E}">
        <p15:presenceInfo xmlns:p15="http://schemas.microsoft.com/office/powerpoint/2012/main" userId="162f3f9aa16c797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E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98" autoAdjust="0"/>
    <p:restoredTop sz="86385" autoAdjust="0"/>
  </p:normalViewPr>
  <p:slideViewPr>
    <p:cSldViewPr snapToGrid="0" snapToObjects="1">
      <p:cViewPr varScale="1">
        <p:scale>
          <a:sx n="76" d="100"/>
          <a:sy n="76" d="100"/>
        </p:scale>
        <p:origin x="341" y="53"/>
      </p:cViewPr>
      <p:guideLst>
        <p:guide orient="horz" pos="2592"/>
        <p:guide pos="4608"/>
      </p:guideLst>
    </p:cSldViewPr>
  </p:slideViewPr>
  <p:outlineViewPr>
    <p:cViewPr>
      <p:scale>
        <a:sx n="33" d="100"/>
        <a:sy n="33" d="100"/>
      </p:scale>
      <p:origin x="246"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ren" userId="6af9c1749e0ac596" providerId="LiveId" clId="{2861CDC3-DF9B-483B-A7AE-03FE2ECFD533}"/>
    <pc:docChg chg="modSld">
      <pc:chgData name="Darren" userId="6af9c1749e0ac596" providerId="LiveId" clId="{2861CDC3-DF9B-483B-A7AE-03FE2ECFD533}" dt="2025-02-06T05:45:56.547" v="4" actId="20577"/>
      <pc:docMkLst>
        <pc:docMk/>
      </pc:docMkLst>
      <pc:sldChg chg="modSp mod">
        <pc:chgData name="Darren" userId="6af9c1749e0ac596" providerId="LiveId" clId="{2861CDC3-DF9B-483B-A7AE-03FE2ECFD533}" dt="2025-02-06T05:45:56.547" v="4" actId="20577"/>
        <pc:sldMkLst>
          <pc:docMk/>
          <pc:sldMk cId="2368819309" sldId="304"/>
        </pc:sldMkLst>
        <pc:spChg chg="mod">
          <ac:chgData name="Darren" userId="6af9c1749e0ac596" providerId="LiveId" clId="{2861CDC3-DF9B-483B-A7AE-03FE2ECFD533}" dt="2025-02-06T05:45:56.547" v="4" actId="20577"/>
          <ac:spMkLst>
            <pc:docMk/>
            <pc:sldMk cId="2368819309" sldId="304"/>
            <ac:spMk id="22" creationId="{00000000-0000-0000-0000-000000000000}"/>
          </ac:spMkLst>
        </pc:spChg>
      </pc:sldChg>
    </pc:docChg>
  </pc:docChgLst>
  <pc:docChgLst>
    <pc:chgData name="Darren" userId="6af9c1749e0ac596" providerId="LiveId" clId="{22113E20-585E-4A3E-9F79-7AB24389AA0B}"/>
    <pc:docChg chg="undo custSel addSld modSld sldOrd">
      <pc:chgData name="Darren" userId="6af9c1749e0ac596" providerId="LiveId" clId="{22113E20-585E-4A3E-9F79-7AB24389AA0B}" dt="2024-12-07T18:44:11.508" v="603" actId="113"/>
      <pc:docMkLst>
        <pc:docMk/>
      </pc:docMkLst>
      <pc:sldChg chg="modSp mod">
        <pc:chgData name="Darren" userId="6af9c1749e0ac596" providerId="LiveId" clId="{22113E20-585E-4A3E-9F79-7AB24389AA0B}" dt="2024-12-07T17:39:30.760" v="569" actId="207"/>
        <pc:sldMkLst>
          <pc:docMk/>
          <pc:sldMk cId="2625528172" sldId="271"/>
        </pc:sldMkLst>
        <pc:spChg chg="mod">
          <ac:chgData name="Darren" userId="6af9c1749e0ac596" providerId="LiveId" clId="{22113E20-585E-4A3E-9F79-7AB24389AA0B}" dt="2024-12-07T17:39:30.760" v="569" actId="207"/>
          <ac:spMkLst>
            <pc:docMk/>
            <pc:sldMk cId="2625528172" sldId="271"/>
            <ac:spMk id="13" creationId="{00000000-0000-0000-0000-000000000000}"/>
          </ac:spMkLst>
        </pc:spChg>
      </pc:sldChg>
      <pc:sldChg chg="modSp mod">
        <pc:chgData name="Darren" userId="6af9c1749e0ac596" providerId="LiveId" clId="{22113E20-585E-4A3E-9F79-7AB24389AA0B}" dt="2024-12-07T17:40:23.578" v="571" actId="20577"/>
        <pc:sldMkLst>
          <pc:docMk/>
          <pc:sldMk cId="477760856" sldId="286"/>
        </pc:sldMkLst>
        <pc:spChg chg="mod">
          <ac:chgData name="Darren" userId="6af9c1749e0ac596" providerId="LiveId" clId="{22113E20-585E-4A3E-9F79-7AB24389AA0B}" dt="2024-12-07T17:40:23.578" v="571" actId="20577"/>
          <ac:spMkLst>
            <pc:docMk/>
            <pc:sldMk cId="477760856" sldId="286"/>
            <ac:spMk id="16" creationId="{74669ACC-E1E3-26E9-7F7F-D84F302396C3}"/>
          </ac:spMkLst>
        </pc:spChg>
      </pc:sldChg>
      <pc:sldChg chg="modSp mod">
        <pc:chgData name="Darren" userId="6af9c1749e0ac596" providerId="LiveId" clId="{22113E20-585E-4A3E-9F79-7AB24389AA0B}" dt="2024-12-05T06:24:36.691" v="348" actId="14100"/>
        <pc:sldMkLst>
          <pc:docMk/>
          <pc:sldMk cId="1692244562" sldId="291"/>
        </pc:sldMkLst>
        <pc:spChg chg="mod">
          <ac:chgData name="Darren" userId="6af9c1749e0ac596" providerId="LiveId" clId="{22113E20-585E-4A3E-9F79-7AB24389AA0B}" dt="2024-12-05T06:24:36.691" v="348" actId="14100"/>
          <ac:spMkLst>
            <pc:docMk/>
            <pc:sldMk cId="1692244562" sldId="291"/>
            <ac:spMk id="19" creationId="{A8D0CF68-96F8-0FE5-5B08-021EA96B3C9C}"/>
          </ac:spMkLst>
        </pc:spChg>
        <pc:picChg chg="mod">
          <ac:chgData name="Darren" userId="6af9c1749e0ac596" providerId="LiveId" clId="{22113E20-585E-4A3E-9F79-7AB24389AA0B}" dt="2024-12-05T06:24:36.691" v="348" actId="14100"/>
          <ac:picMkLst>
            <pc:docMk/>
            <pc:sldMk cId="1692244562" sldId="291"/>
            <ac:picMk id="18" creationId="{62868A84-74E8-191F-9D7E-88BAA74BD33F}"/>
          </ac:picMkLst>
        </pc:picChg>
      </pc:sldChg>
      <pc:sldChg chg="addSp delSp modSp mod">
        <pc:chgData name="Darren" userId="6af9c1749e0ac596" providerId="LiveId" clId="{22113E20-585E-4A3E-9F79-7AB24389AA0B}" dt="2024-12-07T18:43:43.072" v="601" actId="478"/>
        <pc:sldMkLst>
          <pc:docMk/>
          <pc:sldMk cId="2876390741" sldId="292"/>
        </pc:sldMkLst>
        <pc:picChg chg="add del mod">
          <ac:chgData name="Darren" userId="6af9c1749e0ac596" providerId="LiveId" clId="{22113E20-585E-4A3E-9F79-7AB24389AA0B}" dt="2024-12-07T18:43:43.072" v="601" actId="478"/>
          <ac:picMkLst>
            <pc:docMk/>
            <pc:sldMk cId="2876390741" sldId="292"/>
            <ac:picMk id="4" creationId="{646A23E1-79B5-1DBF-426B-1CD733D358BB}"/>
          </ac:picMkLst>
        </pc:picChg>
      </pc:sldChg>
      <pc:sldChg chg="modSp mod">
        <pc:chgData name="Darren" userId="6af9c1749e0ac596" providerId="LiveId" clId="{22113E20-585E-4A3E-9F79-7AB24389AA0B}" dt="2024-12-05T07:01:12.399" v="568" actId="20577"/>
        <pc:sldMkLst>
          <pc:docMk/>
          <pc:sldMk cId="766398346" sldId="294"/>
        </pc:sldMkLst>
        <pc:spChg chg="mod">
          <ac:chgData name="Darren" userId="6af9c1749e0ac596" providerId="LiveId" clId="{22113E20-585E-4A3E-9F79-7AB24389AA0B}" dt="2024-12-05T07:01:12.399" v="568" actId="20577"/>
          <ac:spMkLst>
            <pc:docMk/>
            <pc:sldMk cId="766398346" sldId="294"/>
            <ac:spMk id="3" creationId="{00000000-0000-0000-0000-000000000000}"/>
          </ac:spMkLst>
        </pc:spChg>
      </pc:sldChg>
      <pc:sldChg chg="addSp delSp modSp mod">
        <pc:chgData name="Darren" userId="6af9c1749e0ac596" providerId="LiveId" clId="{22113E20-585E-4A3E-9F79-7AB24389AA0B}" dt="2024-12-07T17:40:09.901" v="570" actId="20577"/>
        <pc:sldMkLst>
          <pc:docMk/>
          <pc:sldMk cId="3156214008" sldId="298"/>
        </pc:sldMkLst>
        <pc:spChg chg="mod">
          <ac:chgData name="Darren" userId="6af9c1749e0ac596" providerId="LiveId" clId="{22113E20-585E-4A3E-9F79-7AB24389AA0B}" dt="2024-12-05T06:46:52.583" v="429" actId="6549"/>
          <ac:spMkLst>
            <pc:docMk/>
            <pc:sldMk cId="3156214008" sldId="298"/>
            <ac:spMk id="2" creationId="{00000000-0000-0000-0000-000000000000}"/>
          </ac:spMkLst>
        </pc:spChg>
        <pc:spChg chg="del mod">
          <ac:chgData name="Darren" userId="6af9c1749e0ac596" providerId="LiveId" clId="{22113E20-585E-4A3E-9F79-7AB24389AA0B}" dt="2024-12-05T06:47:11.790" v="432"/>
          <ac:spMkLst>
            <pc:docMk/>
            <pc:sldMk cId="3156214008" sldId="298"/>
            <ac:spMk id="3" creationId="{00000000-0000-0000-0000-000000000000}"/>
          </ac:spMkLst>
        </pc:spChg>
        <pc:spChg chg="add mod">
          <ac:chgData name="Darren" userId="6af9c1749e0ac596" providerId="LiveId" clId="{22113E20-585E-4A3E-9F79-7AB24389AA0B}" dt="2024-12-05T06:47:42.146" v="449"/>
          <ac:spMkLst>
            <pc:docMk/>
            <pc:sldMk cId="3156214008" sldId="298"/>
            <ac:spMk id="13" creationId="{F002C28C-A1B8-8102-5D44-7A0EEF9F283C}"/>
          </ac:spMkLst>
        </pc:spChg>
        <pc:spChg chg="add mod">
          <ac:chgData name="Darren" userId="6af9c1749e0ac596" providerId="LiveId" clId="{22113E20-585E-4A3E-9F79-7AB24389AA0B}" dt="2024-12-07T17:40:09.901" v="570" actId="20577"/>
          <ac:spMkLst>
            <pc:docMk/>
            <pc:sldMk cId="3156214008" sldId="298"/>
            <ac:spMk id="14" creationId="{26475BCF-6F1F-AF37-6294-3D431087CC88}"/>
          </ac:spMkLst>
        </pc:spChg>
      </pc:sldChg>
      <pc:sldChg chg="modSp mod">
        <pc:chgData name="Darren" userId="6af9c1749e0ac596" providerId="LiveId" clId="{22113E20-585E-4A3E-9F79-7AB24389AA0B}" dt="2024-12-07T17:42:30.068" v="575" actId="20577"/>
        <pc:sldMkLst>
          <pc:docMk/>
          <pc:sldMk cId="1816117494" sldId="302"/>
        </pc:sldMkLst>
        <pc:spChg chg="mod">
          <ac:chgData name="Darren" userId="6af9c1749e0ac596" providerId="LiveId" clId="{22113E20-585E-4A3E-9F79-7AB24389AA0B}" dt="2024-12-07T17:42:30.068" v="575" actId="20577"/>
          <ac:spMkLst>
            <pc:docMk/>
            <pc:sldMk cId="1816117494" sldId="302"/>
            <ac:spMk id="12" creationId="{00000000-0000-0000-0000-000000000000}"/>
          </ac:spMkLst>
        </pc:spChg>
      </pc:sldChg>
      <pc:sldChg chg="modSp mod">
        <pc:chgData name="Darren" userId="6af9c1749e0ac596" providerId="LiveId" clId="{22113E20-585E-4A3E-9F79-7AB24389AA0B}" dt="2024-12-07T17:41:58.861" v="572" actId="207"/>
        <pc:sldMkLst>
          <pc:docMk/>
          <pc:sldMk cId="2368819309" sldId="304"/>
        </pc:sldMkLst>
        <pc:spChg chg="mod">
          <ac:chgData name="Darren" userId="6af9c1749e0ac596" providerId="LiveId" clId="{22113E20-585E-4A3E-9F79-7AB24389AA0B}" dt="2024-12-07T17:41:58.861" v="572" actId="207"/>
          <ac:spMkLst>
            <pc:docMk/>
            <pc:sldMk cId="2368819309" sldId="304"/>
            <ac:spMk id="11" creationId="{00000000-0000-0000-0000-000000000000}"/>
          </ac:spMkLst>
        </pc:spChg>
      </pc:sldChg>
      <pc:sldChg chg="addSp delSp modSp new mod ord">
        <pc:chgData name="Darren" userId="6af9c1749e0ac596" providerId="LiveId" clId="{22113E20-585E-4A3E-9F79-7AB24389AA0B}" dt="2024-12-07T18:44:11.508" v="603" actId="113"/>
        <pc:sldMkLst>
          <pc:docMk/>
          <pc:sldMk cId="4054629749" sldId="305"/>
        </pc:sldMkLst>
        <pc:spChg chg="add del mod">
          <ac:chgData name="Darren" userId="6af9c1749e0ac596" providerId="LiveId" clId="{22113E20-585E-4A3E-9F79-7AB24389AA0B}" dt="2024-12-05T06:24:05.593" v="340" actId="478"/>
          <ac:spMkLst>
            <pc:docMk/>
            <pc:sldMk cId="4054629749" sldId="305"/>
            <ac:spMk id="3" creationId="{C9A84FB1-1130-7A33-36B7-92945A00831A}"/>
          </ac:spMkLst>
        </pc:spChg>
        <pc:spChg chg="add mod">
          <ac:chgData name="Darren" userId="6af9c1749e0ac596" providerId="LiveId" clId="{22113E20-585E-4A3E-9F79-7AB24389AA0B}" dt="2024-12-05T06:16:17.010" v="3"/>
          <ac:spMkLst>
            <pc:docMk/>
            <pc:sldMk cId="4054629749" sldId="305"/>
            <ac:spMk id="5" creationId="{FC1F2F4A-294D-A9BC-8B23-1FD41B9AD2CD}"/>
          </ac:spMkLst>
        </pc:spChg>
        <pc:spChg chg="add del mod">
          <ac:chgData name="Darren" userId="6af9c1749e0ac596" providerId="LiveId" clId="{22113E20-585E-4A3E-9F79-7AB24389AA0B}" dt="2024-12-05T06:24:07.881" v="342" actId="478"/>
          <ac:spMkLst>
            <pc:docMk/>
            <pc:sldMk cId="4054629749" sldId="305"/>
            <ac:spMk id="7" creationId="{83C8587A-72E1-D9C4-2518-4915C3999FC1}"/>
          </ac:spMkLst>
        </pc:spChg>
        <pc:spChg chg="add del mod">
          <ac:chgData name="Darren" userId="6af9c1749e0ac596" providerId="LiveId" clId="{22113E20-585E-4A3E-9F79-7AB24389AA0B}" dt="2024-12-05T06:24:18.554" v="345" actId="478"/>
          <ac:spMkLst>
            <pc:docMk/>
            <pc:sldMk cId="4054629749" sldId="305"/>
            <ac:spMk id="10" creationId="{557EAC0E-7B17-696E-BDF0-13D29D3AA523}"/>
          </ac:spMkLst>
        </pc:spChg>
        <pc:spChg chg="add del mod">
          <ac:chgData name="Darren" userId="6af9c1749e0ac596" providerId="LiveId" clId="{22113E20-585E-4A3E-9F79-7AB24389AA0B}" dt="2024-12-05T06:25:10.331" v="352" actId="478"/>
          <ac:spMkLst>
            <pc:docMk/>
            <pc:sldMk cId="4054629749" sldId="305"/>
            <ac:spMk id="11" creationId="{9F852898-E123-C7E2-D189-E3D2ECED75B4}"/>
          </ac:spMkLst>
        </pc:spChg>
        <pc:spChg chg="add del mod">
          <ac:chgData name="Darren" userId="6af9c1749e0ac596" providerId="LiveId" clId="{22113E20-585E-4A3E-9F79-7AB24389AA0B}" dt="2024-12-05T06:17:30.662" v="6"/>
          <ac:spMkLst>
            <pc:docMk/>
            <pc:sldMk cId="4054629749" sldId="305"/>
            <ac:spMk id="12" creationId="{C8E5F056-71D3-43B8-B7ED-7DD2F05105C5}"/>
          </ac:spMkLst>
        </pc:spChg>
        <pc:spChg chg="add del mod">
          <ac:chgData name="Darren" userId="6af9c1749e0ac596" providerId="LiveId" clId="{22113E20-585E-4A3E-9F79-7AB24389AA0B}" dt="2024-12-05T06:17:42.003" v="8" actId="478"/>
          <ac:spMkLst>
            <pc:docMk/>
            <pc:sldMk cId="4054629749" sldId="305"/>
            <ac:spMk id="13" creationId="{F4C886DD-0B58-C92C-6CCE-42D95355EA60}"/>
          </ac:spMkLst>
        </pc:spChg>
        <pc:spChg chg="add del mod">
          <ac:chgData name="Darren" userId="6af9c1749e0ac596" providerId="LiveId" clId="{22113E20-585E-4A3E-9F79-7AB24389AA0B}" dt="2024-12-05T06:26:53.225" v="364"/>
          <ac:spMkLst>
            <pc:docMk/>
            <pc:sldMk cId="4054629749" sldId="305"/>
            <ac:spMk id="15" creationId="{E0A10DCF-0987-B863-CC56-CC1328828564}"/>
          </ac:spMkLst>
        </pc:spChg>
        <pc:spChg chg="add mod">
          <ac:chgData name="Darren" userId="6af9c1749e0ac596" providerId="LiveId" clId="{22113E20-585E-4A3E-9F79-7AB24389AA0B}" dt="2024-12-05T06:24:51.464" v="349"/>
          <ac:spMkLst>
            <pc:docMk/>
            <pc:sldMk cId="4054629749" sldId="305"/>
            <ac:spMk id="18" creationId="{8FFA70BD-4393-0C2E-DD7C-9E9ABD30E252}"/>
          </ac:spMkLst>
        </pc:spChg>
        <pc:spChg chg="add mod">
          <ac:chgData name="Darren" userId="6af9c1749e0ac596" providerId="LiveId" clId="{22113E20-585E-4A3E-9F79-7AB24389AA0B}" dt="2024-12-05T06:24:51.464" v="349"/>
          <ac:spMkLst>
            <pc:docMk/>
            <pc:sldMk cId="4054629749" sldId="305"/>
            <ac:spMk id="21" creationId="{8A0E17BE-B7F8-53ED-7485-B1061D8EB1A7}"/>
          </ac:spMkLst>
        </pc:spChg>
        <pc:spChg chg="add mod">
          <ac:chgData name="Darren" userId="6af9c1749e0ac596" providerId="LiveId" clId="{22113E20-585E-4A3E-9F79-7AB24389AA0B}" dt="2024-12-05T06:24:51.464" v="349"/>
          <ac:spMkLst>
            <pc:docMk/>
            <pc:sldMk cId="4054629749" sldId="305"/>
            <ac:spMk id="24" creationId="{50B8502B-55A9-5DB0-08A5-4DBB6DE4BF9A}"/>
          </ac:spMkLst>
        </pc:spChg>
        <pc:spChg chg="add del mod">
          <ac:chgData name="Darren" userId="6af9c1749e0ac596" providerId="LiveId" clId="{22113E20-585E-4A3E-9F79-7AB24389AA0B}" dt="2024-12-05T06:25:23.745" v="354"/>
          <ac:spMkLst>
            <pc:docMk/>
            <pc:sldMk cId="4054629749" sldId="305"/>
            <ac:spMk id="25" creationId="{3EDD67EB-624E-43D2-8CB1-392DA1BBEDD0}"/>
          </ac:spMkLst>
        </pc:spChg>
        <pc:spChg chg="add del mod">
          <ac:chgData name="Darren" userId="6af9c1749e0ac596" providerId="LiveId" clId="{22113E20-585E-4A3E-9F79-7AB24389AA0B}" dt="2024-12-05T06:25:23.745" v="354"/>
          <ac:spMkLst>
            <pc:docMk/>
            <pc:sldMk cId="4054629749" sldId="305"/>
            <ac:spMk id="28" creationId="{B3E952D5-2227-27E2-E9D0-09EBB11F63FF}"/>
          </ac:spMkLst>
        </pc:spChg>
        <pc:spChg chg="add del mod">
          <ac:chgData name="Darren" userId="6af9c1749e0ac596" providerId="LiveId" clId="{22113E20-585E-4A3E-9F79-7AB24389AA0B}" dt="2024-12-05T06:25:23.745" v="354"/>
          <ac:spMkLst>
            <pc:docMk/>
            <pc:sldMk cId="4054629749" sldId="305"/>
            <ac:spMk id="31" creationId="{F229607E-AFEE-F35C-AFFA-8A1DE7445BD0}"/>
          </ac:spMkLst>
        </pc:spChg>
        <pc:spChg chg="add del">
          <ac:chgData name="Darren" userId="6af9c1749e0ac596" providerId="LiveId" clId="{22113E20-585E-4A3E-9F79-7AB24389AA0B}" dt="2024-12-05T06:25:45.038" v="356" actId="22"/>
          <ac:spMkLst>
            <pc:docMk/>
            <pc:sldMk cId="4054629749" sldId="305"/>
            <ac:spMk id="33" creationId="{942EB331-1892-3653-9815-ACF1586D75AB}"/>
          </ac:spMkLst>
        </pc:spChg>
        <pc:spChg chg="add del mod">
          <ac:chgData name="Darren" userId="6af9c1749e0ac596" providerId="LiveId" clId="{22113E20-585E-4A3E-9F79-7AB24389AA0B}" dt="2024-12-05T06:26:53.225" v="362" actId="478"/>
          <ac:spMkLst>
            <pc:docMk/>
            <pc:sldMk cId="4054629749" sldId="305"/>
            <ac:spMk id="35" creationId="{441358C6-2CA9-71AF-5D6D-5F64E64BF802}"/>
          </ac:spMkLst>
        </pc:spChg>
        <pc:spChg chg="add mod">
          <ac:chgData name="Darren" userId="6af9c1749e0ac596" providerId="LiveId" clId="{22113E20-585E-4A3E-9F79-7AB24389AA0B}" dt="2024-12-05T06:27:19.168" v="391" actId="20577"/>
          <ac:spMkLst>
            <pc:docMk/>
            <pc:sldMk cId="4054629749" sldId="305"/>
            <ac:spMk id="36" creationId="{33314508-8366-94E2-9FA6-A9ADD933F56C}"/>
          </ac:spMkLst>
        </pc:spChg>
        <pc:spChg chg="add mod">
          <ac:chgData name="Darren" userId="6af9c1749e0ac596" providerId="LiveId" clId="{22113E20-585E-4A3E-9F79-7AB24389AA0B}" dt="2024-12-07T18:44:11.508" v="603" actId="113"/>
          <ac:spMkLst>
            <pc:docMk/>
            <pc:sldMk cId="4054629749" sldId="305"/>
            <ac:spMk id="37" creationId="{2D6D8F09-3A85-E991-EFC0-A0F4C85775F7}"/>
          </ac:spMkLst>
        </pc:spChg>
        <pc:picChg chg="add mod">
          <ac:chgData name="Darren" userId="6af9c1749e0ac596" providerId="LiveId" clId="{22113E20-585E-4A3E-9F79-7AB24389AA0B}" dt="2024-12-05T06:16:17.010" v="3"/>
          <ac:picMkLst>
            <pc:docMk/>
            <pc:sldMk cId="4054629749" sldId="305"/>
            <ac:picMk id="2" creationId="{68E89748-FCDA-0A3E-0C4F-CC0F4499D55B}"/>
          </ac:picMkLst>
        </pc:picChg>
        <pc:picChg chg="add del mod">
          <ac:chgData name="Darren" userId="6af9c1749e0ac596" providerId="LiveId" clId="{22113E20-585E-4A3E-9F79-7AB24389AA0B}" dt="2024-12-05T06:24:06.604" v="341" actId="478"/>
          <ac:picMkLst>
            <pc:docMk/>
            <pc:sldMk cId="4054629749" sldId="305"/>
            <ac:picMk id="4" creationId="{8A3E3E35-8C5E-3AB7-AFDC-27C7A6247705}"/>
          </ac:picMkLst>
        </pc:picChg>
        <pc:picChg chg="add del mod">
          <ac:chgData name="Darren" userId="6af9c1749e0ac596" providerId="LiveId" clId="{22113E20-585E-4A3E-9F79-7AB24389AA0B}" dt="2024-12-05T06:24:03.294" v="338" actId="478"/>
          <ac:picMkLst>
            <pc:docMk/>
            <pc:sldMk cId="4054629749" sldId="305"/>
            <ac:picMk id="6" creationId="{DF1E2492-F2B0-B2C9-3932-89E86FB35A3E}"/>
          </ac:picMkLst>
        </pc:picChg>
        <pc:picChg chg="add del mod">
          <ac:chgData name="Darren" userId="6af9c1749e0ac596" providerId="LiveId" clId="{22113E20-585E-4A3E-9F79-7AB24389AA0B}" dt="2024-12-05T06:24:04.377" v="339" actId="478"/>
          <ac:picMkLst>
            <pc:docMk/>
            <pc:sldMk cId="4054629749" sldId="305"/>
            <ac:picMk id="8" creationId="{A698EAC2-0FAB-A526-BD97-58002B967333}"/>
          </ac:picMkLst>
        </pc:picChg>
        <pc:picChg chg="add del mod">
          <ac:chgData name="Darren" userId="6af9c1749e0ac596" providerId="LiveId" clId="{22113E20-585E-4A3E-9F79-7AB24389AA0B}" dt="2024-12-05T06:24:10.296" v="343" actId="478"/>
          <ac:picMkLst>
            <pc:docMk/>
            <pc:sldMk cId="4054629749" sldId="305"/>
            <ac:picMk id="9" creationId="{BC66C6D9-C758-FE4D-7B30-BE8913527930}"/>
          </ac:picMkLst>
        </pc:picChg>
        <pc:picChg chg="add del mod">
          <ac:chgData name="Darren" userId="6af9c1749e0ac596" providerId="LiveId" clId="{22113E20-585E-4A3E-9F79-7AB24389AA0B}" dt="2024-12-05T06:23:34.897" v="334"/>
          <ac:picMkLst>
            <pc:docMk/>
            <pc:sldMk cId="4054629749" sldId="305"/>
            <ac:picMk id="16" creationId="{11AA2D4A-3F9F-E301-0460-73DBA0AC515E}"/>
          </ac:picMkLst>
        </pc:picChg>
        <pc:picChg chg="add del mod ord">
          <ac:chgData name="Darren" userId="6af9c1749e0ac596" providerId="LiveId" clId="{22113E20-585E-4A3E-9F79-7AB24389AA0B}" dt="2024-12-05T06:43:00.238" v="395" actId="21"/>
          <ac:picMkLst>
            <pc:docMk/>
            <pc:sldMk cId="4054629749" sldId="305"/>
            <ac:picMk id="17" creationId="{5016D1E1-F271-6B13-A54F-B40A4A1E8F0B}"/>
          </ac:picMkLst>
        </pc:picChg>
        <pc:picChg chg="add mod">
          <ac:chgData name="Darren" userId="6af9c1749e0ac596" providerId="LiveId" clId="{22113E20-585E-4A3E-9F79-7AB24389AA0B}" dt="2024-12-05T06:24:51.464" v="349"/>
          <ac:picMkLst>
            <pc:docMk/>
            <pc:sldMk cId="4054629749" sldId="305"/>
            <ac:picMk id="19" creationId="{60435EA9-B1B6-296A-9B66-AFB45F104DAC}"/>
          </ac:picMkLst>
        </pc:picChg>
        <pc:picChg chg="add mod">
          <ac:chgData name="Darren" userId="6af9c1749e0ac596" providerId="LiveId" clId="{22113E20-585E-4A3E-9F79-7AB24389AA0B}" dt="2024-12-05T06:24:51.464" v="349"/>
          <ac:picMkLst>
            <pc:docMk/>
            <pc:sldMk cId="4054629749" sldId="305"/>
            <ac:picMk id="20" creationId="{8E4D0E6B-625F-14F9-84F8-DD56FFAB8DFD}"/>
          </ac:picMkLst>
        </pc:picChg>
        <pc:picChg chg="add mod">
          <ac:chgData name="Darren" userId="6af9c1749e0ac596" providerId="LiveId" clId="{22113E20-585E-4A3E-9F79-7AB24389AA0B}" dt="2024-12-05T06:24:51.464" v="349"/>
          <ac:picMkLst>
            <pc:docMk/>
            <pc:sldMk cId="4054629749" sldId="305"/>
            <ac:picMk id="22" creationId="{6AD7F874-BCE1-38E2-7E77-C58CE1966E56}"/>
          </ac:picMkLst>
        </pc:picChg>
        <pc:picChg chg="add mod">
          <ac:chgData name="Darren" userId="6af9c1749e0ac596" providerId="LiveId" clId="{22113E20-585E-4A3E-9F79-7AB24389AA0B}" dt="2024-12-05T06:24:51.464" v="349"/>
          <ac:picMkLst>
            <pc:docMk/>
            <pc:sldMk cId="4054629749" sldId="305"/>
            <ac:picMk id="23" creationId="{9B8E5767-374E-95D9-37C1-943F23A103D9}"/>
          </ac:picMkLst>
        </pc:picChg>
        <pc:picChg chg="add del mod">
          <ac:chgData name="Darren" userId="6af9c1749e0ac596" providerId="LiveId" clId="{22113E20-585E-4A3E-9F79-7AB24389AA0B}" dt="2024-12-05T06:25:23.745" v="354"/>
          <ac:picMkLst>
            <pc:docMk/>
            <pc:sldMk cId="4054629749" sldId="305"/>
            <ac:picMk id="26" creationId="{41ADBE31-8687-248C-0CF8-79CEAAC80E25}"/>
          </ac:picMkLst>
        </pc:picChg>
        <pc:picChg chg="add del mod">
          <ac:chgData name="Darren" userId="6af9c1749e0ac596" providerId="LiveId" clId="{22113E20-585E-4A3E-9F79-7AB24389AA0B}" dt="2024-12-05T06:25:23.745" v="354"/>
          <ac:picMkLst>
            <pc:docMk/>
            <pc:sldMk cId="4054629749" sldId="305"/>
            <ac:picMk id="27" creationId="{AE3C360C-6001-0060-4ADB-EAE1D443EE86}"/>
          </ac:picMkLst>
        </pc:picChg>
        <pc:picChg chg="add del mod">
          <ac:chgData name="Darren" userId="6af9c1749e0ac596" providerId="LiveId" clId="{22113E20-585E-4A3E-9F79-7AB24389AA0B}" dt="2024-12-05T06:25:23.745" v="354"/>
          <ac:picMkLst>
            <pc:docMk/>
            <pc:sldMk cId="4054629749" sldId="305"/>
            <ac:picMk id="29" creationId="{12C1BD28-B38A-844A-885A-D4D1CCAEF24A}"/>
          </ac:picMkLst>
        </pc:picChg>
        <pc:picChg chg="add del mod">
          <ac:chgData name="Darren" userId="6af9c1749e0ac596" providerId="LiveId" clId="{22113E20-585E-4A3E-9F79-7AB24389AA0B}" dt="2024-12-05T06:25:23.745" v="354"/>
          <ac:picMkLst>
            <pc:docMk/>
            <pc:sldMk cId="4054629749" sldId="305"/>
            <ac:picMk id="30" creationId="{F2F719EC-A097-EE74-4614-CCA6ED7032D0}"/>
          </ac:picMkLst>
        </pc:picChg>
        <pc:picChg chg="add mod ord">
          <ac:chgData name="Darren" userId="6af9c1749e0ac596" providerId="LiveId" clId="{22113E20-585E-4A3E-9F79-7AB24389AA0B}" dt="2024-12-05T06:43:27.788" v="399" actId="1076"/>
          <ac:picMkLst>
            <pc:docMk/>
            <pc:sldMk cId="4054629749" sldId="305"/>
            <ac:picMk id="39" creationId="{89335590-D9EC-6385-CCC8-464F833CE598}"/>
          </ac:picMkLst>
        </pc:picChg>
      </pc:sldChg>
      <pc:sldChg chg="addSp modSp new mod">
        <pc:chgData name="Darren" userId="6af9c1749e0ac596" providerId="LiveId" clId="{22113E20-585E-4A3E-9F79-7AB24389AA0B}" dt="2024-12-05T06:57:37.956" v="555" actId="14100"/>
        <pc:sldMkLst>
          <pc:docMk/>
          <pc:sldMk cId="2398009438" sldId="306"/>
        </pc:sldMkLst>
        <pc:spChg chg="add mod">
          <ac:chgData name="Darren" userId="6af9c1749e0ac596" providerId="LiveId" clId="{22113E20-585E-4A3E-9F79-7AB24389AA0B}" dt="2024-12-05T06:57:12.672" v="552" actId="113"/>
          <ac:spMkLst>
            <pc:docMk/>
            <pc:sldMk cId="2398009438" sldId="306"/>
            <ac:spMk id="2" creationId="{A0D0CD49-FB61-DCD2-2835-AD7EBE70881C}"/>
          </ac:spMkLst>
        </pc:spChg>
        <pc:spChg chg="add mod">
          <ac:chgData name="Darren" userId="6af9c1749e0ac596" providerId="LiveId" clId="{22113E20-585E-4A3E-9F79-7AB24389AA0B}" dt="2024-12-05T06:57:37.956" v="555" actId="14100"/>
          <ac:spMkLst>
            <pc:docMk/>
            <pc:sldMk cId="2398009438" sldId="306"/>
            <ac:spMk id="3" creationId="{C30F904D-A7BB-1AC3-4AA9-942066C912AB}"/>
          </ac:spMkLst>
        </pc:spChg>
        <pc:spChg chg="add mod">
          <ac:chgData name="Darren" userId="6af9c1749e0ac596" providerId="LiveId" clId="{22113E20-585E-4A3E-9F79-7AB24389AA0B}" dt="2024-12-05T06:54:00.298" v="453"/>
          <ac:spMkLst>
            <pc:docMk/>
            <pc:sldMk cId="2398009438" sldId="306"/>
            <ac:spMk id="5" creationId="{912EBFDA-C253-2739-1B95-E949FC960258}"/>
          </ac:spMkLst>
        </pc:spChg>
        <pc:spChg chg="add mod">
          <ac:chgData name="Darren" userId="6af9c1749e0ac596" providerId="LiveId" clId="{22113E20-585E-4A3E-9F79-7AB24389AA0B}" dt="2024-12-05T06:54:00.298" v="453"/>
          <ac:spMkLst>
            <pc:docMk/>
            <pc:sldMk cId="2398009438" sldId="306"/>
            <ac:spMk id="7" creationId="{249923C9-3FAB-6016-3D90-E79F43EB3669}"/>
          </ac:spMkLst>
        </pc:spChg>
        <pc:spChg chg="add mod">
          <ac:chgData name="Darren" userId="6af9c1749e0ac596" providerId="LiveId" clId="{22113E20-585E-4A3E-9F79-7AB24389AA0B}" dt="2024-12-05T06:54:00.298" v="453"/>
          <ac:spMkLst>
            <pc:docMk/>
            <pc:sldMk cId="2398009438" sldId="306"/>
            <ac:spMk id="9" creationId="{08B64EE9-D95C-8BEE-51E8-C08964A428A8}"/>
          </ac:spMkLst>
        </pc:spChg>
        <pc:spChg chg="add mod">
          <ac:chgData name="Darren" userId="6af9c1749e0ac596" providerId="LiveId" clId="{22113E20-585E-4A3E-9F79-7AB24389AA0B}" dt="2024-12-05T06:54:00.298" v="453"/>
          <ac:spMkLst>
            <pc:docMk/>
            <pc:sldMk cId="2398009438" sldId="306"/>
            <ac:spMk id="12" creationId="{D4813568-C8FC-03FB-9520-EFC5EFA8AE2F}"/>
          </ac:spMkLst>
        </pc:spChg>
        <pc:picChg chg="add mod">
          <ac:chgData name="Darren" userId="6af9c1749e0ac596" providerId="LiveId" clId="{22113E20-585E-4A3E-9F79-7AB24389AA0B}" dt="2024-12-05T06:54:00.298" v="453"/>
          <ac:picMkLst>
            <pc:docMk/>
            <pc:sldMk cId="2398009438" sldId="306"/>
            <ac:picMk id="4" creationId="{3EE6D1B4-D3DD-63B3-F304-710EB0D034F1}"/>
          </ac:picMkLst>
        </pc:picChg>
        <pc:picChg chg="add mod">
          <ac:chgData name="Darren" userId="6af9c1749e0ac596" providerId="LiveId" clId="{22113E20-585E-4A3E-9F79-7AB24389AA0B}" dt="2024-12-05T06:54:00.298" v="453"/>
          <ac:picMkLst>
            <pc:docMk/>
            <pc:sldMk cId="2398009438" sldId="306"/>
            <ac:picMk id="6" creationId="{9D18123C-FBAD-36D5-8A81-4B704C6AE0CD}"/>
          </ac:picMkLst>
        </pc:picChg>
        <pc:picChg chg="add mod">
          <ac:chgData name="Darren" userId="6af9c1749e0ac596" providerId="LiveId" clId="{22113E20-585E-4A3E-9F79-7AB24389AA0B}" dt="2024-12-05T06:54:00.298" v="453"/>
          <ac:picMkLst>
            <pc:docMk/>
            <pc:sldMk cId="2398009438" sldId="306"/>
            <ac:picMk id="8" creationId="{24B7234C-6B35-AC53-CDBC-0DBE8D5AFB00}"/>
          </ac:picMkLst>
        </pc:picChg>
        <pc:picChg chg="add mod">
          <ac:chgData name="Darren" userId="6af9c1749e0ac596" providerId="LiveId" clId="{22113E20-585E-4A3E-9F79-7AB24389AA0B}" dt="2024-12-05T06:54:00.298" v="453"/>
          <ac:picMkLst>
            <pc:docMk/>
            <pc:sldMk cId="2398009438" sldId="306"/>
            <ac:picMk id="10" creationId="{E46EE5DE-ADD9-B2BC-52A4-11D32761C422}"/>
          </ac:picMkLst>
        </pc:picChg>
        <pc:picChg chg="add mod">
          <ac:chgData name="Darren" userId="6af9c1749e0ac596" providerId="LiveId" clId="{22113E20-585E-4A3E-9F79-7AB24389AA0B}" dt="2024-12-05T06:54:00.298" v="453"/>
          <ac:picMkLst>
            <pc:docMk/>
            <pc:sldMk cId="2398009438" sldId="306"/>
            <ac:picMk id="11" creationId="{B0CA837E-169B-7319-5A44-D1FD250143D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4962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1.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png"/><Relationship Id="rId7" Type="http://schemas.openxmlformats.org/officeDocument/2006/relationships/image" Target="../media/image4.jpe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image" Target="../media/image3.png"/><Relationship Id="rId4" Type="http://schemas.openxmlformats.org/officeDocument/2006/relationships/image" Target="../media/image2.jpe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1.jpe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1.jpe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png"/><Relationship Id="rId7" Type="http://schemas.openxmlformats.org/officeDocument/2006/relationships/image" Target="../media/image4.jpe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image" Target="../media/image3.png"/><Relationship Id="rId4" Type="http://schemas.openxmlformats.org/officeDocument/2006/relationships/image" Target="../media/image2.jpe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1.jpe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1.jpe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11.png"/><Relationship Id="rId7"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2.jpeg"/><Relationship Id="rId11"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5.png"/><Relationship Id="rId4" Type="http://schemas.openxmlformats.org/officeDocument/2006/relationships/image" Target="../media/image12.png"/><Relationship Id="rId9" Type="http://schemas.openxmlformats.org/officeDocument/2006/relationships/image" Target="../media/image4.jpe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1.jpe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1.jpe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1.jpeg"/><Relationship Id="rId4" Type="http://schemas.openxmlformats.org/officeDocument/2006/relationships/image" Target="../media/image3.png"/><Relationship Id="rId9" Type="http://schemas.openxmlformats.org/officeDocument/2006/relationships/image" Target="../media/image13.jp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1.jpe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1.jpe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png"/><Relationship Id="rId7" Type="http://schemas.openxmlformats.org/officeDocument/2006/relationships/image" Target="../media/image4.jpeg"/><Relationship Id="rId2" Type="http://schemas.openxmlformats.org/officeDocument/2006/relationships/image" Target="../media/image14.jpeg"/><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image" Target="../media/image3.png"/><Relationship Id="rId10" Type="http://schemas.openxmlformats.org/officeDocument/2006/relationships/image" Target="../media/image15.png"/><Relationship Id="rId4" Type="http://schemas.openxmlformats.org/officeDocument/2006/relationships/image" Target="../media/image2.jpeg"/><Relationship Id="rId9" Type="http://schemas.openxmlformats.org/officeDocument/2006/relationships/image" Target="../media/image7.png"/></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1.jpeg"/><Relationship Id="rId10" Type="http://schemas.openxmlformats.org/officeDocument/2006/relationships/image" Target="../media/image17.png"/><Relationship Id="rId4" Type="http://schemas.openxmlformats.org/officeDocument/2006/relationships/image" Target="../media/image3.png"/><Relationship Id="rId9" Type="http://schemas.openxmlformats.org/officeDocument/2006/relationships/image" Target="../media/image16.png"/></Relationships>
</file>

<file path=ppt/slides/_rels/slide1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png"/><Relationship Id="rId7" Type="http://schemas.openxmlformats.org/officeDocument/2006/relationships/image" Target="../media/image4.jpeg"/><Relationship Id="rId2" Type="http://schemas.openxmlformats.org/officeDocument/2006/relationships/image" Target="../media/image18.jpeg"/><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image" Target="../media/image3.png"/><Relationship Id="rId4" Type="http://schemas.openxmlformats.org/officeDocument/2006/relationships/image" Target="../media/image2.jpeg"/><Relationship Id="rId9" Type="http://schemas.openxmlformats.org/officeDocument/2006/relationships/image" Target="../media/image7.png"/></Relationships>
</file>

<file path=ppt/slides/_rels/slide1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png"/><Relationship Id="rId7" Type="http://schemas.openxmlformats.org/officeDocument/2006/relationships/image" Target="../media/image4.jpeg"/><Relationship Id="rId2" Type="http://schemas.openxmlformats.org/officeDocument/2006/relationships/image" Target="../media/image19.jp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jpeg"/><Relationship Id="rId9" Type="http://schemas.openxmlformats.org/officeDocument/2006/relationships/image" Target="../media/image7.png"/></Relationships>
</file>

<file path=ppt/slides/_rels/slide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1.jpe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png"/><Relationship Id="rId7" Type="http://schemas.openxmlformats.org/officeDocument/2006/relationships/image" Target="../media/image4.jpeg"/><Relationship Id="rId2" Type="http://schemas.openxmlformats.org/officeDocument/2006/relationships/hyperlink" Target="https://ieeexplore.ieee.org/document/9134568" TargetMode="Externa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image" Target="../media/image3.png"/><Relationship Id="rId4" Type="http://schemas.openxmlformats.org/officeDocument/2006/relationships/image" Target="../media/image2.jpeg"/><Relationship Id="rId9" Type="http://schemas.openxmlformats.org/officeDocument/2006/relationships/image" Target="../media/image7.png"/></Relationships>
</file>

<file path=ppt/slides/_rels/slide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1.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4"/>
          <p:cNvSpPr/>
          <p:nvPr/>
        </p:nvSpPr>
        <p:spPr>
          <a:xfrm>
            <a:off x="833199" y="5520095"/>
            <a:ext cx="355402" cy="355402"/>
          </a:xfrm>
          <a:prstGeom prst="roundRect">
            <a:avLst>
              <a:gd name="adj" fmla="val 25726039"/>
            </a:avLst>
          </a:prstGeom>
          <a:noFill/>
          <a:ln w="7620">
            <a:solidFill>
              <a:srgbClr val="FFFFFF"/>
            </a:solidFill>
            <a:prstDash val="solid"/>
          </a:ln>
        </p:spPr>
        <p:txBody>
          <a:bodyPr/>
          <a:lstStyle/>
          <a:p>
            <a:endParaRPr lang="en-IN" dirty="0"/>
          </a:p>
        </p:txBody>
      </p:sp>
      <p:sp>
        <p:nvSpPr>
          <p:cNvPr id="24" name="object 21">
            <a:extLst>
              <a:ext uri="{FF2B5EF4-FFF2-40B4-BE49-F238E27FC236}">
                <a16:creationId xmlns:a16="http://schemas.microsoft.com/office/drawing/2014/main" id="{392D8FAF-3C38-2604-B7E9-9784183074BB}"/>
              </a:ext>
            </a:extLst>
          </p:cNvPr>
          <p:cNvSpPr/>
          <p:nvPr/>
        </p:nvSpPr>
        <p:spPr>
          <a:xfrm>
            <a:off x="794382" y="29986"/>
            <a:ext cx="2029524" cy="858129"/>
          </a:xfrm>
          <a:prstGeom prst="rect">
            <a:avLst/>
          </a:prstGeom>
          <a:blipFill>
            <a:blip r:embed="rId2" cstate="print"/>
            <a:stretch>
              <a:fillRect/>
            </a:stretch>
          </a:blipFill>
        </p:spPr>
        <p:txBody>
          <a:bodyPr wrap="square" lIns="0" tIns="0" rIns="0" bIns="0" rtlCol="0"/>
          <a:lstStyle/>
          <a:p>
            <a:endParaRPr dirty="0">
              <a:solidFill>
                <a:prstClr val="black"/>
              </a:solidFill>
              <a:latin typeface="Aptos" panose="02110004020202020204"/>
            </a:endParaRPr>
          </a:p>
        </p:txBody>
      </p:sp>
      <p:sp>
        <p:nvSpPr>
          <p:cNvPr id="25" name="object 23">
            <a:extLst>
              <a:ext uri="{FF2B5EF4-FFF2-40B4-BE49-F238E27FC236}">
                <a16:creationId xmlns:a16="http://schemas.microsoft.com/office/drawing/2014/main" id="{60857EAF-D2DC-DEEB-EBE9-4560F8641511}"/>
              </a:ext>
            </a:extLst>
          </p:cNvPr>
          <p:cNvSpPr/>
          <p:nvPr/>
        </p:nvSpPr>
        <p:spPr>
          <a:xfrm>
            <a:off x="12183611" y="111595"/>
            <a:ext cx="1209819" cy="704826"/>
          </a:xfrm>
          <a:prstGeom prst="rect">
            <a:avLst/>
          </a:prstGeom>
          <a:blipFill>
            <a:blip r:embed="rId3"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26" name="Picture 25" descr="A logo with a brain and text&#10;&#10;Description automatically generated">
            <a:extLst>
              <a:ext uri="{FF2B5EF4-FFF2-40B4-BE49-F238E27FC236}">
                <a16:creationId xmlns:a16="http://schemas.microsoft.com/office/drawing/2014/main" id="{EBDCC238-DFE7-6CC6-7580-6EA8D800E4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34109" y="28629"/>
            <a:ext cx="1012874" cy="914401"/>
          </a:xfrm>
          <a:prstGeom prst="rect">
            <a:avLst/>
          </a:prstGeom>
        </p:spPr>
      </p:pic>
      <p:pic>
        <p:nvPicPr>
          <p:cNvPr id="27" name="Picture 26" descr="A yellow and orange circle with a red ribbon&#10;&#10;Description automatically generated">
            <a:extLst>
              <a:ext uri="{FF2B5EF4-FFF2-40B4-BE49-F238E27FC236}">
                <a16:creationId xmlns:a16="http://schemas.microsoft.com/office/drawing/2014/main" id="{DA9CB9ED-609F-9A67-2FC4-40C96ECA4A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68548" y="42696"/>
            <a:ext cx="970670" cy="900332"/>
          </a:xfrm>
          <a:prstGeom prst="rect">
            <a:avLst/>
          </a:prstGeom>
        </p:spPr>
      </p:pic>
      <p:sp>
        <p:nvSpPr>
          <p:cNvPr id="28" name="Rectangle 27">
            <a:extLst>
              <a:ext uri="{FF2B5EF4-FFF2-40B4-BE49-F238E27FC236}">
                <a16:creationId xmlns:a16="http://schemas.microsoft.com/office/drawing/2014/main" id="{333C4443-B4FD-B6F6-2F44-863B788326BD}"/>
              </a:ext>
            </a:extLst>
          </p:cNvPr>
          <p:cNvSpPr/>
          <p:nvPr/>
        </p:nvSpPr>
        <p:spPr>
          <a:xfrm>
            <a:off x="3020853" y="241002"/>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29" name="Picture 28" descr="A close-up of a blue and gold logo&#10;&#10;Description automatically generated">
            <a:extLst>
              <a:ext uri="{FF2B5EF4-FFF2-40B4-BE49-F238E27FC236}">
                <a16:creationId xmlns:a16="http://schemas.microsoft.com/office/drawing/2014/main" id="{B561500A-9DBB-FD08-59D8-ADBBBB690AF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51758" y="113036"/>
            <a:ext cx="1428940" cy="703385"/>
          </a:xfrm>
          <a:prstGeom prst="rect">
            <a:avLst/>
          </a:prstGeom>
        </p:spPr>
      </p:pic>
      <p:pic>
        <p:nvPicPr>
          <p:cNvPr id="30" name="Picture 29"/>
          <p:cNvPicPr>
            <a:picLocks noChangeAspect="1"/>
          </p:cNvPicPr>
          <p:nvPr/>
        </p:nvPicPr>
        <p:blipFill>
          <a:blip r:embed="rId7"/>
          <a:stretch>
            <a:fillRect/>
          </a:stretch>
        </p:blipFill>
        <p:spPr>
          <a:xfrm>
            <a:off x="0" y="241002"/>
            <a:ext cx="681842" cy="390178"/>
          </a:xfrm>
          <a:prstGeom prst="rect">
            <a:avLst/>
          </a:prstGeom>
        </p:spPr>
      </p:pic>
      <p:sp>
        <p:nvSpPr>
          <p:cNvPr id="31" name="Text 1"/>
          <p:cNvSpPr/>
          <p:nvPr/>
        </p:nvSpPr>
        <p:spPr>
          <a:xfrm>
            <a:off x="794382" y="2796674"/>
            <a:ext cx="12872632" cy="2362669"/>
          </a:xfrm>
          <a:prstGeom prst="rect">
            <a:avLst/>
          </a:prstGeom>
          <a:noFill/>
          <a:ln/>
        </p:spPr>
        <p:txBody>
          <a:bodyPr wrap="square" rtlCol="0" anchor="t"/>
          <a:lstStyle/>
          <a:p>
            <a:pPr marL="0" indent="0" algn="ctr">
              <a:lnSpc>
                <a:spcPct val="150000"/>
              </a:lnSpc>
              <a:buNone/>
            </a:pPr>
            <a:r>
              <a:rPr lang="en-US" sz="3200" dirty="0">
                <a:solidFill>
                  <a:srgbClr val="1B1B27"/>
                </a:solidFill>
                <a:latin typeface="times of roman"/>
                <a:ea typeface="Raleway" pitchFamily="34" charset="-122"/>
                <a:cs typeface="Raleway" pitchFamily="34" charset="-120"/>
              </a:rPr>
              <a:t>Brain Tumor Classification </a:t>
            </a:r>
          </a:p>
          <a:p>
            <a:pPr marL="0" indent="0" algn="ctr">
              <a:lnSpc>
                <a:spcPct val="150000"/>
              </a:lnSpc>
              <a:buNone/>
            </a:pPr>
            <a:r>
              <a:rPr lang="en-US" sz="3200" dirty="0">
                <a:solidFill>
                  <a:srgbClr val="1B1B27"/>
                </a:solidFill>
                <a:latin typeface="times of roman"/>
                <a:ea typeface="Raleway" pitchFamily="34" charset="-122"/>
                <a:cs typeface="Raleway" pitchFamily="34" charset="-120"/>
              </a:rPr>
              <a:t>Using a Highly Precise Attention </a:t>
            </a:r>
          </a:p>
          <a:p>
            <a:pPr marL="0" indent="0" algn="ctr">
              <a:lnSpc>
                <a:spcPct val="150000"/>
              </a:lnSpc>
              <a:buNone/>
            </a:pPr>
            <a:r>
              <a:rPr lang="en-US" sz="3200" dirty="0">
                <a:solidFill>
                  <a:srgbClr val="1B1B27"/>
                </a:solidFill>
                <a:latin typeface="times of roman"/>
                <a:ea typeface="Raleway" pitchFamily="34" charset="-122"/>
                <a:cs typeface="Raleway" pitchFamily="34" charset="-120"/>
              </a:rPr>
              <a:t>Based Convolutional Neural Network</a:t>
            </a:r>
            <a:endParaRPr lang="en-US" sz="3200" dirty="0">
              <a:latin typeface="times of roman"/>
            </a:endParaRPr>
          </a:p>
        </p:txBody>
      </p:sp>
      <p:sp>
        <p:nvSpPr>
          <p:cNvPr id="32" name="Text 2"/>
          <p:cNvSpPr/>
          <p:nvPr/>
        </p:nvSpPr>
        <p:spPr>
          <a:xfrm>
            <a:off x="833199" y="4420314"/>
            <a:ext cx="7477601" cy="999768"/>
          </a:xfrm>
          <a:prstGeom prst="rect">
            <a:avLst/>
          </a:prstGeom>
          <a:noFill/>
          <a:ln/>
        </p:spPr>
        <p:txBody>
          <a:bodyPr wrap="square" rtlCol="0" anchor="t"/>
          <a:lstStyle/>
          <a:p>
            <a:pPr marL="0" indent="0">
              <a:lnSpc>
                <a:spcPts val="2624"/>
              </a:lnSpc>
              <a:buNone/>
            </a:pPr>
            <a:endParaRPr lang="en-US" sz="1750" dirty="0"/>
          </a:p>
        </p:txBody>
      </p:sp>
      <p:sp>
        <p:nvSpPr>
          <p:cNvPr id="33" name="object 23">
            <a:extLst>
              <a:ext uri="{FF2B5EF4-FFF2-40B4-BE49-F238E27FC236}">
                <a16:creationId xmlns:a16="http://schemas.microsoft.com/office/drawing/2014/main" id="{60857EAF-D2DC-DEEB-EBE9-4560F8641511}"/>
              </a:ext>
            </a:extLst>
          </p:cNvPr>
          <p:cNvSpPr/>
          <p:nvPr/>
        </p:nvSpPr>
        <p:spPr>
          <a:xfrm>
            <a:off x="12179968" y="107719"/>
            <a:ext cx="1209819" cy="704826"/>
          </a:xfrm>
          <a:prstGeom prst="rect">
            <a:avLst/>
          </a:prstGeom>
          <a:blipFill>
            <a:blip r:embed="rId3"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34" name="Picture 33" descr="A logo with a brain and text&#10;&#10;Description automatically generated">
            <a:extLst>
              <a:ext uri="{FF2B5EF4-FFF2-40B4-BE49-F238E27FC236}">
                <a16:creationId xmlns:a16="http://schemas.microsoft.com/office/drawing/2014/main" id="{EBDCC238-DFE7-6CC6-7580-6EA8D800E4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30466" y="24753"/>
            <a:ext cx="1012874" cy="914401"/>
          </a:xfrm>
          <a:prstGeom prst="rect">
            <a:avLst/>
          </a:prstGeom>
        </p:spPr>
      </p:pic>
      <p:pic>
        <p:nvPicPr>
          <p:cNvPr id="35" name="Picture 34" descr="A yellow and orange circle with a red ribbon&#10;&#10;Description automatically generated">
            <a:extLst>
              <a:ext uri="{FF2B5EF4-FFF2-40B4-BE49-F238E27FC236}">
                <a16:creationId xmlns:a16="http://schemas.microsoft.com/office/drawing/2014/main" id="{DA9CB9ED-609F-9A67-2FC4-40C96ECA4A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64905" y="38820"/>
            <a:ext cx="970670" cy="900332"/>
          </a:xfrm>
          <a:prstGeom prst="rect">
            <a:avLst/>
          </a:prstGeom>
        </p:spPr>
      </p:pic>
      <p:sp>
        <p:nvSpPr>
          <p:cNvPr id="36" name="Rectangle 35">
            <a:extLst>
              <a:ext uri="{FF2B5EF4-FFF2-40B4-BE49-F238E27FC236}">
                <a16:creationId xmlns:a16="http://schemas.microsoft.com/office/drawing/2014/main" id="{333C4443-B4FD-B6F6-2F44-863B788326BD}"/>
              </a:ext>
            </a:extLst>
          </p:cNvPr>
          <p:cNvSpPr/>
          <p:nvPr/>
        </p:nvSpPr>
        <p:spPr>
          <a:xfrm>
            <a:off x="3017210"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37" name="Picture 36" descr="A close-up of a blue and gold logo&#10;&#10;Description automatically generated">
            <a:extLst>
              <a:ext uri="{FF2B5EF4-FFF2-40B4-BE49-F238E27FC236}">
                <a16:creationId xmlns:a16="http://schemas.microsoft.com/office/drawing/2014/main" id="{B561500A-9DBB-FD08-59D8-ADBBBB690AF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48115" y="109160"/>
            <a:ext cx="1428940" cy="703385"/>
          </a:xfrm>
          <a:prstGeom prst="rect">
            <a:avLst/>
          </a:prstGeom>
        </p:spPr>
      </p:pic>
      <p:pic>
        <p:nvPicPr>
          <p:cNvPr id="38" name="Picture 37"/>
          <p:cNvPicPr>
            <a:picLocks noChangeAspect="1"/>
          </p:cNvPicPr>
          <p:nvPr/>
        </p:nvPicPr>
        <p:blipFill>
          <a:blip r:embed="rId8"/>
          <a:stretch>
            <a:fillRect/>
          </a:stretch>
        </p:blipFill>
        <p:spPr>
          <a:xfrm>
            <a:off x="-19559" y="7851615"/>
            <a:ext cx="14649958" cy="377985"/>
          </a:xfrm>
          <a:prstGeom prst="rect">
            <a:avLst/>
          </a:prstGeom>
        </p:spPr>
      </p:pic>
      <p:sp>
        <p:nvSpPr>
          <p:cNvPr id="39" name="object 21">
            <a:extLst>
              <a:ext uri="{FF2B5EF4-FFF2-40B4-BE49-F238E27FC236}">
                <a16:creationId xmlns:a16="http://schemas.microsoft.com/office/drawing/2014/main" id="{392D8FAF-3C38-2604-B7E9-9784183074BB}"/>
              </a:ext>
            </a:extLst>
          </p:cNvPr>
          <p:cNvSpPr/>
          <p:nvPr/>
        </p:nvSpPr>
        <p:spPr>
          <a:xfrm>
            <a:off x="798025" y="29986"/>
            <a:ext cx="2029524" cy="858129"/>
          </a:xfrm>
          <a:prstGeom prst="rect">
            <a:avLst/>
          </a:prstGeom>
          <a:blipFill>
            <a:blip r:embed="rId2"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40" name="Picture 39"/>
          <p:cNvPicPr>
            <a:picLocks noChangeAspect="1"/>
          </p:cNvPicPr>
          <p:nvPr/>
        </p:nvPicPr>
        <p:blipFill>
          <a:blip r:embed="rId7"/>
          <a:stretch>
            <a:fillRect/>
          </a:stretch>
        </p:blipFill>
        <p:spPr>
          <a:xfrm>
            <a:off x="3643" y="241002"/>
            <a:ext cx="681842" cy="390178"/>
          </a:xfrm>
          <a:prstGeom prst="rect">
            <a:avLst/>
          </a:prstGeom>
        </p:spPr>
      </p:pic>
      <p:sp>
        <p:nvSpPr>
          <p:cNvPr id="41" name="object 23">
            <a:extLst>
              <a:ext uri="{FF2B5EF4-FFF2-40B4-BE49-F238E27FC236}">
                <a16:creationId xmlns:a16="http://schemas.microsoft.com/office/drawing/2014/main" id="{60857EAF-D2DC-DEEB-EBE9-4560F8641511}"/>
              </a:ext>
            </a:extLst>
          </p:cNvPr>
          <p:cNvSpPr/>
          <p:nvPr/>
        </p:nvSpPr>
        <p:spPr>
          <a:xfrm>
            <a:off x="12183611" y="107719"/>
            <a:ext cx="1209819" cy="704826"/>
          </a:xfrm>
          <a:prstGeom prst="rect">
            <a:avLst/>
          </a:prstGeom>
          <a:blipFill>
            <a:blip r:embed="rId3"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42" name="Picture 41" descr="A logo with a brain and text&#10;&#10;Description automatically generated">
            <a:extLst>
              <a:ext uri="{FF2B5EF4-FFF2-40B4-BE49-F238E27FC236}">
                <a16:creationId xmlns:a16="http://schemas.microsoft.com/office/drawing/2014/main" id="{EBDCC238-DFE7-6CC6-7580-6EA8D800E4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pic>
        <p:nvPicPr>
          <p:cNvPr id="43" name="Picture 42" descr="A yellow and orange circle with a red ribbon&#10;&#10;Description automatically generated">
            <a:extLst>
              <a:ext uri="{FF2B5EF4-FFF2-40B4-BE49-F238E27FC236}">
                <a16:creationId xmlns:a16="http://schemas.microsoft.com/office/drawing/2014/main" id="{DA9CB9ED-609F-9A67-2FC4-40C96ECA4A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68548" y="38820"/>
            <a:ext cx="970670" cy="900332"/>
          </a:xfrm>
          <a:prstGeom prst="rect">
            <a:avLst/>
          </a:prstGeom>
        </p:spPr>
      </p:pic>
      <p:sp>
        <p:nvSpPr>
          <p:cNvPr id="44" name="Rectangle 43">
            <a:extLst>
              <a:ext uri="{FF2B5EF4-FFF2-40B4-BE49-F238E27FC236}">
                <a16:creationId xmlns:a16="http://schemas.microsoft.com/office/drawing/2014/main" id="{333C4443-B4FD-B6F6-2F44-863B788326BD}"/>
              </a:ext>
            </a:extLst>
          </p:cNvPr>
          <p:cNvSpPr/>
          <p:nvPr/>
        </p:nvSpPr>
        <p:spPr>
          <a:xfrm>
            <a:off x="3020853"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45" name="Picture 44" descr="A close-up of a blue and gold logo&#10;&#10;Description automatically generated">
            <a:extLst>
              <a:ext uri="{FF2B5EF4-FFF2-40B4-BE49-F238E27FC236}">
                <a16:creationId xmlns:a16="http://schemas.microsoft.com/office/drawing/2014/main" id="{B561500A-9DBB-FD08-59D8-ADBBBB690AF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51758" y="109160"/>
            <a:ext cx="1428940" cy="703385"/>
          </a:xfrm>
          <a:prstGeom prst="rect">
            <a:avLst/>
          </a:prstGeom>
        </p:spPr>
      </p:pic>
      <p:sp>
        <p:nvSpPr>
          <p:cNvPr id="46" name="TextBox 45"/>
          <p:cNvSpPr txBox="1"/>
          <p:nvPr/>
        </p:nvSpPr>
        <p:spPr>
          <a:xfrm>
            <a:off x="8709581" y="5404791"/>
            <a:ext cx="5087620" cy="2246769"/>
          </a:xfrm>
          <a:prstGeom prst="rect">
            <a:avLst/>
          </a:prstGeom>
          <a:noFill/>
        </p:spPr>
        <p:txBody>
          <a:bodyPr wrap="square" rtlCol="0">
            <a:spAutoFit/>
          </a:bodyPr>
          <a:lstStyle/>
          <a:p>
            <a:r>
              <a:rPr lang="en-US" sz="2000" b="1" u="sng" dirty="0">
                <a:latin typeface="Times New Roman" pitchFamily="18" charset="0"/>
                <a:cs typeface="Times New Roman" pitchFamily="18" charset="0"/>
              </a:rPr>
              <a:t>Under the Guidance of :</a:t>
            </a:r>
          </a:p>
          <a:p>
            <a:pPr rtl="0"/>
            <a:r>
              <a:rPr lang="en-US" sz="2000" dirty="0">
                <a:effectLst/>
                <a:latin typeface="Times New Roman" panose="02020603050405020304" pitchFamily="18" charset="0"/>
                <a:cs typeface="Times New Roman" panose="02020603050405020304" pitchFamily="18" charset="0"/>
              </a:rPr>
              <a:t>Dr. Anil Kumar C J</a:t>
            </a:r>
            <a:endParaRPr lang="en-US" sz="2000" dirty="0">
              <a:latin typeface="Times New Roman" panose="02020603050405020304" pitchFamily="18" charset="0"/>
              <a:cs typeface="Times New Roman" panose="02020603050405020304" pitchFamily="18" charset="0"/>
            </a:endParaRPr>
          </a:p>
          <a:p>
            <a:pPr rtl="0"/>
            <a:r>
              <a:rPr lang="en-IN" sz="2000" dirty="0"/>
              <a:t>Assoc. Professor &amp; HOD </a:t>
            </a:r>
            <a:r>
              <a:rPr lang="en-US" sz="2000" dirty="0">
                <a:effectLst/>
                <a:latin typeface="Times New Roman" panose="02020603050405020304" pitchFamily="18" charset="0"/>
                <a:cs typeface="Times New Roman" panose="02020603050405020304" pitchFamily="18" charset="0"/>
              </a:rPr>
              <a:t>Department of CSE (ARTIFICIAL INTELLIGENCE &amp;MACHINE LEARNING)</a:t>
            </a:r>
            <a:endParaRPr lang="en-US" sz="2000" dirty="0">
              <a:latin typeface="Times New Roman" panose="02020603050405020304" pitchFamily="18" charset="0"/>
              <a:cs typeface="Times New Roman" panose="02020603050405020304" pitchFamily="18" charset="0"/>
            </a:endParaRPr>
          </a:p>
          <a:p>
            <a:pPr rtl="0"/>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47" name="TextBox 46"/>
          <p:cNvSpPr txBox="1"/>
          <p:nvPr/>
        </p:nvSpPr>
        <p:spPr>
          <a:xfrm>
            <a:off x="833199" y="5420082"/>
            <a:ext cx="4663834" cy="1631216"/>
          </a:xfrm>
          <a:prstGeom prst="rect">
            <a:avLst/>
          </a:prstGeom>
          <a:noFill/>
        </p:spPr>
        <p:txBody>
          <a:bodyPr wrap="square" rtlCol="0">
            <a:spAutoFit/>
          </a:bodyPr>
          <a:lstStyle/>
          <a:p>
            <a:r>
              <a:rPr lang="en-US" sz="2000" b="1" u="sng" dirty="0">
                <a:latin typeface="Times New Roman" pitchFamily="18" charset="0"/>
                <a:cs typeface="Times New Roman" pitchFamily="18" charset="0"/>
              </a:rPr>
              <a:t>Submitted by:</a:t>
            </a:r>
          </a:p>
          <a:p>
            <a:r>
              <a:rPr lang="en-US" sz="2000" dirty="0" err="1">
                <a:latin typeface="Times New Roman" pitchFamily="18" charset="0"/>
                <a:cs typeface="Times New Roman" pitchFamily="18" charset="0"/>
              </a:rPr>
              <a:t>Bhuvana.S</a:t>
            </a:r>
            <a:r>
              <a:rPr lang="en-US" sz="2000" dirty="0">
                <a:latin typeface="Times New Roman" pitchFamily="18" charset="0"/>
                <a:cs typeface="Times New Roman" pitchFamily="18" charset="0"/>
              </a:rPr>
              <a:t> – 4AD21CI013</a:t>
            </a:r>
          </a:p>
          <a:p>
            <a:r>
              <a:rPr lang="en-US" sz="2000" dirty="0">
                <a:latin typeface="Times New Roman" pitchFamily="18" charset="0"/>
                <a:cs typeface="Times New Roman" pitchFamily="18" charset="0"/>
              </a:rPr>
              <a:t>Darren Stallone Mendez - 4AD21CI017</a:t>
            </a:r>
          </a:p>
          <a:p>
            <a:r>
              <a:rPr lang="en-US" sz="2000" dirty="0" err="1">
                <a:latin typeface="Times New Roman" pitchFamily="18" charset="0"/>
                <a:cs typeface="Times New Roman" pitchFamily="18" charset="0"/>
              </a:rPr>
              <a:t>Chethan</a:t>
            </a:r>
            <a:r>
              <a:rPr lang="en-US" sz="2000" dirty="0">
                <a:latin typeface="Times New Roman" pitchFamily="18" charset="0"/>
                <a:cs typeface="Times New Roman" pitchFamily="18" charset="0"/>
              </a:rPr>
              <a:t> T - 4AD21CI016</a:t>
            </a:r>
          </a:p>
          <a:p>
            <a:r>
              <a:rPr lang="en-US" sz="2000" dirty="0">
                <a:latin typeface="Times New Roman" pitchFamily="18" charset="0"/>
                <a:cs typeface="Times New Roman" pitchFamily="18" charset="0"/>
              </a:rPr>
              <a:t>Harshith S - 4AD21CI022 </a:t>
            </a:r>
          </a:p>
        </p:txBody>
      </p:sp>
      <p:sp>
        <p:nvSpPr>
          <p:cNvPr id="48" name="TextBox 47"/>
          <p:cNvSpPr txBox="1"/>
          <p:nvPr/>
        </p:nvSpPr>
        <p:spPr>
          <a:xfrm>
            <a:off x="2823905" y="970370"/>
            <a:ext cx="8573437" cy="1723549"/>
          </a:xfrm>
          <a:prstGeom prst="rect">
            <a:avLst/>
          </a:prstGeom>
          <a:noFill/>
        </p:spPr>
        <p:txBody>
          <a:bodyPr wrap="square" rtlCol="0">
            <a:spAutoFit/>
          </a:bodyPr>
          <a:lstStyle/>
          <a:p>
            <a:pPr algn="ctr"/>
            <a:r>
              <a:rPr lang="en-US" sz="2400" dirty="0">
                <a:latin typeface="Times New Roman" pitchFamily="18" charset="0"/>
                <a:cs typeface="Times New Roman" pitchFamily="18" charset="0"/>
              </a:rPr>
              <a:t>Department of Computer Science &amp; Engineering (AIML)</a:t>
            </a:r>
            <a:r>
              <a:rPr lang="en-US" dirty="0">
                <a:latin typeface="Times New Roman" pitchFamily="18" charset="0"/>
                <a:cs typeface="Times New Roman" pitchFamily="18" charset="0"/>
              </a:rPr>
              <a:t> </a:t>
            </a:r>
          </a:p>
          <a:p>
            <a:endParaRPr lang="en-US" dirty="0">
              <a:latin typeface="Times New Roman" pitchFamily="18" charset="0"/>
              <a:cs typeface="Times New Roman" pitchFamily="18" charset="0"/>
            </a:endParaRPr>
          </a:p>
          <a:p>
            <a:pPr algn="ctr"/>
            <a:r>
              <a:rPr lang="en-US" sz="3600" b="1">
                <a:latin typeface="Times New Roman" pitchFamily="18" charset="0"/>
                <a:cs typeface="Times New Roman" pitchFamily="18" charset="0"/>
              </a:rPr>
              <a:t>Project </a:t>
            </a:r>
            <a:r>
              <a:rPr lang="en-US" sz="3600" b="1" dirty="0">
                <a:latin typeface="Times New Roman" pitchFamily="18" charset="0"/>
                <a:cs typeface="Times New Roman" pitchFamily="18" charset="0"/>
              </a:rPr>
              <a:t>Work</a:t>
            </a:r>
          </a:p>
          <a:p>
            <a:pPr algn="ctr"/>
            <a:r>
              <a:rPr lang="en-US" sz="2800" dirty="0">
                <a:latin typeface="Times New Roman" pitchFamily="18" charset="0"/>
                <a:cs typeface="Times New Roman" pitchFamily="18" charset="0"/>
              </a:rPr>
              <a:t>21AIP76</a:t>
            </a:r>
            <a:endParaRPr lang="en-US" sz="3600" dirty="0">
              <a:latin typeface="Times New Roman" pitchFamily="18" charset="0"/>
              <a:cs typeface="Times New Roman" pitchFamily="18" charset="0"/>
            </a:endParaRPr>
          </a:p>
        </p:txBody>
      </p:sp>
      <p:sp>
        <p:nvSpPr>
          <p:cNvPr id="49" name="TextBox 48"/>
          <p:cNvSpPr txBox="1"/>
          <p:nvPr/>
        </p:nvSpPr>
        <p:spPr>
          <a:xfrm>
            <a:off x="4459402" y="7829490"/>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spTree>
    <p:extLst>
      <p:ext uri="{BB962C8B-B14F-4D97-AF65-F5344CB8AC3E}">
        <p14:creationId xmlns:p14="http://schemas.microsoft.com/office/powerpoint/2010/main" val="1431094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2"/>
          <p:cNvSpPr/>
          <p:nvPr/>
        </p:nvSpPr>
        <p:spPr>
          <a:xfrm>
            <a:off x="1477889" y="2250846"/>
            <a:ext cx="8101046" cy="4838338"/>
          </a:xfrm>
          <a:prstGeom prst="rect">
            <a:avLst/>
          </a:prstGeom>
          <a:noFill/>
          <a:ln/>
        </p:spPr>
        <p:txBody>
          <a:bodyPr wrap="square" rtlCol="0" anchor="t"/>
          <a:lstStyle/>
          <a:p>
            <a:pPr>
              <a:lnSpc>
                <a:spcPts val="2624"/>
              </a:lnSpc>
            </a:pPr>
            <a:r>
              <a:rPr lang="en-US" sz="2000" dirty="0">
                <a:solidFill>
                  <a:srgbClr val="272525"/>
                </a:solidFill>
                <a:latin typeface="Crimson Pro Semi Bold" panose="020B0604020202020204" charset="0"/>
                <a:ea typeface="Lato" pitchFamily="34" charset="-122"/>
                <a:cs typeface="Times New Roman" pitchFamily="18" charset="0"/>
              </a:rPr>
              <a:t>It covers essential aspects such as </a:t>
            </a:r>
          </a:p>
          <a:p>
            <a:pPr>
              <a:lnSpc>
                <a:spcPts val="2624"/>
              </a:lnSpc>
            </a:pPr>
            <a:endParaRPr lang="en-US" sz="2000" dirty="0">
              <a:latin typeface="Crimson Pro Semi Bold" panose="020B0604020202020204" charset="0"/>
            </a:endParaRPr>
          </a:p>
          <a:p>
            <a:pPr marL="285750" indent="-285750">
              <a:buFont typeface="Arial" panose="020B0604020202020204" pitchFamily="34" charset="0"/>
              <a:buChar char="•"/>
            </a:pPr>
            <a:r>
              <a:rPr lang="en-IN" sz="2400" dirty="0">
                <a:latin typeface="Crimson Pro Semi Bold" panose="020B0604020202020204" charset="0"/>
                <a:cs typeface="Times New Roman" panose="02020603050405020304" pitchFamily="18" charset="0"/>
              </a:rPr>
              <a:t>Introduction</a:t>
            </a:r>
          </a:p>
          <a:p>
            <a:pPr marL="285750" indent="-285750">
              <a:buFont typeface="Arial" panose="020B0604020202020204" pitchFamily="34" charset="0"/>
              <a:buChar char="•"/>
            </a:pPr>
            <a:r>
              <a:rPr lang="en-IN" sz="2400" dirty="0">
                <a:latin typeface="Crimson Pro Semi Bold" panose="020B0604020202020204" charset="0"/>
                <a:cs typeface="Times New Roman" panose="02020603050405020304" pitchFamily="18" charset="0"/>
              </a:rPr>
              <a:t>Literature survey</a:t>
            </a:r>
          </a:p>
          <a:p>
            <a:pPr marL="285750" indent="-285750">
              <a:buFont typeface="Arial" panose="020B0604020202020204" pitchFamily="34" charset="0"/>
              <a:buChar char="•"/>
            </a:pPr>
            <a:r>
              <a:rPr lang="en-IN" sz="2400" dirty="0">
                <a:latin typeface="Crimson Pro Semi Bold" panose="020B0604020202020204" charset="0"/>
                <a:cs typeface="Times New Roman" panose="02020603050405020304" pitchFamily="18" charset="0"/>
              </a:rPr>
              <a:t>Existing Systems</a:t>
            </a:r>
          </a:p>
          <a:p>
            <a:pPr marL="285750" indent="-285750">
              <a:buFont typeface="Arial" panose="020B0604020202020204" pitchFamily="34" charset="0"/>
              <a:buChar char="•"/>
            </a:pPr>
            <a:r>
              <a:rPr lang="en-IN" sz="2400" dirty="0">
                <a:latin typeface="Crimson Pro Semi Bold" panose="020B0604020202020204" charset="0"/>
                <a:cs typeface="Times New Roman" panose="02020603050405020304" pitchFamily="18" charset="0"/>
              </a:rPr>
              <a:t>Problem Statement</a:t>
            </a:r>
          </a:p>
          <a:p>
            <a:pPr marL="285750" indent="-285750">
              <a:buFont typeface="Arial" panose="020B0604020202020204" pitchFamily="34" charset="0"/>
              <a:buChar char="•"/>
            </a:pPr>
            <a:r>
              <a:rPr lang="en-IN" sz="2400" dirty="0">
                <a:latin typeface="Crimson Pro Semi Bold" panose="020B0604020202020204" charset="0"/>
                <a:cs typeface="Times New Roman" panose="02020603050405020304" pitchFamily="18" charset="0"/>
              </a:rPr>
              <a:t>Proposed System</a:t>
            </a:r>
          </a:p>
          <a:p>
            <a:pPr marL="285750" indent="-285750">
              <a:buFont typeface="Arial" panose="020B0604020202020204" pitchFamily="34" charset="0"/>
              <a:buChar char="•"/>
            </a:pPr>
            <a:r>
              <a:rPr lang="en-IN" sz="2400" dirty="0">
                <a:latin typeface="Crimson Pro Semi Bold" panose="020B0604020202020204" charset="0"/>
                <a:cs typeface="Times New Roman" panose="02020603050405020304" pitchFamily="18" charset="0"/>
              </a:rPr>
              <a:t>Objectives</a:t>
            </a:r>
          </a:p>
          <a:p>
            <a:pPr marL="285750" indent="-285750">
              <a:buFont typeface="Arial" panose="020B0604020202020204" pitchFamily="34" charset="0"/>
              <a:buChar char="•"/>
            </a:pPr>
            <a:r>
              <a:rPr lang="en-IN" sz="2400" dirty="0">
                <a:latin typeface="Crimson Pro Semi Bold" panose="020B0604020202020204" charset="0"/>
                <a:cs typeface="Times New Roman" panose="02020603050405020304" pitchFamily="18" charset="0"/>
              </a:rPr>
              <a:t>Methodology</a:t>
            </a:r>
          </a:p>
          <a:p>
            <a:pPr marL="285750" indent="-285750">
              <a:buFont typeface="Arial" panose="020B0604020202020204" pitchFamily="34" charset="0"/>
              <a:buChar char="•"/>
            </a:pPr>
            <a:r>
              <a:rPr lang="en-IN" sz="2400" dirty="0">
                <a:latin typeface="Crimson Pro Semi Bold" panose="020B0604020202020204" charset="0"/>
                <a:cs typeface="Times New Roman" panose="02020603050405020304" pitchFamily="18" charset="0"/>
              </a:rPr>
              <a:t>System Requirements and Specification</a:t>
            </a:r>
          </a:p>
          <a:p>
            <a:pPr marL="285750" indent="-285750">
              <a:buFont typeface="Arial" panose="020B0604020202020204" pitchFamily="34" charset="0"/>
              <a:buChar char="•"/>
            </a:pPr>
            <a:r>
              <a:rPr lang="en-IN" sz="2400" dirty="0">
                <a:latin typeface="Crimson Pro Semi Bold" panose="020B0604020202020204" charset="0"/>
                <a:cs typeface="Times New Roman" panose="02020603050405020304" pitchFamily="18" charset="0"/>
              </a:rPr>
              <a:t>Results</a:t>
            </a:r>
          </a:p>
          <a:p>
            <a:pPr marL="285750" indent="-285750">
              <a:buFont typeface="Arial" panose="020B0604020202020204" pitchFamily="34" charset="0"/>
              <a:buChar char="•"/>
            </a:pPr>
            <a:r>
              <a:rPr lang="en-IN" sz="2400" dirty="0">
                <a:latin typeface="Crimson Pro Semi Bold" panose="020B0604020202020204" charset="0"/>
                <a:cs typeface="Times New Roman" panose="02020603050405020304" pitchFamily="18" charset="0"/>
              </a:rPr>
              <a:t>Conclusion</a:t>
            </a:r>
          </a:p>
          <a:p>
            <a:pPr marL="285750" indent="-285750">
              <a:buFont typeface="Arial" panose="020B0604020202020204" pitchFamily="34" charset="0"/>
              <a:buChar char="•"/>
            </a:pPr>
            <a:r>
              <a:rPr lang="en-IN" sz="2400" dirty="0">
                <a:latin typeface="Crimson Pro Semi Bold" panose="020B0604020202020204" charset="0"/>
                <a:cs typeface="Times New Roman" panose="02020603050405020304" pitchFamily="18" charset="0"/>
              </a:rPr>
              <a:t>Future Scope</a:t>
            </a:r>
          </a:p>
          <a:p>
            <a:pPr marL="285750" indent="-285750">
              <a:buFont typeface="Arial" panose="020B0604020202020204" pitchFamily="34" charset="0"/>
              <a:buChar char="•"/>
            </a:pPr>
            <a:r>
              <a:rPr lang="en-IN" sz="2400" dirty="0">
                <a:latin typeface="Crimson Pro Semi Bold" panose="020B0604020202020204" charset="0"/>
                <a:cs typeface="Times New Roman" panose="02020603050405020304" pitchFamily="18" charset="0"/>
              </a:rPr>
              <a:t>References</a:t>
            </a:r>
          </a:p>
          <a:p>
            <a:pPr marL="285750" indent="-285750">
              <a:buFont typeface="Arial" panose="020B0604020202020204" pitchFamily="34" charset="0"/>
              <a:buChar char="•"/>
            </a:pPr>
            <a:endParaRPr lang="en-IN" sz="2400" dirty="0">
              <a:latin typeface="Crimson Pro Semi Bold" panose="020B0604020202020204" charset="0"/>
              <a:cs typeface="Times New Roman" panose="02020603050405020304" pitchFamily="18" charset="0"/>
            </a:endParaRPr>
          </a:p>
          <a:p>
            <a:pPr>
              <a:lnSpc>
                <a:spcPts val="2624"/>
              </a:lnSpc>
            </a:pPr>
            <a:endParaRPr lang="en-US" sz="2000" dirty="0">
              <a:latin typeface="Crimson Pro Semi Bold" panose="020B0604020202020204" charset="0"/>
            </a:endParaRPr>
          </a:p>
        </p:txBody>
      </p:sp>
      <p:sp>
        <p:nvSpPr>
          <p:cNvPr id="4" name="Text 0"/>
          <p:cNvSpPr/>
          <p:nvPr/>
        </p:nvSpPr>
        <p:spPr>
          <a:xfrm>
            <a:off x="1477889" y="1140416"/>
            <a:ext cx="7556421" cy="858129"/>
          </a:xfrm>
          <a:prstGeom prst="rect">
            <a:avLst/>
          </a:prstGeom>
          <a:noFill/>
          <a:ln/>
        </p:spPr>
        <p:txBody>
          <a:bodyPr wrap="square" lIns="0" tIns="0" rIns="0" bIns="0" rtlCol="0" anchor="t"/>
          <a:lstStyle/>
          <a:p>
            <a:pPr>
              <a:lnSpc>
                <a:spcPts val="5550"/>
              </a:lnSpc>
            </a:pPr>
            <a:r>
              <a:rPr lang="en-US" sz="4450" dirty="0">
                <a:solidFill>
                  <a:srgbClr val="152D47"/>
                </a:solidFill>
                <a:latin typeface="Crimson Pro Semi Bold" pitchFamily="34" charset="0"/>
                <a:ea typeface="Crimson Pro Semi Bold" pitchFamily="34" charset="-122"/>
                <a:cs typeface="Crimson Pro Semi Bold" pitchFamily="34" charset="-120"/>
              </a:rPr>
              <a:t>CONTENTS</a:t>
            </a:r>
            <a:endParaRPr lang="en-US" sz="4450" dirty="0"/>
          </a:p>
        </p:txBody>
      </p:sp>
      <p:pic>
        <p:nvPicPr>
          <p:cNvPr id="5" name="Picture 4">
            <a:extLst>
              <a:ext uri="{FF2B5EF4-FFF2-40B4-BE49-F238E27FC236}">
                <a16:creationId xmlns:a16="http://schemas.microsoft.com/office/drawing/2014/main" id="{39A932E9-499E-8C64-3080-863B66328A1D}"/>
              </a:ext>
            </a:extLst>
          </p:cNvPr>
          <p:cNvPicPr>
            <a:picLocks noChangeAspect="1"/>
          </p:cNvPicPr>
          <p:nvPr/>
        </p:nvPicPr>
        <p:blipFill>
          <a:blip r:embed="rId2"/>
          <a:stretch>
            <a:fillRect/>
          </a:stretch>
        </p:blipFill>
        <p:spPr>
          <a:xfrm>
            <a:off x="3643" y="241002"/>
            <a:ext cx="681842" cy="390178"/>
          </a:xfrm>
          <a:prstGeom prst="rect">
            <a:avLst/>
          </a:prstGeom>
        </p:spPr>
      </p:pic>
      <p:sp>
        <p:nvSpPr>
          <p:cNvPr id="6" name="object 23">
            <a:extLst>
              <a:ext uri="{FF2B5EF4-FFF2-40B4-BE49-F238E27FC236}">
                <a16:creationId xmlns:a16="http://schemas.microsoft.com/office/drawing/2014/main" id="{7045852A-A2F3-70D1-D6DE-CF910530D045}"/>
              </a:ext>
            </a:extLst>
          </p:cNvPr>
          <p:cNvSpPr/>
          <p:nvPr/>
        </p:nvSpPr>
        <p:spPr>
          <a:xfrm>
            <a:off x="12183611" y="107719"/>
            <a:ext cx="1209819" cy="704826"/>
          </a:xfrm>
          <a:prstGeom prst="rect">
            <a:avLst/>
          </a:prstGeom>
          <a:blipFill>
            <a:blip r:embed="rId3" cstate="print"/>
            <a:stretch>
              <a:fillRect/>
            </a:stretch>
          </a:blipFill>
        </p:spPr>
        <p:txBody>
          <a:bodyPr wrap="square" lIns="0" tIns="0" rIns="0" bIns="0" rtlCol="0"/>
          <a:lstStyle/>
          <a:p>
            <a:endParaRPr>
              <a:solidFill>
                <a:prstClr val="black"/>
              </a:solidFill>
              <a:latin typeface="Aptos" panose="02110004020202020204"/>
            </a:endParaRPr>
          </a:p>
        </p:txBody>
      </p:sp>
      <p:pic>
        <p:nvPicPr>
          <p:cNvPr id="7" name="Picture 6" descr="A logo with a brain and text&#10;&#10;Description automatically generated">
            <a:extLst>
              <a:ext uri="{FF2B5EF4-FFF2-40B4-BE49-F238E27FC236}">
                <a16:creationId xmlns:a16="http://schemas.microsoft.com/office/drawing/2014/main" id="{F5A4A679-DDDB-520C-B9DC-58DDDBABA3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sp>
        <p:nvSpPr>
          <p:cNvPr id="8" name="object 21">
            <a:extLst>
              <a:ext uri="{FF2B5EF4-FFF2-40B4-BE49-F238E27FC236}">
                <a16:creationId xmlns:a16="http://schemas.microsoft.com/office/drawing/2014/main" id="{C357DBD2-FEA9-EA12-EA54-3DF16B404024}"/>
              </a:ext>
            </a:extLst>
          </p:cNvPr>
          <p:cNvSpPr/>
          <p:nvPr/>
        </p:nvSpPr>
        <p:spPr>
          <a:xfrm>
            <a:off x="833199" y="29986"/>
            <a:ext cx="2029524" cy="858129"/>
          </a:xfrm>
          <a:prstGeom prst="rect">
            <a:avLst/>
          </a:prstGeom>
          <a:blipFill>
            <a:blip r:embed="rId5"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9" name="Picture 8" descr="A yellow and orange circle with a red ribbon&#10;&#10;Description automatically generated">
            <a:extLst>
              <a:ext uri="{FF2B5EF4-FFF2-40B4-BE49-F238E27FC236}">
                <a16:creationId xmlns:a16="http://schemas.microsoft.com/office/drawing/2014/main" id="{62868A84-74E8-191F-9D7E-88BAA74BD3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10" name="Rectangle 9">
            <a:extLst>
              <a:ext uri="{FF2B5EF4-FFF2-40B4-BE49-F238E27FC236}">
                <a16:creationId xmlns:a16="http://schemas.microsoft.com/office/drawing/2014/main" id="{A8D0CF68-96F8-0FE5-5B08-021EA96B3C9C}"/>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11" name="Picture 10" descr="A close-up of a blue and gold logo&#10;&#10;Description automatically generated">
            <a:extLst>
              <a:ext uri="{FF2B5EF4-FFF2-40B4-BE49-F238E27FC236}">
                <a16:creationId xmlns:a16="http://schemas.microsoft.com/office/drawing/2014/main" id="{714A8117-68CD-FAD9-5ED8-6E364B6CA4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12" name="Picture 11">
            <a:extLst>
              <a:ext uri="{FF2B5EF4-FFF2-40B4-BE49-F238E27FC236}">
                <a16:creationId xmlns:a16="http://schemas.microsoft.com/office/drawing/2014/main" id="{31DB5D4E-633F-CA7A-517E-A8E21E580494}"/>
              </a:ext>
            </a:extLst>
          </p:cNvPr>
          <p:cNvPicPr>
            <a:picLocks noChangeAspect="1"/>
          </p:cNvPicPr>
          <p:nvPr/>
        </p:nvPicPr>
        <p:blipFill>
          <a:blip r:embed="rId8"/>
          <a:stretch>
            <a:fillRect/>
          </a:stretch>
        </p:blipFill>
        <p:spPr>
          <a:xfrm>
            <a:off x="-19559" y="7851615"/>
            <a:ext cx="14649958" cy="377985"/>
          </a:xfrm>
          <a:prstGeom prst="rect">
            <a:avLst/>
          </a:prstGeom>
        </p:spPr>
      </p:pic>
      <p:sp>
        <p:nvSpPr>
          <p:cNvPr id="13" name="TextBox 12">
            <a:extLst>
              <a:ext uri="{FF2B5EF4-FFF2-40B4-BE49-F238E27FC236}">
                <a16:creationId xmlns:a16="http://schemas.microsoft.com/office/drawing/2014/main" id="{980BCF4A-A762-AB10-6812-2CC85C4CE223}"/>
              </a:ext>
            </a:extLst>
          </p:cNvPr>
          <p:cNvSpPr txBox="1"/>
          <p:nvPr/>
        </p:nvSpPr>
        <p:spPr>
          <a:xfrm>
            <a:off x="4291663" y="7819905"/>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spTree>
    <p:extLst>
      <p:ext uri="{BB962C8B-B14F-4D97-AF65-F5344CB8AC3E}">
        <p14:creationId xmlns:p14="http://schemas.microsoft.com/office/powerpoint/2010/main" val="766398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9144000" y="0"/>
            <a:ext cx="5486400" cy="8229600"/>
          </a:xfrm>
          <a:prstGeom prst="rect">
            <a:avLst/>
          </a:prstGeom>
        </p:spPr>
      </p:pic>
      <p:sp>
        <p:nvSpPr>
          <p:cNvPr id="3" name="Text 0"/>
          <p:cNvSpPr/>
          <p:nvPr/>
        </p:nvSpPr>
        <p:spPr>
          <a:xfrm>
            <a:off x="793789" y="2079784"/>
            <a:ext cx="7556421" cy="739616"/>
          </a:xfrm>
          <a:prstGeom prst="rect">
            <a:avLst/>
          </a:prstGeom>
          <a:noFill/>
          <a:ln/>
        </p:spPr>
        <p:txBody>
          <a:bodyPr wrap="square" lIns="0" tIns="0" rIns="0" bIns="0" rtlCol="0" anchor="t"/>
          <a:lstStyle/>
          <a:p>
            <a:pPr marL="0" indent="0">
              <a:lnSpc>
                <a:spcPts val="5550"/>
              </a:lnSpc>
              <a:buNone/>
            </a:pPr>
            <a:r>
              <a:rPr lang="en-US" sz="4450" b="1" dirty="0">
                <a:solidFill>
                  <a:srgbClr val="152D47"/>
                </a:solidFill>
                <a:latin typeface="Times New Roman" panose="02020603050405020304" pitchFamily="18" charset="0"/>
                <a:ea typeface="Crimson Pro Semi Bold" pitchFamily="34" charset="-122"/>
                <a:cs typeface="Times New Roman" panose="02020603050405020304" pitchFamily="18" charset="0"/>
              </a:rPr>
              <a:t>Introduction:</a:t>
            </a:r>
            <a:endParaRPr lang="en-US" sz="4450" b="1" dirty="0">
              <a:latin typeface="Times New Roman" panose="02020603050405020304" pitchFamily="18" charset="0"/>
              <a:cs typeface="Times New Roman" panose="02020603050405020304" pitchFamily="18" charset="0"/>
            </a:endParaRPr>
          </a:p>
        </p:txBody>
      </p:sp>
      <p:sp>
        <p:nvSpPr>
          <p:cNvPr id="4" name="Text 1"/>
          <p:cNvSpPr/>
          <p:nvPr/>
        </p:nvSpPr>
        <p:spPr>
          <a:xfrm>
            <a:off x="773931" y="3341112"/>
            <a:ext cx="7556421" cy="3925372"/>
          </a:xfrm>
          <a:prstGeom prst="rect">
            <a:avLst/>
          </a:prstGeom>
          <a:noFill/>
          <a:ln/>
        </p:spPr>
        <p:txBody>
          <a:bodyPr wrap="square" lIns="0" tIns="0" rIns="0" bIns="0" rtlCol="0" anchor="t"/>
          <a:lstStyle/>
          <a:p>
            <a:pPr>
              <a:lnSpc>
                <a:spcPts val="2850"/>
              </a:lnSpc>
            </a:pPr>
            <a:r>
              <a:rPr lang="en-US" sz="2000" dirty="0">
                <a:latin typeface="Heebo" pitchFamily="34" charset="0"/>
                <a:ea typeface="Heebo" pitchFamily="34" charset="-122"/>
                <a:cs typeface="Heebo" pitchFamily="34" charset="-120"/>
              </a:rPr>
              <a:t>Brain tumor detection is a critical medical process aimed at identifying abnormal growths in brain tissue. It typically involves imaging techniques such as MRI and CT scans to analyze the brain's structure. Recent advancements incorporate artificial intelligence and machine learning, enhancing accuracy and efficiency in detecting tumors at early stages, improving treatment outcomes.</a:t>
            </a:r>
          </a:p>
        </p:txBody>
      </p:sp>
      <p:pic>
        <p:nvPicPr>
          <p:cNvPr id="5" name="Picture 4">
            <a:extLst>
              <a:ext uri="{FF2B5EF4-FFF2-40B4-BE49-F238E27FC236}">
                <a16:creationId xmlns:a16="http://schemas.microsoft.com/office/drawing/2014/main" id="{39A932E9-499E-8C64-3080-863B66328A1D}"/>
              </a:ext>
            </a:extLst>
          </p:cNvPr>
          <p:cNvPicPr>
            <a:picLocks noChangeAspect="1"/>
          </p:cNvPicPr>
          <p:nvPr/>
        </p:nvPicPr>
        <p:blipFill>
          <a:blip r:embed="rId3"/>
          <a:stretch>
            <a:fillRect/>
          </a:stretch>
        </p:blipFill>
        <p:spPr>
          <a:xfrm>
            <a:off x="3643" y="241002"/>
            <a:ext cx="681842" cy="390178"/>
          </a:xfrm>
          <a:prstGeom prst="rect">
            <a:avLst/>
          </a:prstGeom>
        </p:spPr>
      </p:pic>
      <p:sp>
        <p:nvSpPr>
          <p:cNvPr id="6" name="object 23">
            <a:extLst>
              <a:ext uri="{FF2B5EF4-FFF2-40B4-BE49-F238E27FC236}">
                <a16:creationId xmlns:a16="http://schemas.microsoft.com/office/drawing/2014/main" id="{7045852A-A2F3-70D1-D6DE-CF910530D045}"/>
              </a:ext>
            </a:extLst>
          </p:cNvPr>
          <p:cNvSpPr/>
          <p:nvPr/>
        </p:nvSpPr>
        <p:spPr>
          <a:xfrm>
            <a:off x="12183611" y="107719"/>
            <a:ext cx="1209819" cy="704826"/>
          </a:xfrm>
          <a:prstGeom prst="rect">
            <a:avLst/>
          </a:prstGeom>
          <a:blipFill>
            <a:blip r:embed="rId4" cstate="print"/>
            <a:stretch>
              <a:fillRect/>
            </a:stretch>
          </a:blipFill>
        </p:spPr>
        <p:txBody>
          <a:bodyPr wrap="square" lIns="0" tIns="0" rIns="0" bIns="0" rtlCol="0"/>
          <a:lstStyle/>
          <a:p>
            <a:endParaRPr>
              <a:solidFill>
                <a:prstClr val="black"/>
              </a:solidFill>
              <a:latin typeface="Aptos" panose="02110004020202020204"/>
            </a:endParaRPr>
          </a:p>
        </p:txBody>
      </p:sp>
      <p:pic>
        <p:nvPicPr>
          <p:cNvPr id="7" name="Picture 6" descr="A logo with a brain and text&#10;&#10;Description automatically generated">
            <a:extLst>
              <a:ext uri="{FF2B5EF4-FFF2-40B4-BE49-F238E27FC236}">
                <a16:creationId xmlns:a16="http://schemas.microsoft.com/office/drawing/2014/main" id="{F5A4A679-DDDB-520C-B9DC-58DDDBABA3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sp>
        <p:nvSpPr>
          <p:cNvPr id="8" name="object 21">
            <a:extLst>
              <a:ext uri="{FF2B5EF4-FFF2-40B4-BE49-F238E27FC236}">
                <a16:creationId xmlns:a16="http://schemas.microsoft.com/office/drawing/2014/main" id="{C357DBD2-FEA9-EA12-EA54-3DF16B404024}"/>
              </a:ext>
            </a:extLst>
          </p:cNvPr>
          <p:cNvSpPr/>
          <p:nvPr/>
        </p:nvSpPr>
        <p:spPr>
          <a:xfrm>
            <a:off x="833199" y="29986"/>
            <a:ext cx="2029524" cy="858129"/>
          </a:xfrm>
          <a:prstGeom prst="rect">
            <a:avLst/>
          </a:prstGeom>
          <a:blipFill>
            <a:blip r:embed="rId6"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9" name="Picture 8" descr="A yellow and orange circle with a red ribbon&#10;&#10;Description automatically generated">
            <a:extLst>
              <a:ext uri="{FF2B5EF4-FFF2-40B4-BE49-F238E27FC236}">
                <a16:creationId xmlns:a16="http://schemas.microsoft.com/office/drawing/2014/main" id="{62868A84-74E8-191F-9D7E-88BAA74BD33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10" name="Rectangle 9">
            <a:extLst>
              <a:ext uri="{FF2B5EF4-FFF2-40B4-BE49-F238E27FC236}">
                <a16:creationId xmlns:a16="http://schemas.microsoft.com/office/drawing/2014/main" id="{A8D0CF68-96F8-0FE5-5B08-021EA96B3C9C}"/>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11" name="Picture 10" descr="A close-up of a blue and gold logo&#10;&#10;Description automatically generated">
            <a:extLst>
              <a:ext uri="{FF2B5EF4-FFF2-40B4-BE49-F238E27FC236}">
                <a16:creationId xmlns:a16="http://schemas.microsoft.com/office/drawing/2014/main" id="{714A8117-68CD-FAD9-5ED8-6E364B6CA43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12" name="Picture 11">
            <a:extLst>
              <a:ext uri="{FF2B5EF4-FFF2-40B4-BE49-F238E27FC236}">
                <a16:creationId xmlns:a16="http://schemas.microsoft.com/office/drawing/2014/main" id="{31DB5D4E-633F-CA7A-517E-A8E21E580494}"/>
              </a:ext>
            </a:extLst>
          </p:cNvPr>
          <p:cNvPicPr>
            <a:picLocks noChangeAspect="1"/>
          </p:cNvPicPr>
          <p:nvPr/>
        </p:nvPicPr>
        <p:blipFill>
          <a:blip r:embed="rId9"/>
          <a:stretch>
            <a:fillRect/>
          </a:stretch>
        </p:blipFill>
        <p:spPr>
          <a:xfrm>
            <a:off x="-19559" y="7851615"/>
            <a:ext cx="14649958" cy="377985"/>
          </a:xfrm>
          <a:prstGeom prst="rect">
            <a:avLst/>
          </a:prstGeom>
        </p:spPr>
      </p:pic>
      <p:sp>
        <p:nvSpPr>
          <p:cNvPr id="13" name="TextBox 12">
            <a:extLst>
              <a:ext uri="{FF2B5EF4-FFF2-40B4-BE49-F238E27FC236}">
                <a16:creationId xmlns:a16="http://schemas.microsoft.com/office/drawing/2014/main" id="{980BCF4A-A762-AB10-6812-2CC85C4CE223}"/>
              </a:ext>
            </a:extLst>
          </p:cNvPr>
          <p:cNvSpPr txBox="1"/>
          <p:nvPr/>
        </p:nvSpPr>
        <p:spPr>
          <a:xfrm>
            <a:off x="4291663" y="7819905"/>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spTree>
    <p:extLst>
      <p:ext uri="{BB962C8B-B14F-4D97-AF65-F5344CB8AC3E}">
        <p14:creationId xmlns:p14="http://schemas.microsoft.com/office/powerpoint/2010/main" val="2885780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56395284-D8A8-BBF8-D0F4-32B30B127CF9}"/>
              </a:ext>
            </a:extLst>
          </p:cNvPr>
          <p:cNvSpPr txBox="1"/>
          <p:nvPr/>
        </p:nvSpPr>
        <p:spPr>
          <a:xfrm>
            <a:off x="2862723" y="631180"/>
            <a:ext cx="7899062" cy="659796"/>
          </a:xfrm>
          <a:prstGeom prst="rect">
            <a:avLst/>
          </a:prstGeom>
          <a:noFill/>
        </p:spPr>
        <p:txBody>
          <a:bodyPr wrap="square">
            <a:spAutoFit/>
          </a:bodyPr>
          <a:lstStyle/>
          <a:p>
            <a:pPr marL="0" indent="0" algn="ctr">
              <a:lnSpc>
                <a:spcPts val="4908"/>
              </a:lnSpc>
              <a:buNone/>
            </a:pPr>
            <a:r>
              <a:rPr lang="en-US" sz="3200" b="1" dirty="0">
                <a:solidFill>
                  <a:srgbClr val="272D45"/>
                </a:solidFill>
                <a:latin typeface="Times New Roman" pitchFamily="18" charset="0"/>
                <a:ea typeface="Kanit" pitchFamily="34" charset="-122"/>
                <a:cs typeface="Times New Roman" pitchFamily="18" charset="0"/>
              </a:rPr>
              <a:t>Literature Survey</a:t>
            </a:r>
            <a:endParaRPr lang="en-US" sz="3200" b="1" dirty="0">
              <a:latin typeface="Times New Roman" pitchFamily="18" charset="0"/>
              <a:cs typeface="Times New Roman" pitchFamily="18" charset="0"/>
            </a:endParaRPr>
          </a:p>
        </p:txBody>
      </p:sp>
      <p:sp>
        <p:nvSpPr>
          <p:cNvPr id="16" name="TextBox 15">
            <a:extLst>
              <a:ext uri="{FF2B5EF4-FFF2-40B4-BE49-F238E27FC236}">
                <a16:creationId xmlns:a16="http://schemas.microsoft.com/office/drawing/2014/main" id="{74669ACC-E1E3-26E9-7F7F-D84F302396C3}"/>
              </a:ext>
            </a:extLst>
          </p:cNvPr>
          <p:cNvSpPr txBox="1"/>
          <p:nvPr/>
        </p:nvSpPr>
        <p:spPr>
          <a:xfrm>
            <a:off x="251477" y="1395169"/>
            <a:ext cx="14107886" cy="6500306"/>
          </a:xfrm>
          <a:prstGeom prst="rect">
            <a:avLst/>
          </a:prstGeom>
          <a:noFill/>
        </p:spPr>
        <p:txBody>
          <a:bodyPr wrap="square">
            <a:spAutoFit/>
          </a:bodyPr>
          <a:lstStyle/>
          <a:p>
            <a:pPr>
              <a:lnSpc>
                <a:spcPct val="150000"/>
              </a:lnSpc>
            </a:pPr>
            <a:r>
              <a:rPr lang="en-US" sz="2000" b="1" dirty="0">
                <a:latin typeface="Times New Roman" panose="02020603050405020304" pitchFamily="18" charset="0"/>
                <a:cs typeface="Times New Roman" panose="02020603050405020304" pitchFamily="18" charset="0"/>
              </a:rPr>
              <a:t>[1] Brain Tumor Classification Using Convolutional Neural Networks </a:t>
            </a:r>
          </a:p>
          <a:p>
            <a:pPr>
              <a:lnSpc>
                <a:spcPct val="150000"/>
              </a:lnSpc>
            </a:pPr>
            <a:r>
              <a:rPr lang="en-US" sz="2000" dirty="0">
                <a:latin typeface="Times New Roman" panose="02020603050405020304" pitchFamily="18" charset="0"/>
                <a:cs typeface="Times New Roman" panose="02020603050405020304" pitchFamily="18" charset="0"/>
              </a:rPr>
              <a:t> Author: Sachin S. Patil, V. Kumar</a:t>
            </a:r>
          </a:p>
          <a:p>
            <a:pPr>
              <a:lnSpc>
                <a:spcPct val="150000"/>
              </a:lnSpc>
            </a:pPr>
            <a:r>
              <a:rPr lang="en-US" sz="2000" dirty="0">
                <a:latin typeface="Times New Roman" panose="02020603050405020304" pitchFamily="18" charset="0"/>
                <a:cs typeface="Times New Roman" panose="02020603050405020304" pitchFamily="18" charset="0"/>
              </a:rPr>
              <a:t>  Date of Conference: 2021  Date Added to IEEE Xplore: 20 October 2021 This paper presents a CNN-based approach for brain tumor classification using MRI images. The authors discuss the use of deep learning techniques to automatically extract features and classify tumors into different types. The network was trained on a dataset of brain MRI scans and achieved significant accuracy compared to traditional machine learning techniques. Challenges related to model overfitting and dataset imbalance were addressed using data augmentation and dropout. </a:t>
            </a:r>
          </a:p>
          <a:p>
            <a:pPr>
              <a:lnSpc>
                <a:spcPct val="150000"/>
              </a:lnSpc>
            </a:pPr>
            <a:endParaRPr lang="en-US" sz="1050"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[2] Deep CNN with Connected CRF for Brain Tumor Segmentation </a:t>
            </a:r>
          </a:p>
          <a:p>
            <a:pPr>
              <a:lnSpc>
                <a:spcPct val="150000"/>
              </a:lnSpc>
            </a:pPr>
            <a:r>
              <a:rPr lang="en-US" sz="2000" dirty="0">
                <a:latin typeface="Times New Roman" panose="02020603050405020304" pitchFamily="18" charset="0"/>
                <a:cs typeface="Times New Roman" panose="02020603050405020304" pitchFamily="18" charset="0"/>
              </a:rPr>
              <a:t> Author: A. </a:t>
            </a:r>
            <a:r>
              <a:rPr lang="en-US" sz="2000" dirty="0" err="1">
                <a:latin typeface="Times New Roman" panose="02020603050405020304" pitchFamily="18" charset="0"/>
                <a:cs typeface="Times New Roman" panose="02020603050405020304" pitchFamily="18" charset="0"/>
              </a:rPr>
              <a:t>Kamnitsas</a:t>
            </a:r>
            <a:r>
              <a:rPr lang="en-US" sz="2000" dirty="0">
                <a:latin typeface="Times New Roman" panose="02020603050405020304" pitchFamily="18" charset="0"/>
                <a:cs typeface="Times New Roman" panose="02020603050405020304" pitchFamily="18" charset="0"/>
              </a:rPr>
              <a:t>, C. </a:t>
            </a:r>
            <a:r>
              <a:rPr lang="en-US" sz="2000" dirty="0" err="1">
                <a:latin typeface="Times New Roman" panose="02020603050405020304" pitchFamily="18" charset="0"/>
                <a:cs typeface="Times New Roman" panose="02020603050405020304" pitchFamily="18" charset="0"/>
              </a:rPr>
              <a:t>Ledig</a:t>
            </a:r>
            <a:r>
              <a:rPr lang="en-US" sz="2000" dirty="0">
                <a:latin typeface="Times New Roman" panose="02020603050405020304" pitchFamily="18" charset="0"/>
                <a:cs typeface="Times New Roman" panose="02020603050405020304" pitchFamily="18" charset="0"/>
              </a:rPr>
              <a:t>, V.F.J. Newcombe </a:t>
            </a:r>
          </a:p>
          <a:p>
            <a:pPr>
              <a:lnSpc>
                <a:spcPct val="150000"/>
              </a:lnSpc>
            </a:pPr>
            <a:r>
              <a:rPr lang="en-US" sz="2000" dirty="0">
                <a:latin typeface="Times New Roman" panose="02020603050405020304" pitchFamily="18" charset="0"/>
                <a:cs typeface="Times New Roman" panose="02020603050405020304" pitchFamily="18" charset="0"/>
              </a:rPr>
              <a:t> Date of Conference: MICCAI 2022  Date Added to IEEE Xplore: 10 October 2022 The authors proposed a deep CNN architecture combined with Conditional Random Fields (CRF) for brain tumor segmentation and classification. Their approach incorporates 3D CNNs with dense connections and multi-scale analysis to better capture the complex structures of brain tumors. Attention mechanisms were explored to focus the model on important regions within the tumor, resulting in improved classification accuracy.</a:t>
            </a:r>
            <a:endParaRPr lang="en-IN" sz="20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39A932E9-499E-8C64-3080-863B66328A1D}"/>
              </a:ext>
            </a:extLst>
          </p:cNvPr>
          <p:cNvPicPr>
            <a:picLocks noChangeAspect="1"/>
          </p:cNvPicPr>
          <p:nvPr/>
        </p:nvPicPr>
        <p:blipFill>
          <a:blip r:embed="rId2"/>
          <a:stretch>
            <a:fillRect/>
          </a:stretch>
        </p:blipFill>
        <p:spPr>
          <a:xfrm>
            <a:off x="3643" y="241002"/>
            <a:ext cx="681842" cy="390178"/>
          </a:xfrm>
          <a:prstGeom prst="rect">
            <a:avLst/>
          </a:prstGeom>
        </p:spPr>
      </p:pic>
      <p:sp>
        <p:nvSpPr>
          <p:cNvPr id="15" name="object 23">
            <a:extLst>
              <a:ext uri="{FF2B5EF4-FFF2-40B4-BE49-F238E27FC236}">
                <a16:creationId xmlns:a16="http://schemas.microsoft.com/office/drawing/2014/main" id="{7045852A-A2F3-70D1-D6DE-CF910530D045}"/>
              </a:ext>
            </a:extLst>
          </p:cNvPr>
          <p:cNvSpPr/>
          <p:nvPr/>
        </p:nvSpPr>
        <p:spPr>
          <a:xfrm>
            <a:off x="12183611" y="107719"/>
            <a:ext cx="1209819" cy="704826"/>
          </a:xfrm>
          <a:prstGeom prst="rect">
            <a:avLst/>
          </a:prstGeom>
          <a:blipFill>
            <a:blip r:embed="rId3" cstate="print"/>
            <a:stretch>
              <a:fillRect/>
            </a:stretch>
          </a:blipFill>
        </p:spPr>
        <p:txBody>
          <a:bodyPr wrap="square" lIns="0" tIns="0" rIns="0" bIns="0" rtlCol="0"/>
          <a:lstStyle/>
          <a:p>
            <a:endParaRPr>
              <a:solidFill>
                <a:prstClr val="black"/>
              </a:solidFill>
              <a:latin typeface="Aptos" panose="02110004020202020204"/>
            </a:endParaRPr>
          </a:p>
        </p:txBody>
      </p:sp>
      <p:pic>
        <p:nvPicPr>
          <p:cNvPr id="17" name="Picture 16" descr="A logo with a brain and text&#10;&#10;Description automatically generated">
            <a:extLst>
              <a:ext uri="{FF2B5EF4-FFF2-40B4-BE49-F238E27FC236}">
                <a16:creationId xmlns:a16="http://schemas.microsoft.com/office/drawing/2014/main" id="{F5A4A679-DDDB-520C-B9DC-58DDDBABA3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sp>
        <p:nvSpPr>
          <p:cNvPr id="18" name="object 21">
            <a:extLst>
              <a:ext uri="{FF2B5EF4-FFF2-40B4-BE49-F238E27FC236}">
                <a16:creationId xmlns:a16="http://schemas.microsoft.com/office/drawing/2014/main" id="{C357DBD2-FEA9-EA12-EA54-3DF16B404024}"/>
              </a:ext>
            </a:extLst>
          </p:cNvPr>
          <p:cNvSpPr/>
          <p:nvPr/>
        </p:nvSpPr>
        <p:spPr>
          <a:xfrm>
            <a:off x="833199" y="29986"/>
            <a:ext cx="2029524" cy="858129"/>
          </a:xfrm>
          <a:prstGeom prst="rect">
            <a:avLst/>
          </a:prstGeom>
          <a:blipFill>
            <a:blip r:embed="rId5"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19" name="Picture 18" descr="A yellow and orange circle with a red ribbon&#10;&#10;Description automatically generated">
            <a:extLst>
              <a:ext uri="{FF2B5EF4-FFF2-40B4-BE49-F238E27FC236}">
                <a16:creationId xmlns:a16="http://schemas.microsoft.com/office/drawing/2014/main" id="{62868A84-74E8-191F-9D7E-88BAA74BD3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20" name="Rectangle 19">
            <a:extLst>
              <a:ext uri="{FF2B5EF4-FFF2-40B4-BE49-F238E27FC236}">
                <a16:creationId xmlns:a16="http://schemas.microsoft.com/office/drawing/2014/main" id="{A8D0CF68-96F8-0FE5-5B08-021EA96B3C9C}"/>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21" name="Picture 20" descr="A close-up of a blue and gold logo&#10;&#10;Description automatically generated">
            <a:extLst>
              <a:ext uri="{FF2B5EF4-FFF2-40B4-BE49-F238E27FC236}">
                <a16:creationId xmlns:a16="http://schemas.microsoft.com/office/drawing/2014/main" id="{714A8117-68CD-FAD9-5ED8-6E364B6CA4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22" name="Picture 21">
            <a:extLst>
              <a:ext uri="{FF2B5EF4-FFF2-40B4-BE49-F238E27FC236}">
                <a16:creationId xmlns:a16="http://schemas.microsoft.com/office/drawing/2014/main" id="{31DB5D4E-633F-CA7A-517E-A8E21E580494}"/>
              </a:ext>
            </a:extLst>
          </p:cNvPr>
          <p:cNvPicPr>
            <a:picLocks noChangeAspect="1"/>
          </p:cNvPicPr>
          <p:nvPr/>
        </p:nvPicPr>
        <p:blipFill>
          <a:blip r:embed="rId8"/>
          <a:stretch>
            <a:fillRect/>
          </a:stretch>
        </p:blipFill>
        <p:spPr>
          <a:xfrm>
            <a:off x="-19559" y="7851615"/>
            <a:ext cx="14649958" cy="377985"/>
          </a:xfrm>
          <a:prstGeom prst="rect">
            <a:avLst/>
          </a:prstGeom>
        </p:spPr>
      </p:pic>
      <p:sp>
        <p:nvSpPr>
          <p:cNvPr id="23" name="TextBox 22">
            <a:extLst>
              <a:ext uri="{FF2B5EF4-FFF2-40B4-BE49-F238E27FC236}">
                <a16:creationId xmlns:a16="http://schemas.microsoft.com/office/drawing/2014/main" id="{980BCF4A-A762-AB10-6812-2CC85C4CE223}"/>
              </a:ext>
            </a:extLst>
          </p:cNvPr>
          <p:cNvSpPr txBox="1"/>
          <p:nvPr/>
        </p:nvSpPr>
        <p:spPr>
          <a:xfrm>
            <a:off x="4291663" y="7819905"/>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spTree>
    <p:extLst>
      <p:ext uri="{BB962C8B-B14F-4D97-AF65-F5344CB8AC3E}">
        <p14:creationId xmlns:p14="http://schemas.microsoft.com/office/powerpoint/2010/main" val="477760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A61C2C1E-BAF2-D4DA-C7E6-1987E5D155A8}"/>
              </a:ext>
            </a:extLst>
          </p:cNvPr>
          <p:cNvSpPr txBox="1"/>
          <p:nvPr/>
        </p:nvSpPr>
        <p:spPr>
          <a:xfrm>
            <a:off x="3003402" y="615281"/>
            <a:ext cx="7583530" cy="659796"/>
          </a:xfrm>
          <a:prstGeom prst="rect">
            <a:avLst/>
          </a:prstGeom>
          <a:noFill/>
        </p:spPr>
        <p:txBody>
          <a:bodyPr wrap="square">
            <a:spAutoFit/>
          </a:bodyPr>
          <a:lstStyle/>
          <a:p>
            <a:pPr marL="0" indent="0" algn="ctr">
              <a:lnSpc>
                <a:spcPts val="4908"/>
              </a:lnSpc>
              <a:buNone/>
            </a:pPr>
            <a:r>
              <a:rPr lang="en-US" sz="3200" b="1" dirty="0">
                <a:solidFill>
                  <a:srgbClr val="272D45"/>
                </a:solidFill>
                <a:latin typeface="Times New Roman" pitchFamily="18" charset="0"/>
                <a:ea typeface="Kanit" pitchFamily="34" charset="-122"/>
                <a:cs typeface="Times New Roman" pitchFamily="18" charset="0"/>
              </a:rPr>
              <a:t>Literature Survey</a:t>
            </a:r>
            <a:endParaRPr lang="en-US" sz="3200" b="1" dirty="0">
              <a:latin typeface="Times New Roman" pitchFamily="18" charset="0"/>
              <a:cs typeface="Times New Roman" pitchFamily="18" charset="0"/>
            </a:endParaRPr>
          </a:p>
        </p:txBody>
      </p:sp>
      <p:sp>
        <p:nvSpPr>
          <p:cNvPr id="14" name="TextBox 13">
            <a:extLst>
              <a:ext uri="{FF2B5EF4-FFF2-40B4-BE49-F238E27FC236}">
                <a16:creationId xmlns:a16="http://schemas.microsoft.com/office/drawing/2014/main" id="{44F5067C-930F-ED52-3A9E-5D1D88EB054B}"/>
              </a:ext>
            </a:extLst>
          </p:cNvPr>
          <p:cNvSpPr txBox="1"/>
          <p:nvPr/>
        </p:nvSpPr>
        <p:spPr>
          <a:xfrm>
            <a:off x="210655" y="1437353"/>
            <a:ext cx="14189529" cy="5946308"/>
          </a:xfrm>
          <a:prstGeom prst="rect">
            <a:avLst/>
          </a:prstGeom>
          <a:noFill/>
        </p:spPr>
        <p:txBody>
          <a:bodyPr wrap="square">
            <a:spAutoFit/>
          </a:bodyPr>
          <a:lstStyle/>
          <a:p>
            <a:pPr>
              <a:lnSpc>
                <a:spcPct val="150000"/>
              </a:lnSpc>
            </a:pPr>
            <a:r>
              <a:rPr lang="en-US" sz="2000" b="1" dirty="0">
                <a:latin typeface="Times New Roman" panose="02020603050405020304" pitchFamily="18" charset="0"/>
                <a:cs typeface="Times New Roman" panose="02020603050405020304" pitchFamily="18" charset="0"/>
              </a:rPr>
              <a:t>[3] Attention U-Net: Learning Where to Look for the Pancreas </a:t>
            </a:r>
          </a:p>
          <a:p>
            <a:pPr>
              <a:lnSpc>
                <a:spcPct val="150000"/>
              </a:lnSpc>
            </a:pPr>
            <a:r>
              <a:rPr lang="en-US" sz="2000" dirty="0">
                <a:latin typeface="Times New Roman" panose="02020603050405020304" pitchFamily="18" charset="0"/>
                <a:cs typeface="Times New Roman" panose="02020603050405020304" pitchFamily="18" charset="0"/>
              </a:rPr>
              <a:t> Author: Ozan Oktay, Jo </a:t>
            </a:r>
            <a:r>
              <a:rPr lang="en-US" sz="2000" dirty="0" err="1">
                <a:latin typeface="Times New Roman" panose="02020603050405020304" pitchFamily="18" charset="0"/>
                <a:cs typeface="Times New Roman" panose="02020603050405020304" pitchFamily="18" charset="0"/>
              </a:rPr>
              <a:t>Schlemper</a:t>
            </a:r>
            <a:r>
              <a:rPr lang="en-US" sz="2000" dirty="0">
                <a:latin typeface="Times New Roman" panose="02020603050405020304" pitchFamily="18" charset="0"/>
                <a:cs typeface="Times New Roman" panose="02020603050405020304" pitchFamily="18" charset="0"/>
              </a:rPr>
              <a:t>, Loic Le </a:t>
            </a:r>
            <a:r>
              <a:rPr lang="en-US" sz="2000" dirty="0" err="1">
                <a:latin typeface="Times New Roman" panose="02020603050405020304" pitchFamily="18" charset="0"/>
                <a:cs typeface="Times New Roman" panose="02020603050405020304" pitchFamily="18" charset="0"/>
              </a:rPr>
              <a:t>Folgoc</a:t>
            </a:r>
            <a:r>
              <a:rPr lang="en-US" sz="2000" dirty="0">
                <a:latin typeface="Times New Roman" panose="02020603050405020304" pitchFamily="18" charset="0"/>
                <a:cs typeface="Times New Roman" panose="02020603050405020304" pitchFamily="18" charset="0"/>
              </a:rPr>
              <a:t> </a:t>
            </a:r>
          </a:p>
          <a:p>
            <a:pPr>
              <a:lnSpc>
                <a:spcPct val="150000"/>
              </a:lnSpc>
            </a:pPr>
            <a:r>
              <a:rPr lang="en-US" sz="2000" dirty="0">
                <a:latin typeface="Times New Roman" panose="02020603050405020304" pitchFamily="18" charset="0"/>
                <a:cs typeface="Times New Roman" panose="02020603050405020304" pitchFamily="18" charset="0"/>
              </a:rPr>
              <a:t> Date of Conference: MICCAI 2022 Date Added to IEEE Xplore: 10 December 2022 Although this paper focuses on pancreas segmentation, it introduced an attention mechanism that can be adapted for brain tumor classification. The Attention U-Net was designed to focus on the relevant areas in medical images, providing a foundation for CNNs that classify brain tumors. The model uses spatial attention gates to suppress irrelevant regions and emphasize important features, yielding higher precision in tumor detection tasks. </a:t>
            </a:r>
          </a:p>
          <a:p>
            <a:pPr>
              <a:lnSpc>
                <a:spcPct val="150000"/>
              </a:lnSpc>
            </a:pPr>
            <a:endParaRPr lang="en-US" sz="800" dirty="0">
              <a:latin typeface="Times New Roman" panose="02020603050405020304" pitchFamily="18" charset="0"/>
              <a:cs typeface="Times New Roman" panose="02020603050405020304" pitchFamily="18" charset="0"/>
            </a:endParaRPr>
          </a:p>
          <a:p>
            <a:pPr>
              <a:lnSpc>
                <a:spcPct val="150000"/>
              </a:lnSpc>
            </a:pPr>
            <a:endParaRPr lang="en-US" sz="800"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[4] Brain Tumor Segmentation and Classification Using CNN</a:t>
            </a:r>
          </a:p>
          <a:p>
            <a:pPr>
              <a:lnSpc>
                <a:spcPct val="150000"/>
              </a:lnSpc>
            </a:pPr>
            <a:r>
              <a:rPr lang="en-US" sz="2000" dirty="0">
                <a:latin typeface="Times New Roman" panose="02020603050405020304" pitchFamily="18" charset="0"/>
                <a:cs typeface="Times New Roman" panose="02020603050405020304" pitchFamily="18" charset="0"/>
              </a:rPr>
              <a:t>  Author: P. Afshar, M. </a:t>
            </a:r>
            <a:r>
              <a:rPr lang="en-US" sz="2000" dirty="0" err="1">
                <a:latin typeface="Times New Roman" panose="02020603050405020304" pitchFamily="18" charset="0"/>
                <a:cs typeface="Times New Roman" panose="02020603050405020304" pitchFamily="18" charset="0"/>
              </a:rPr>
              <a:t>Plataniotis</a:t>
            </a:r>
            <a:r>
              <a:rPr lang="en-US" sz="2000" dirty="0">
                <a:latin typeface="Times New Roman" panose="02020603050405020304" pitchFamily="18" charset="0"/>
                <a:cs typeface="Times New Roman" panose="02020603050405020304" pitchFamily="18" charset="0"/>
              </a:rPr>
              <a:t>, A. Mohammadi </a:t>
            </a:r>
          </a:p>
          <a:p>
            <a:pPr>
              <a:lnSpc>
                <a:spcPct val="150000"/>
              </a:lnSpc>
            </a:pPr>
            <a:r>
              <a:rPr lang="en-US" sz="2000" dirty="0">
                <a:latin typeface="Times New Roman" panose="02020603050405020304" pitchFamily="18" charset="0"/>
                <a:cs typeface="Times New Roman" panose="02020603050405020304" pitchFamily="18" charset="0"/>
              </a:rPr>
              <a:t> Date of Conference: 2021  Date Added to IEEE Xplore: 5 June 2021 This paper proposed a novel 3D CNN architecture for both segmentation and classification of brain tumors from MRI images. The model used attention modules to prioritize tumor regions during training. The authors emphasized the effectiveness of attention-based models in distinguishing between healthy and tumorous tissues, with high classification accuracy. The study also highlighted the need for more diverse datasets to improve model generalization. </a:t>
            </a:r>
            <a:endParaRPr lang="en-IN" sz="20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39A932E9-499E-8C64-3080-863B66328A1D}"/>
              </a:ext>
            </a:extLst>
          </p:cNvPr>
          <p:cNvPicPr>
            <a:picLocks noChangeAspect="1"/>
          </p:cNvPicPr>
          <p:nvPr/>
        </p:nvPicPr>
        <p:blipFill>
          <a:blip r:embed="rId2"/>
          <a:stretch>
            <a:fillRect/>
          </a:stretch>
        </p:blipFill>
        <p:spPr>
          <a:xfrm>
            <a:off x="3643" y="241002"/>
            <a:ext cx="681842" cy="390178"/>
          </a:xfrm>
          <a:prstGeom prst="rect">
            <a:avLst/>
          </a:prstGeom>
        </p:spPr>
      </p:pic>
      <p:sp>
        <p:nvSpPr>
          <p:cNvPr id="15" name="object 23">
            <a:extLst>
              <a:ext uri="{FF2B5EF4-FFF2-40B4-BE49-F238E27FC236}">
                <a16:creationId xmlns:a16="http://schemas.microsoft.com/office/drawing/2014/main" id="{7045852A-A2F3-70D1-D6DE-CF910530D045}"/>
              </a:ext>
            </a:extLst>
          </p:cNvPr>
          <p:cNvSpPr/>
          <p:nvPr/>
        </p:nvSpPr>
        <p:spPr>
          <a:xfrm>
            <a:off x="12183611" y="107719"/>
            <a:ext cx="1209819" cy="704826"/>
          </a:xfrm>
          <a:prstGeom prst="rect">
            <a:avLst/>
          </a:prstGeom>
          <a:blipFill>
            <a:blip r:embed="rId3" cstate="print"/>
            <a:stretch>
              <a:fillRect/>
            </a:stretch>
          </a:blipFill>
        </p:spPr>
        <p:txBody>
          <a:bodyPr wrap="square" lIns="0" tIns="0" rIns="0" bIns="0" rtlCol="0"/>
          <a:lstStyle/>
          <a:p>
            <a:endParaRPr>
              <a:solidFill>
                <a:prstClr val="black"/>
              </a:solidFill>
              <a:latin typeface="Aptos" panose="02110004020202020204"/>
            </a:endParaRPr>
          </a:p>
        </p:txBody>
      </p:sp>
      <p:pic>
        <p:nvPicPr>
          <p:cNvPr id="16" name="Picture 15" descr="A logo with a brain and text&#10;&#10;Description automatically generated">
            <a:extLst>
              <a:ext uri="{FF2B5EF4-FFF2-40B4-BE49-F238E27FC236}">
                <a16:creationId xmlns:a16="http://schemas.microsoft.com/office/drawing/2014/main" id="{F5A4A679-DDDB-520C-B9DC-58DDDBABA3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sp>
        <p:nvSpPr>
          <p:cNvPr id="17" name="object 21">
            <a:extLst>
              <a:ext uri="{FF2B5EF4-FFF2-40B4-BE49-F238E27FC236}">
                <a16:creationId xmlns:a16="http://schemas.microsoft.com/office/drawing/2014/main" id="{C357DBD2-FEA9-EA12-EA54-3DF16B404024}"/>
              </a:ext>
            </a:extLst>
          </p:cNvPr>
          <p:cNvSpPr/>
          <p:nvPr/>
        </p:nvSpPr>
        <p:spPr>
          <a:xfrm>
            <a:off x="833199" y="29986"/>
            <a:ext cx="2029524" cy="858129"/>
          </a:xfrm>
          <a:prstGeom prst="rect">
            <a:avLst/>
          </a:prstGeom>
          <a:blipFill>
            <a:blip r:embed="rId5"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18" name="Picture 17" descr="A yellow and orange circle with a red ribbon&#10;&#10;Description automatically generated">
            <a:extLst>
              <a:ext uri="{FF2B5EF4-FFF2-40B4-BE49-F238E27FC236}">
                <a16:creationId xmlns:a16="http://schemas.microsoft.com/office/drawing/2014/main" id="{62868A84-74E8-191F-9D7E-88BAA74BD3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19" name="Rectangle 18">
            <a:extLst>
              <a:ext uri="{FF2B5EF4-FFF2-40B4-BE49-F238E27FC236}">
                <a16:creationId xmlns:a16="http://schemas.microsoft.com/office/drawing/2014/main" id="{A8D0CF68-96F8-0FE5-5B08-021EA96B3C9C}"/>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20" name="Picture 19" descr="A close-up of a blue and gold logo&#10;&#10;Description automatically generated">
            <a:extLst>
              <a:ext uri="{FF2B5EF4-FFF2-40B4-BE49-F238E27FC236}">
                <a16:creationId xmlns:a16="http://schemas.microsoft.com/office/drawing/2014/main" id="{714A8117-68CD-FAD9-5ED8-6E364B6CA4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21" name="Picture 20">
            <a:extLst>
              <a:ext uri="{FF2B5EF4-FFF2-40B4-BE49-F238E27FC236}">
                <a16:creationId xmlns:a16="http://schemas.microsoft.com/office/drawing/2014/main" id="{31DB5D4E-633F-CA7A-517E-A8E21E580494}"/>
              </a:ext>
            </a:extLst>
          </p:cNvPr>
          <p:cNvPicPr>
            <a:picLocks noChangeAspect="1"/>
          </p:cNvPicPr>
          <p:nvPr/>
        </p:nvPicPr>
        <p:blipFill>
          <a:blip r:embed="rId8"/>
          <a:stretch>
            <a:fillRect/>
          </a:stretch>
        </p:blipFill>
        <p:spPr>
          <a:xfrm>
            <a:off x="-19559" y="7851615"/>
            <a:ext cx="14649958" cy="377985"/>
          </a:xfrm>
          <a:prstGeom prst="rect">
            <a:avLst/>
          </a:prstGeom>
        </p:spPr>
      </p:pic>
      <p:sp>
        <p:nvSpPr>
          <p:cNvPr id="22" name="TextBox 21">
            <a:extLst>
              <a:ext uri="{FF2B5EF4-FFF2-40B4-BE49-F238E27FC236}">
                <a16:creationId xmlns:a16="http://schemas.microsoft.com/office/drawing/2014/main" id="{980BCF4A-A762-AB10-6812-2CC85C4CE223}"/>
              </a:ext>
            </a:extLst>
          </p:cNvPr>
          <p:cNvSpPr txBox="1"/>
          <p:nvPr/>
        </p:nvSpPr>
        <p:spPr>
          <a:xfrm>
            <a:off x="4291663" y="7819905"/>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spTree>
    <p:extLst>
      <p:ext uri="{BB962C8B-B14F-4D97-AF65-F5344CB8AC3E}">
        <p14:creationId xmlns:p14="http://schemas.microsoft.com/office/powerpoint/2010/main" val="2218171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2"/>
          <a:stretch>
            <a:fillRect/>
          </a:stretch>
        </p:blipFill>
        <p:spPr>
          <a:xfrm>
            <a:off x="22748" y="1"/>
            <a:ext cx="14630400" cy="3417392"/>
          </a:xfrm>
          <a:prstGeom prst="rect">
            <a:avLst/>
          </a:prstGeom>
        </p:spPr>
      </p:pic>
      <p:sp>
        <p:nvSpPr>
          <p:cNvPr id="4" name="Text 0"/>
          <p:cNvSpPr/>
          <p:nvPr/>
        </p:nvSpPr>
        <p:spPr>
          <a:xfrm>
            <a:off x="793790" y="3368527"/>
            <a:ext cx="9651921" cy="785839"/>
          </a:xfrm>
          <a:prstGeom prst="rect">
            <a:avLst/>
          </a:prstGeom>
          <a:noFill/>
          <a:ln/>
        </p:spPr>
        <p:txBody>
          <a:bodyPr wrap="none" lIns="0" tIns="0" rIns="0" bIns="0" rtlCol="0" anchor="t"/>
          <a:lstStyle/>
          <a:p>
            <a:pPr marL="0" indent="0">
              <a:lnSpc>
                <a:spcPts val="5550"/>
              </a:lnSpc>
              <a:buNone/>
            </a:pPr>
            <a:r>
              <a:rPr lang="en-US" sz="4450" dirty="0">
                <a:solidFill>
                  <a:srgbClr val="152D47"/>
                </a:solidFill>
                <a:latin typeface="Crimson Pro Semi Bold" pitchFamily="34" charset="0"/>
                <a:ea typeface="Crimson Pro Semi Bold" pitchFamily="34" charset="-122"/>
                <a:cs typeface="Crimson Pro Semi Bold" pitchFamily="34" charset="-120"/>
              </a:rPr>
              <a:t>Existing Systems :</a:t>
            </a:r>
            <a:endParaRPr lang="en-US" sz="4450" dirty="0"/>
          </a:p>
        </p:txBody>
      </p:sp>
      <p:sp>
        <p:nvSpPr>
          <p:cNvPr id="5" name="Shape 1"/>
          <p:cNvSpPr/>
          <p:nvPr/>
        </p:nvSpPr>
        <p:spPr>
          <a:xfrm>
            <a:off x="62944" y="4542682"/>
            <a:ext cx="359790" cy="293190"/>
          </a:xfrm>
          <a:prstGeom prst="roundRect">
            <a:avLst>
              <a:gd name="adj" fmla="val 8574"/>
            </a:avLst>
          </a:prstGeom>
          <a:solidFill>
            <a:srgbClr val="F2EEEE"/>
          </a:solidFill>
          <a:ln/>
        </p:spPr>
      </p:sp>
      <p:sp>
        <p:nvSpPr>
          <p:cNvPr id="6" name="Text 2"/>
          <p:cNvSpPr/>
          <p:nvPr/>
        </p:nvSpPr>
        <p:spPr>
          <a:xfrm>
            <a:off x="4630558" y="4542683"/>
            <a:ext cx="2306267" cy="725608"/>
          </a:xfrm>
          <a:prstGeom prst="rect">
            <a:avLst/>
          </a:prstGeom>
          <a:noFill/>
          <a:ln/>
        </p:spPr>
        <p:txBody>
          <a:bodyPr wrap="none" lIns="0" tIns="0" rIns="0" bIns="0" rtlCol="0" anchor="t"/>
          <a:lstStyle/>
          <a:p>
            <a:pPr marL="0" indent="0">
              <a:lnSpc>
                <a:spcPts val="2750"/>
              </a:lnSpc>
              <a:buNone/>
            </a:pPr>
            <a:r>
              <a:rPr lang="en-US" dirty="0">
                <a:solidFill>
                  <a:srgbClr val="4C4C4D"/>
                </a:solidFill>
                <a:latin typeface="Crimson Pro Semi Bold" pitchFamily="34" charset="0"/>
                <a:ea typeface="Crimson Pro Semi Bold" pitchFamily="34" charset="-122"/>
                <a:cs typeface="Crimson Pro Semi Bold" pitchFamily="34" charset="-120"/>
              </a:rPr>
              <a:t>Multi-path Deep Learning</a:t>
            </a:r>
            <a:endParaRPr lang="en-US" dirty="0"/>
          </a:p>
        </p:txBody>
      </p:sp>
      <p:sp>
        <p:nvSpPr>
          <p:cNvPr id="7" name="Text 3"/>
          <p:cNvSpPr/>
          <p:nvPr/>
        </p:nvSpPr>
        <p:spPr>
          <a:xfrm>
            <a:off x="4630558" y="5572168"/>
            <a:ext cx="2821355" cy="1365568"/>
          </a:xfrm>
          <a:prstGeom prst="rect">
            <a:avLst/>
          </a:prstGeom>
          <a:noFill/>
          <a:ln/>
        </p:spPr>
        <p:txBody>
          <a:bodyPr wrap="square" lIns="0" tIns="0" rIns="0" bIns="0" rtlCol="0" anchor="t"/>
          <a:lstStyle/>
          <a:p>
            <a:pPr marL="0" indent="0">
              <a:lnSpc>
                <a:spcPts val="2850"/>
              </a:lnSpc>
              <a:buNone/>
            </a:pPr>
            <a:r>
              <a:rPr lang="en-US" sz="1600" dirty="0">
                <a:solidFill>
                  <a:srgbClr val="4C4C4D"/>
                </a:solidFill>
                <a:latin typeface="Heebo" pitchFamily="34" charset="0"/>
                <a:ea typeface="Heebo" pitchFamily="34" charset="-122"/>
                <a:cs typeface="Heebo" pitchFamily="34" charset="-120"/>
              </a:rPr>
              <a:t>Utilizing multiple pathways in a network, allowing for the extraction of diverse features for improved accuracy.</a:t>
            </a:r>
            <a:endParaRPr lang="en-US" sz="1600" dirty="0"/>
          </a:p>
        </p:txBody>
      </p:sp>
      <p:sp>
        <p:nvSpPr>
          <p:cNvPr id="8" name="Shape 4"/>
          <p:cNvSpPr/>
          <p:nvPr/>
        </p:nvSpPr>
        <p:spPr>
          <a:xfrm>
            <a:off x="4108940" y="4542682"/>
            <a:ext cx="365446" cy="293190"/>
          </a:xfrm>
          <a:prstGeom prst="roundRect">
            <a:avLst>
              <a:gd name="adj" fmla="val 8574"/>
            </a:avLst>
          </a:prstGeom>
          <a:solidFill>
            <a:srgbClr val="F2EEEE"/>
          </a:solidFill>
          <a:ln/>
        </p:spPr>
      </p:sp>
      <p:sp>
        <p:nvSpPr>
          <p:cNvPr id="9" name="Text 5"/>
          <p:cNvSpPr/>
          <p:nvPr/>
        </p:nvSpPr>
        <p:spPr>
          <a:xfrm>
            <a:off x="12015873" y="4542683"/>
            <a:ext cx="2019192" cy="391058"/>
          </a:xfrm>
          <a:prstGeom prst="rect">
            <a:avLst/>
          </a:prstGeom>
          <a:noFill/>
          <a:ln/>
        </p:spPr>
        <p:txBody>
          <a:bodyPr wrap="none" lIns="0" tIns="0" rIns="0" bIns="0" rtlCol="0" anchor="t"/>
          <a:lstStyle/>
          <a:p>
            <a:pPr marL="0" indent="0">
              <a:lnSpc>
                <a:spcPts val="2750"/>
              </a:lnSpc>
              <a:buNone/>
            </a:pPr>
            <a:r>
              <a:rPr lang="en-US" dirty="0">
                <a:solidFill>
                  <a:srgbClr val="4C4C4D"/>
                </a:solidFill>
                <a:latin typeface="Crimson Pro Semi Bold" pitchFamily="34" charset="0"/>
                <a:ea typeface="Crimson Pro Semi Bold" pitchFamily="34" charset="-122"/>
                <a:cs typeface="Crimson Pro Semi Bold" pitchFamily="34" charset="-120"/>
              </a:rPr>
              <a:t>Hybrid Models</a:t>
            </a:r>
            <a:endParaRPr lang="en-US" dirty="0"/>
          </a:p>
        </p:txBody>
      </p:sp>
      <p:sp>
        <p:nvSpPr>
          <p:cNvPr id="10" name="Text 6"/>
          <p:cNvSpPr/>
          <p:nvPr/>
        </p:nvSpPr>
        <p:spPr>
          <a:xfrm>
            <a:off x="12015872" y="5486400"/>
            <a:ext cx="2280546" cy="1265437"/>
          </a:xfrm>
          <a:prstGeom prst="rect">
            <a:avLst/>
          </a:prstGeom>
          <a:noFill/>
          <a:ln/>
        </p:spPr>
        <p:txBody>
          <a:bodyPr wrap="square" lIns="0" tIns="0" rIns="0" bIns="0" rtlCol="0" anchor="t"/>
          <a:lstStyle/>
          <a:p>
            <a:pPr marL="0" indent="0">
              <a:lnSpc>
                <a:spcPts val="2850"/>
              </a:lnSpc>
              <a:buNone/>
            </a:pPr>
            <a:r>
              <a:rPr lang="en-US" sz="1600" dirty="0">
                <a:solidFill>
                  <a:srgbClr val="4C4C4D"/>
                </a:solidFill>
                <a:latin typeface="Heebo" pitchFamily="34" charset="0"/>
                <a:ea typeface="Heebo" pitchFamily="34" charset="-122"/>
                <a:cs typeface="Heebo" pitchFamily="34" charset="-120"/>
              </a:rPr>
              <a:t>Combining CNNs with traditional machine learning algorithms for enhanced classification performance.</a:t>
            </a:r>
            <a:endParaRPr lang="en-US" sz="1600" dirty="0"/>
          </a:p>
        </p:txBody>
      </p:sp>
      <p:sp>
        <p:nvSpPr>
          <p:cNvPr id="11" name="Shape 7"/>
          <p:cNvSpPr/>
          <p:nvPr/>
        </p:nvSpPr>
        <p:spPr>
          <a:xfrm>
            <a:off x="7730835" y="4542682"/>
            <a:ext cx="380455" cy="293189"/>
          </a:xfrm>
          <a:prstGeom prst="roundRect">
            <a:avLst>
              <a:gd name="adj" fmla="val 8574"/>
            </a:avLst>
          </a:prstGeom>
          <a:solidFill>
            <a:srgbClr val="F2EEEE"/>
          </a:solidFill>
          <a:ln/>
        </p:spPr>
      </p:sp>
      <p:sp>
        <p:nvSpPr>
          <p:cNvPr id="12" name="Text 8"/>
          <p:cNvSpPr/>
          <p:nvPr/>
        </p:nvSpPr>
        <p:spPr>
          <a:xfrm>
            <a:off x="8256269" y="4542684"/>
            <a:ext cx="2306266" cy="400110"/>
          </a:xfrm>
          <a:prstGeom prst="rect">
            <a:avLst/>
          </a:prstGeom>
          <a:noFill/>
          <a:ln/>
        </p:spPr>
        <p:txBody>
          <a:bodyPr wrap="none" lIns="0" tIns="0" rIns="0" bIns="0" rtlCol="0" anchor="t"/>
          <a:lstStyle/>
          <a:p>
            <a:pPr marL="0" indent="0">
              <a:lnSpc>
                <a:spcPts val="2750"/>
              </a:lnSpc>
              <a:buNone/>
            </a:pPr>
            <a:r>
              <a:rPr lang="en-US" dirty="0">
                <a:solidFill>
                  <a:srgbClr val="4C4C4D"/>
                </a:solidFill>
                <a:latin typeface="Crimson Pro Semi Bold" pitchFamily="34" charset="0"/>
                <a:ea typeface="Crimson Pro Semi Bold" pitchFamily="34" charset="-122"/>
                <a:cs typeface="Crimson Pro Semi Bold" pitchFamily="34" charset="-120"/>
              </a:rPr>
              <a:t>Multi-modal Frameworks</a:t>
            </a:r>
            <a:endParaRPr lang="en-US" dirty="0"/>
          </a:p>
        </p:txBody>
      </p:sp>
      <p:sp>
        <p:nvSpPr>
          <p:cNvPr id="13" name="Text 9"/>
          <p:cNvSpPr/>
          <p:nvPr/>
        </p:nvSpPr>
        <p:spPr>
          <a:xfrm>
            <a:off x="8273938" y="5486400"/>
            <a:ext cx="2448240" cy="1265437"/>
          </a:xfrm>
          <a:prstGeom prst="rect">
            <a:avLst/>
          </a:prstGeom>
          <a:noFill/>
          <a:ln/>
        </p:spPr>
        <p:txBody>
          <a:bodyPr wrap="square" lIns="0" tIns="0" rIns="0" bIns="0" rtlCol="0" anchor="t"/>
          <a:lstStyle/>
          <a:p>
            <a:pPr marL="0" indent="0">
              <a:lnSpc>
                <a:spcPts val="2850"/>
              </a:lnSpc>
              <a:buNone/>
            </a:pPr>
            <a:r>
              <a:rPr lang="en-US" sz="1600" dirty="0">
                <a:solidFill>
                  <a:srgbClr val="4C4C4D"/>
                </a:solidFill>
                <a:latin typeface="Heebo" pitchFamily="34" charset="0"/>
                <a:ea typeface="Heebo" pitchFamily="34" charset="-122"/>
                <a:cs typeface="Heebo" pitchFamily="34" charset="-120"/>
              </a:rPr>
              <a:t>Integrating data from multiple sources, such as MRI scans and patient information, for more comprehensive analysis.</a:t>
            </a:r>
            <a:endParaRPr lang="en-US" sz="1600" dirty="0"/>
          </a:p>
        </p:txBody>
      </p:sp>
      <p:pic>
        <p:nvPicPr>
          <p:cNvPr id="14" name="Picture 13">
            <a:extLst>
              <a:ext uri="{FF2B5EF4-FFF2-40B4-BE49-F238E27FC236}">
                <a16:creationId xmlns:a16="http://schemas.microsoft.com/office/drawing/2014/main" id="{39A932E9-499E-8C64-3080-863B66328A1D}"/>
              </a:ext>
            </a:extLst>
          </p:cNvPr>
          <p:cNvPicPr>
            <a:picLocks noChangeAspect="1"/>
          </p:cNvPicPr>
          <p:nvPr/>
        </p:nvPicPr>
        <p:blipFill>
          <a:blip r:embed="rId3"/>
          <a:stretch>
            <a:fillRect/>
          </a:stretch>
        </p:blipFill>
        <p:spPr>
          <a:xfrm>
            <a:off x="3643" y="241002"/>
            <a:ext cx="681842" cy="390178"/>
          </a:xfrm>
          <a:prstGeom prst="rect">
            <a:avLst/>
          </a:prstGeom>
        </p:spPr>
      </p:pic>
      <p:sp>
        <p:nvSpPr>
          <p:cNvPr id="15" name="object 23">
            <a:extLst>
              <a:ext uri="{FF2B5EF4-FFF2-40B4-BE49-F238E27FC236}">
                <a16:creationId xmlns:a16="http://schemas.microsoft.com/office/drawing/2014/main" id="{7045852A-A2F3-70D1-D6DE-CF910530D045}"/>
              </a:ext>
            </a:extLst>
          </p:cNvPr>
          <p:cNvSpPr/>
          <p:nvPr/>
        </p:nvSpPr>
        <p:spPr>
          <a:xfrm>
            <a:off x="12183611" y="107719"/>
            <a:ext cx="1209819" cy="704826"/>
          </a:xfrm>
          <a:prstGeom prst="rect">
            <a:avLst/>
          </a:prstGeom>
          <a:blipFill>
            <a:blip r:embed="rId4" cstate="print"/>
            <a:stretch>
              <a:fillRect/>
            </a:stretch>
          </a:blipFill>
        </p:spPr>
        <p:txBody>
          <a:bodyPr wrap="square" lIns="0" tIns="0" rIns="0" bIns="0" rtlCol="0"/>
          <a:lstStyle/>
          <a:p>
            <a:endParaRPr>
              <a:solidFill>
                <a:prstClr val="black"/>
              </a:solidFill>
              <a:latin typeface="Aptos" panose="02110004020202020204"/>
            </a:endParaRPr>
          </a:p>
        </p:txBody>
      </p:sp>
      <p:pic>
        <p:nvPicPr>
          <p:cNvPr id="16" name="Picture 15" descr="A logo with a brain and text&#10;&#10;Description automatically generated">
            <a:extLst>
              <a:ext uri="{FF2B5EF4-FFF2-40B4-BE49-F238E27FC236}">
                <a16:creationId xmlns:a16="http://schemas.microsoft.com/office/drawing/2014/main" id="{F5A4A679-DDDB-520C-B9DC-58DDDBABA3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sp>
        <p:nvSpPr>
          <p:cNvPr id="17" name="object 21">
            <a:extLst>
              <a:ext uri="{FF2B5EF4-FFF2-40B4-BE49-F238E27FC236}">
                <a16:creationId xmlns:a16="http://schemas.microsoft.com/office/drawing/2014/main" id="{C357DBD2-FEA9-EA12-EA54-3DF16B404024}"/>
              </a:ext>
            </a:extLst>
          </p:cNvPr>
          <p:cNvSpPr/>
          <p:nvPr/>
        </p:nvSpPr>
        <p:spPr>
          <a:xfrm>
            <a:off x="833199" y="29986"/>
            <a:ext cx="2029524" cy="858129"/>
          </a:xfrm>
          <a:prstGeom prst="rect">
            <a:avLst/>
          </a:prstGeom>
          <a:blipFill>
            <a:blip r:embed="rId6"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18" name="Picture 17" descr="A yellow and orange circle with a red ribbon&#10;&#10;Description automatically generated">
            <a:extLst>
              <a:ext uri="{FF2B5EF4-FFF2-40B4-BE49-F238E27FC236}">
                <a16:creationId xmlns:a16="http://schemas.microsoft.com/office/drawing/2014/main" id="{62868A84-74E8-191F-9D7E-88BAA74BD33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19" name="Rectangle 18">
            <a:extLst>
              <a:ext uri="{FF2B5EF4-FFF2-40B4-BE49-F238E27FC236}">
                <a16:creationId xmlns:a16="http://schemas.microsoft.com/office/drawing/2014/main" id="{A8D0CF68-96F8-0FE5-5B08-021EA96B3C9C}"/>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20" name="Picture 19" descr="A close-up of a blue and gold logo&#10;&#10;Description automatically generated">
            <a:extLst>
              <a:ext uri="{FF2B5EF4-FFF2-40B4-BE49-F238E27FC236}">
                <a16:creationId xmlns:a16="http://schemas.microsoft.com/office/drawing/2014/main" id="{714A8117-68CD-FAD9-5ED8-6E364B6CA43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21" name="Picture 20">
            <a:extLst>
              <a:ext uri="{FF2B5EF4-FFF2-40B4-BE49-F238E27FC236}">
                <a16:creationId xmlns:a16="http://schemas.microsoft.com/office/drawing/2014/main" id="{31DB5D4E-633F-CA7A-517E-A8E21E580494}"/>
              </a:ext>
            </a:extLst>
          </p:cNvPr>
          <p:cNvPicPr>
            <a:picLocks noChangeAspect="1"/>
          </p:cNvPicPr>
          <p:nvPr/>
        </p:nvPicPr>
        <p:blipFill>
          <a:blip r:embed="rId9"/>
          <a:stretch>
            <a:fillRect/>
          </a:stretch>
        </p:blipFill>
        <p:spPr>
          <a:xfrm>
            <a:off x="-19559" y="7851615"/>
            <a:ext cx="14649958" cy="377985"/>
          </a:xfrm>
          <a:prstGeom prst="rect">
            <a:avLst/>
          </a:prstGeom>
        </p:spPr>
      </p:pic>
      <p:sp>
        <p:nvSpPr>
          <p:cNvPr id="22" name="TextBox 21">
            <a:extLst>
              <a:ext uri="{FF2B5EF4-FFF2-40B4-BE49-F238E27FC236}">
                <a16:creationId xmlns:a16="http://schemas.microsoft.com/office/drawing/2014/main" id="{980BCF4A-A762-AB10-6812-2CC85C4CE223}"/>
              </a:ext>
            </a:extLst>
          </p:cNvPr>
          <p:cNvSpPr txBox="1"/>
          <p:nvPr/>
        </p:nvSpPr>
        <p:spPr>
          <a:xfrm>
            <a:off x="4291663" y="7819905"/>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sp>
        <p:nvSpPr>
          <p:cNvPr id="23" name="Shape 7"/>
          <p:cNvSpPr/>
          <p:nvPr/>
        </p:nvSpPr>
        <p:spPr>
          <a:xfrm>
            <a:off x="11497839" y="4542682"/>
            <a:ext cx="350339" cy="293190"/>
          </a:xfrm>
          <a:prstGeom prst="roundRect">
            <a:avLst>
              <a:gd name="adj" fmla="val 8574"/>
            </a:avLst>
          </a:prstGeom>
          <a:solidFill>
            <a:srgbClr val="F2EEEE"/>
          </a:solidFill>
          <a:ln/>
        </p:spPr>
      </p:sp>
      <p:sp>
        <p:nvSpPr>
          <p:cNvPr id="24" name="Text 8"/>
          <p:cNvSpPr/>
          <p:nvPr/>
        </p:nvSpPr>
        <p:spPr>
          <a:xfrm>
            <a:off x="536661" y="4542682"/>
            <a:ext cx="3507968" cy="1029486"/>
          </a:xfrm>
          <a:prstGeom prst="rect">
            <a:avLst/>
          </a:prstGeom>
          <a:noFill/>
          <a:ln/>
        </p:spPr>
        <p:txBody>
          <a:bodyPr wrap="none" lIns="0" tIns="0" rIns="0" bIns="0" rtlCol="0" anchor="t"/>
          <a:lstStyle/>
          <a:p>
            <a:pPr>
              <a:lnSpc>
                <a:spcPts val="2750"/>
              </a:lnSpc>
            </a:pPr>
            <a:r>
              <a:rPr lang="en-US" dirty="0">
                <a:solidFill>
                  <a:srgbClr val="4C4C4D"/>
                </a:solidFill>
                <a:latin typeface="Crimson Pro Semi Bold" pitchFamily="34" charset="0"/>
                <a:ea typeface="Crimson Pro Semi Bold" pitchFamily="34" charset="-122"/>
                <a:cs typeface="Crimson Pro Semi Bold" pitchFamily="34" charset="-120"/>
              </a:rPr>
              <a:t>Traditional Machine Learning</a:t>
            </a:r>
          </a:p>
          <a:p>
            <a:pPr>
              <a:lnSpc>
                <a:spcPts val="2750"/>
              </a:lnSpc>
            </a:pPr>
            <a:r>
              <a:rPr lang="en-US" dirty="0">
                <a:solidFill>
                  <a:srgbClr val="4C4C4D"/>
                </a:solidFill>
                <a:latin typeface="Crimson Pro Semi Bold" pitchFamily="34" charset="0"/>
                <a:ea typeface="Crimson Pro Semi Bold" pitchFamily="34" charset="-122"/>
                <a:cs typeface="Crimson Pro Semi Bold" pitchFamily="34" charset="-120"/>
              </a:rPr>
              <a:t> algorithms</a:t>
            </a:r>
          </a:p>
        </p:txBody>
      </p:sp>
      <p:sp>
        <p:nvSpPr>
          <p:cNvPr id="25" name="Text 9"/>
          <p:cNvSpPr/>
          <p:nvPr/>
        </p:nvSpPr>
        <p:spPr>
          <a:xfrm>
            <a:off x="536661" y="5486400"/>
            <a:ext cx="3271872" cy="1280310"/>
          </a:xfrm>
          <a:prstGeom prst="rect">
            <a:avLst/>
          </a:prstGeom>
          <a:noFill/>
          <a:ln/>
        </p:spPr>
        <p:txBody>
          <a:bodyPr wrap="square" lIns="0" tIns="0" rIns="0" bIns="0" rtlCol="0" anchor="t"/>
          <a:lstStyle/>
          <a:p>
            <a:pPr>
              <a:lnSpc>
                <a:spcPts val="2850"/>
              </a:lnSpc>
            </a:pPr>
            <a:r>
              <a:rPr lang="en-US" sz="1600" dirty="0">
                <a:solidFill>
                  <a:srgbClr val="4C4C4D"/>
                </a:solidFill>
                <a:latin typeface="Heebo" pitchFamily="34" charset="0"/>
                <a:ea typeface="Heebo" pitchFamily="34" charset="-122"/>
                <a:cs typeface="Heebo" pitchFamily="34" charset="-120"/>
              </a:rPr>
              <a:t>Traditional machine learning algorithms in brain tumor classification use extracted features for diagnosis, employing SVM, KNN, RF, or ensemble methods.</a:t>
            </a:r>
            <a:endParaRPr lang="en-US" sz="1600" dirty="0"/>
          </a:p>
        </p:txBody>
      </p:sp>
    </p:spTree>
    <p:extLst>
      <p:ext uri="{BB962C8B-B14F-4D97-AF65-F5344CB8AC3E}">
        <p14:creationId xmlns:p14="http://schemas.microsoft.com/office/powerpoint/2010/main" val="2781695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nvSpPr>
        <p:spPr>
          <a:xfrm>
            <a:off x="1627833" y="2387970"/>
            <a:ext cx="6525934" cy="958215"/>
          </a:xfrm>
          <a:prstGeom prst="rect">
            <a:avLst/>
          </a:prstGeom>
          <a:noFill/>
          <a:ln/>
        </p:spPr>
        <p:txBody>
          <a:bodyPr wrap="none" rtlCol="0" anchor="t"/>
          <a:lstStyle/>
          <a:p>
            <a:pPr marL="0" indent="0">
              <a:lnSpc>
                <a:spcPts val="7545"/>
              </a:lnSpc>
              <a:buNone/>
            </a:pPr>
            <a:endParaRPr lang="en-US" sz="6036" b="1"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39A932E9-499E-8C64-3080-863B66328A1D}"/>
              </a:ext>
            </a:extLst>
          </p:cNvPr>
          <p:cNvPicPr>
            <a:picLocks noChangeAspect="1"/>
          </p:cNvPicPr>
          <p:nvPr/>
        </p:nvPicPr>
        <p:blipFill>
          <a:blip r:embed="rId2"/>
          <a:stretch>
            <a:fillRect/>
          </a:stretch>
        </p:blipFill>
        <p:spPr>
          <a:xfrm>
            <a:off x="3643" y="241002"/>
            <a:ext cx="681842" cy="390178"/>
          </a:xfrm>
          <a:prstGeom prst="rect">
            <a:avLst/>
          </a:prstGeom>
        </p:spPr>
      </p:pic>
      <p:sp>
        <p:nvSpPr>
          <p:cNvPr id="5" name="object 23">
            <a:extLst>
              <a:ext uri="{FF2B5EF4-FFF2-40B4-BE49-F238E27FC236}">
                <a16:creationId xmlns:a16="http://schemas.microsoft.com/office/drawing/2014/main" id="{7045852A-A2F3-70D1-D6DE-CF910530D045}"/>
              </a:ext>
            </a:extLst>
          </p:cNvPr>
          <p:cNvSpPr/>
          <p:nvPr/>
        </p:nvSpPr>
        <p:spPr>
          <a:xfrm>
            <a:off x="12183611" y="107719"/>
            <a:ext cx="1209819" cy="704826"/>
          </a:xfrm>
          <a:prstGeom prst="rect">
            <a:avLst/>
          </a:prstGeom>
          <a:blipFill>
            <a:blip r:embed="rId3" cstate="print"/>
            <a:stretch>
              <a:fillRect/>
            </a:stretch>
          </a:blipFill>
        </p:spPr>
        <p:txBody>
          <a:bodyPr wrap="square" lIns="0" tIns="0" rIns="0" bIns="0" rtlCol="0"/>
          <a:lstStyle/>
          <a:p>
            <a:endParaRPr>
              <a:solidFill>
                <a:prstClr val="black"/>
              </a:solidFill>
              <a:latin typeface="Aptos" panose="02110004020202020204"/>
            </a:endParaRPr>
          </a:p>
        </p:txBody>
      </p:sp>
      <p:pic>
        <p:nvPicPr>
          <p:cNvPr id="6" name="Picture 5" descr="A logo with a brain and text&#10;&#10;Description automatically generated">
            <a:extLst>
              <a:ext uri="{FF2B5EF4-FFF2-40B4-BE49-F238E27FC236}">
                <a16:creationId xmlns:a16="http://schemas.microsoft.com/office/drawing/2014/main" id="{F5A4A679-DDDB-520C-B9DC-58DDDBABA3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sp>
        <p:nvSpPr>
          <p:cNvPr id="7" name="object 21">
            <a:extLst>
              <a:ext uri="{FF2B5EF4-FFF2-40B4-BE49-F238E27FC236}">
                <a16:creationId xmlns:a16="http://schemas.microsoft.com/office/drawing/2014/main" id="{C357DBD2-FEA9-EA12-EA54-3DF16B404024}"/>
              </a:ext>
            </a:extLst>
          </p:cNvPr>
          <p:cNvSpPr/>
          <p:nvPr/>
        </p:nvSpPr>
        <p:spPr>
          <a:xfrm>
            <a:off x="833199" y="29986"/>
            <a:ext cx="2029524" cy="858129"/>
          </a:xfrm>
          <a:prstGeom prst="rect">
            <a:avLst/>
          </a:prstGeom>
          <a:blipFill>
            <a:blip r:embed="rId5"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8" name="Picture 7" descr="A yellow and orange circle with a red ribbon&#10;&#10;Description automatically generated">
            <a:extLst>
              <a:ext uri="{FF2B5EF4-FFF2-40B4-BE49-F238E27FC236}">
                <a16:creationId xmlns:a16="http://schemas.microsoft.com/office/drawing/2014/main" id="{62868A84-74E8-191F-9D7E-88BAA74BD3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9" name="Rectangle 8">
            <a:extLst>
              <a:ext uri="{FF2B5EF4-FFF2-40B4-BE49-F238E27FC236}">
                <a16:creationId xmlns:a16="http://schemas.microsoft.com/office/drawing/2014/main" id="{A8D0CF68-96F8-0FE5-5B08-021EA96B3C9C}"/>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10" name="Picture 9" descr="A close-up of a blue and gold logo&#10;&#10;Description automatically generated">
            <a:extLst>
              <a:ext uri="{FF2B5EF4-FFF2-40B4-BE49-F238E27FC236}">
                <a16:creationId xmlns:a16="http://schemas.microsoft.com/office/drawing/2014/main" id="{714A8117-68CD-FAD9-5ED8-6E364B6CA4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11" name="Picture 10">
            <a:extLst>
              <a:ext uri="{FF2B5EF4-FFF2-40B4-BE49-F238E27FC236}">
                <a16:creationId xmlns:a16="http://schemas.microsoft.com/office/drawing/2014/main" id="{31DB5D4E-633F-CA7A-517E-A8E21E580494}"/>
              </a:ext>
            </a:extLst>
          </p:cNvPr>
          <p:cNvPicPr>
            <a:picLocks noChangeAspect="1"/>
          </p:cNvPicPr>
          <p:nvPr/>
        </p:nvPicPr>
        <p:blipFill>
          <a:blip r:embed="rId8"/>
          <a:stretch>
            <a:fillRect/>
          </a:stretch>
        </p:blipFill>
        <p:spPr>
          <a:xfrm>
            <a:off x="-19559" y="7851615"/>
            <a:ext cx="14649958" cy="377985"/>
          </a:xfrm>
          <a:prstGeom prst="rect">
            <a:avLst/>
          </a:prstGeom>
        </p:spPr>
      </p:pic>
      <p:sp>
        <p:nvSpPr>
          <p:cNvPr id="12" name="TextBox 11">
            <a:extLst>
              <a:ext uri="{FF2B5EF4-FFF2-40B4-BE49-F238E27FC236}">
                <a16:creationId xmlns:a16="http://schemas.microsoft.com/office/drawing/2014/main" id="{980BCF4A-A762-AB10-6812-2CC85C4CE223}"/>
              </a:ext>
            </a:extLst>
          </p:cNvPr>
          <p:cNvSpPr txBox="1"/>
          <p:nvPr/>
        </p:nvSpPr>
        <p:spPr>
          <a:xfrm>
            <a:off x="4291663" y="7819905"/>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sp>
        <p:nvSpPr>
          <p:cNvPr id="13" name="Text 1">
            <a:extLst>
              <a:ext uri="{FF2B5EF4-FFF2-40B4-BE49-F238E27FC236}">
                <a16:creationId xmlns:a16="http://schemas.microsoft.com/office/drawing/2014/main" id="{F002C28C-A1B8-8102-5D44-7A0EEF9F283C}"/>
              </a:ext>
            </a:extLst>
          </p:cNvPr>
          <p:cNvSpPr/>
          <p:nvPr/>
        </p:nvSpPr>
        <p:spPr>
          <a:xfrm>
            <a:off x="1668026" y="2197772"/>
            <a:ext cx="9724817" cy="958215"/>
          </a:xfrm>
          <a:prstGeom prst="rect">
            <a:avLst/>
          </a:prstGeom>
          <a:noFill/>
          <a:ln/>
        </p:spPr>
        <p:txBody>
          <a:bodyPr wrap="non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7545"/>
              </a:lnSpc>
              <a:buNone/>
            </a:pPr>
            <a:r>
              <a:rPr lang="en-US" sz="6036" b="1" dirty="0">
                <a:latin typeface="Times New Roman" pitchFamily="18" charset="0"/>
                <a:cs typeface="Times New Roman" pitchFamily="18" charset="0"/>
              </a:rPr>
              <a:t>Problem Statement</a:t>
            </a:r>
          </a:p>
        </p:txBody>
      </p:sp>
      <p:sp>
        <p:nvSpPr>
          <p:cNvPr id="14" name="Text 2">
            <a:extLst>
              <a:ext uri="{FF2B5EF4-FFF2-40B4-BE49-F238E27FC236}">
                <a16:creationId xmlns:a16="http://schemas.microsoft.com/office/drawing/2014/main" id="{26475BCF-6F1F-AF37-6294-3D431087CC88}"/>
              </a:ext>
            </a:extLst>
          </p:cNvPr>
          <p:cNvSpPr/>
          <p:nvPr/>
        </p:nvSpPr>
        <p:spPr>
          <a:xfrm>
            <a:off x="1373928" y="3755656"/>
            <a:ext cx="12560231" cy="2692305"/>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50000"/>
              </a:lnSpc>
              <a:buNone/>
            </a:pPr>
            <a:r>
              <a:rPr lang="en-US" sz="2000" dirty="0">
                <a:latin typeface="Times New Roman" panose="02020603050405020304" pitchFamily="18" charset="0"/>
                <a:cs typeface="Times New Roman" panose="02020603050405020304" pitchFamily="18" charset="0"/>
              </a:rPr>
              <a:t>The problem is to accurately classify brain tumors using medical imaging, which is critical for effective diagnosis and treatment. The challenge lies in developing a precise, automated method that can handle the variability and complexity of tumor features.</a:t>
            </a:r>
          </a:p>
        </p:txBody>
      </p:sp>
    </p:spTree>
    <p:extLst>
      <p:ext uri="{BB962C8B-B14F-4D97-AF65-F5344CB8AC3E}">
        <p14:creationId xmlns:p14="http://schemas.microsoft.com/office/powerpoint/2010/main" val="3156214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 0"/>
          <p:cNvSpPr/>
          <p:nvPr/>
        </p:nvSpPr>
        <p:spPr>
          <a:xfrm>
            <a:off x="0" y="0"/>
            <a:ext cx="14630400" cy="8229600"/>
          </a:xfrm>
          <a:prstGeom prst="rect">
            <a:avLst/>
          </a:prstGeom>
          <a:solidFill>
            <a:srgbClr val="FFFFFF">
              <a:alpha val="75000"/>
            </a:srgbClr>
          </a:solidFill>
          <a:ln/>
        </p:spPr>
        <p:txBody>
          <a:bodyPr/>
          <a:lstStyle/>
          <a:p>
            <a:endParaRPr lang="en-IN" dirty="0"/>
          </a:p>
        </p:txBody>
      </p:sp>
      <p:sp>
        <p:nvSpPr>
          <p:cNvPr id="13" name="Text 1"/>
          <p:cNvSpPr/>
          <p:nvPr/>
        </p:nvSpPr>
        <p:spPr>
          <a:xfrm>
            <a:off x="1668026" y="2197772"/>
            <a:ext cx="9724817" cy="958215"/>
          </a:xfrm>
          <a:prstGeom prst="rect">
            <a:avLst/>
          </a:prstGeom>
          <a:noFill/>
          <a:ln/>
        </p:spPr>
        <p:txBody>
          <a:bodyPr wrap="non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7545"/>
              </a:lnSpc>
              <a:buNone/>
            </a:pPr>
            <a:r>
              <a:rPr lang="en-US" sz="6036" b="1" dirty="0">
                <a:latin typeface="Times New Roman" pitchFamily="18" charset="0"/>
                <a:ea typeface="Gelasio" pitchFamily="34" charset="-122"/>
                <a:cs typeface="Times New Roman" pitchFamily="18" charset="0"/>
              </a:rPr>
              <a:t>Proposed System</a:t>
            </a:r>
            <a:endParaRPr lang="en-US" sz="6036" b="1" dirty="0">
              <a:latin typeface="Times New Roman" pitchFamily="18" charset="0"/>
              <a:cs typeface="Times New Roman" pitchFamily="18" charset="0"/>
            </a:endParaRPr>
          </a:p>
        </p:txBody>
      </p:sp>
      <p:sp>
        <p:nvSpPr>
          <p:cNvPr id="14" name="Text 2"/>
          <p:cNvSpPr/>
          <p:nvPr/>
        </p:nvSpPr>
        <p:spPr>
          <a:xfrm>
            <a:off x="1373928" y="3755656"/>
            <a:ext cx="12560231" cy="2692305"/>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50000"/>
              </a:lnSpc>
              <a:buNone/>
            </a:pPr>
            <a:r>
              <a:rPr lang="en-US" sz="2000" dirty="0">
                <a:latin typeface="Times New Roman" panose="02020603050405020304" pitchFamily="18" charset="0"/>
                <a:cs typeface="Times New Roman" panose="02020603050405020304" pitchFamily="18" charset="0"/>
              </a:rPr>
              <a:t>The proposed system for brain tumor classification utilizes Convolutional Neural Networks (CNNs) enhanced with attention mechanisms for improved accuracy in medical imaging. The architecture includes multiple layers for feature extraction, attention modules to focus on relevant regions of MRI scans, and classifiers for accurate diagnosis. This design facilitates the efficient processing of visual data, enabling the system to detect tumors in real time and provide critical insights for timely medical intervention. </a:t>
            </a:r>
          </a:p>
          <a:p>
            <a:pPr marL="0" indent="0">
              <a:lnSpc>
                <a:spcPct val="150000"/>
              </a:lnSpc>
              <a:buNone/>
            </a:pPr>
            <a:endParaRPr lang="en-US" sz="2000" dirty="0">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39A932E9-499E-8C64-3080-863B66328A1D}"/>
              </a:ext>
            </a:extLst>
          </p:cNvPr>
          <p:cNvPicPr>
            <a:picLocks noChangeAspect="1"/>
          </p:cNvPicPr>
          <p:nvPr/>
        </p:nvPicPr>
        <p:blipFill>
          <a:blip r:embed="rId2"/>
          <a:stretch>
            <a:fillRect/>
          </a:stretch>
        </p:blipFill>
        <p:spPr>
          <a:xfrm>
            <a:off x="3643" y="241002"/>
            <a:ext cx="681842" cy="390178"/>
          </a:xfrm>
          <a:prstGeom prst="rect">
            <a:avLst/>
          </a:prstGeom>
        </p:spPr>
      </p:pic>
      <p:sp>
        <p:nvSpPr>
          <p:cNvPr id="19" name="object 23">
            <a:extLst>
              <a:ext uri="{FF2B5EF4-FFF2-40B4-BE49-F238E27FC236}">
                <a16:creationId xmlns:a16="http://schemas.microsoft.com/office/drawing/2014/main" id="{7045852A-A2F3-70D1-D6DE-CF910530D045}"/>
              </a:ext>
            </a:extLst>
          </p:cNvPr>
          <p:cNvSpPr/>
          <p:nvPr/>
        </p:nvSpPr>
        <p:spPr>
          <a:xfrm>
            <a:off x="12183611" y="107719"/>
            <a:ext cx="1209819" cy="704826"/>
          </a:xfrm>
          <a:prstGeom prst="rect">
            <a:avLst/>
          </a:prstGeom>
          <a:blipFill>
            <a:blip r:embed="rId3" cstate="print"/>
            <a:stretch>
              <a:fillRect/>
            </a:stretch>
          </a:blipFill>
        </p:spPr>
        <p:txBody>
          <a:bodyPr wrap="square" lIns="0" tIns="0" rIns="0" bIns="0" rtlCol="0"/>
          <a:lstStyle/>
          <a:p>
            <a:endParaRPr>
              <a:solidFill>
                <a:prstClr val="black"/>
              </a:solidFill>
              <a:latin typeface="Aptos" panose="02110004020202020204"/>
            </a:endParaRPr>
          </a:p>
        </p:txBody>
      </p:sp>
      <p:pic>
        <p:nvPicPr>
          <p:cNvPr id="20" name="Picture 19" descr="A logo with a brain and text&#10;&#10;Description automatically generated">
            <a:extLst>
              <a:ext uri="{FF2B5EF4-FFF2-40B4-BE49-F238E27FC236}">
                <a16:creationId xmlns:a16="http://schemas.microsoft.com/office/drawing/2014/main" id="{F5A4A679-DDDB-520C-B9DC-58DDDBABA3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sp>
        <p:nvSpPr>
          <p:cNvPr id="21" name="object 21">
            <a:extLst>
              <a:ext uri="{FF2B5EF4-FFF2-40B4-BE49-F238E27FC236}">
                <a16:creationId xmlns:a16="http://schemas.microsoft.com/office/drawing/2014/main" id="{C357DBD2-FEA9-EA12-EA54-3DF16B404024}"/>
              </a:ext>
            </a:extLst>
          </p:cNvPr>
          <p:cNvSpPr/>
          <p:nvPr/>
        </p:nvSpPr>
        <p:spPr>
          <a:xfrm>
            <a:off x="833199" y="29986"/>
            <a:ext cx="2029524" cy="858129"/>
          </a:xfrm>
          <a:prstGeom prst="rect">
            <a:avLst/>
          </a:prstGeom>
          <a:blipFill>
            <a:blip r:embed="rId5"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22" name="Picture 21" descr="A yellow and orange circle with a red ribbon&#10;&#10;Description automatically generated">
            <a:extLst>
              <a:ext uri="{FF2B5EF4-FFF2-40B4-BE49-F238E27FC236}">
                <a16:creationId xmlns:a16="http://schemas.microsoft.com/office/drawing/2014/main" id="{62868A84-74E8-191F-9D7E-88BAA74BD3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23" name="Rectangle 22">
            <a:extLst>
              <a:ext uri="{FF2B5EF4-FFF2-40B4-BE49-F238E27FC236}">
                <a16:creationId xmlns:a16="http://schemas.microsoft.com/office/drawing/2014/main" id="{A8D0CF68-96F8-0FE5-5B08-021EA96B3C9C}"/>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24" name="Picture 23" descr="A close-up of a blue and gold logo&#10;&#10;Description automatically generated">
            <a:extLst>
              <a:ext uri="{FF2B5EF4-FFF2-40B4-BE49-F238E27FC236}">
                <a16:creationId xmlns:a16="http://schemas.microsoft.com/office/drawing/2014/main" id="{714A8117-68CD-FAD9-5ED8-6E364B6CA4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25" name="Picture 24">
            <a:extLst>
              <a:ext uri="{FF2B5EF4-FFF2-40B4-BE49-F238E27FC236}">
                <a16:creationId xmlns:a16="http://schemas.microsoft.com/office/drawing/2014/main" id="{31DB5D4E-633F-CA7A-517E-A8E21E580494}"/>
              </a:ext>
            </a:extLst>
          </p:cNvPr>
          <p:cNvPicPr>
            <a:picLocks noChangeAspect="1"/>
          </p:cNvPicPr>
          <p:nvPr/>
        </p:nvPicPr>
        <p:blipFill>
          <a:blip r:embed="rId8"/>
          <a:stretch>
            <a:fillRect/>
          </a:stretch>
        </p:blipFill>
        <p:spPr>
          <a:xfrm>
            <a:off x="-19559" y="7851615"/>
            <a:ext cx="14649958" cy="377985"/>
          </a:xfrm>
          <a:prstGeom prst="rect">
            <a:avLst/>
          </a:prstGeom>
        </p:spPr>
      </p:pic>
      <p:sp>
        <p:nvSpPr>
          <p:cNvPr id="26" name="TextBox 25">
            <a:extLst>
              <a:ext uri="{FF2B5EF4-FFF2-40B4-BE49-F238E27FC236}">
                <a16:creationId xmlns:a16="http://schemas.microsoft.com/office/drawing/2014/main" id="{980BCF4A-A762-AB10-6812-2CC85C4CE223}"/>
              </a:ext>
            </a:extLst>
          </p:cNvPr>
          <p:cNvSpPr txBox="1"/>
          <p:nvPr/>
        </p:nvSpPr>
        <p:spPr>
          <a:xfrm>
            <a:off x="4291663" y="7819905"/>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spTree>
    <p:extLst>
      <p:ext uri="{BB962C8B-B14F-4D97-AF65-F5344CB8AC3E}">
        <p14:creationId xmlns:p14="http://schemas.microsoft.com/office/powerpoint/2010/main" val="2625528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2978348" y="2134553"/>
            <a:ext cx="2152055" cy="1669852"/>
          </a:xfrm>
          <a:prstGeom prst="rect">
            <a:avLst/>
          </a:prstGeom>
        </p:spPr>
      </p:pic>
      <p:sp>
        <p:nvSpPr>
          <p:cNvPr id="3" name="Text 1"/>
          <p:cNvSpPr/>
          <p:nvPr/>
        </p:nvSpPr>
        <p:spPr>
          <a:xfrm>
            <a:off x="4003715" y="2959179"/>
            <a:ext cx="101322" cy="453509"/>
          </a:xfrm>
          <a:prstGeom prst="rect">
            <a:avLst/>
          </a:prstGeom>
          <a:noFill/>
          <a:ln/>
        </p:spPr>
        <p:txBody>
          <a:bodyPr wrap="none" lIns="0" tIns="0" rIns="0" bIns="0" rtlCol="0" anchor="t"/>
          <a:lstStyle/>
          <a:p>
            <a:pPr marL="0" indent="0" algn="ctr">
              <a:lnSpc>
                <a:spcPts val="35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1</a:t>
            </a:r>
            <a:endParaRPr lang="en-US" sz="2200" dirty="0"/>
          </a:p>
        </p:txBody>
      </p:sp>
      <p:sp>
        <p:nvSpPr>
          <p:cNvPr id="4" name="Text 2"/>
          <p:cNvSpPr/>
          <p:nvPr/>
        </p:nvSpPr>
        <p:spPr>
          <a:xfrm>
            <a:off x="5357217" y="2524898"/>
            <a:ext cx="4637484" cy="354330"/>
          </a:xfrm>
          <a:prstGeom prst="rect">
            <a:avLst/>
          </a:prstGeom>
          <a:noFill/>
          <a:ln/>
        </p:spPr>
        <p:txBody>
          <a:bodyPr wrap="none" lIns="0" tIns="0" rIns="0" bIns="0" rtlCol="0" anchor="t"/>
          <a:lstStyle/>
          <a:p>
            <a:pPr>
              <a:lnSpc>
                <a:spcPts val="2750"/>
              </a:lnSpc>
            </a:pPr>
            <a:r>
              <a:rPr lang="en-US" sz="2200" dirty="0">
                <a:solidFill>
                  <a:srgbClr val="4C4C4D"/>
                </a:solidFill>
                <a:latin typeface="Crimson Pro Semi Bold" pitchFamily="34" charset="0"/>
                <a:ea typeface="Crimson Pro Semi Bold" pitchFamily="34" charset="-122"/>
                <a:cs typeface="Crimson Pro Semi Bold" pitchFamily="34" charset="-120"/>
              </a:rPr>
              <a:t>Model Development</a:t>
            </a:r>
            <a:endParaRPr lang="en-US" sz="2200" dirty="0"/>
          </a:p>
        </p:txBody>
      </p:sp>
      <p:sp>
        <p:nvSpPr>
          <p:cNvPr id="5" name="Shape 3"/>
          <p:cNvSpPr/>
          <p:nvPr/>
        </p:nvSpPr>
        <p:spPr>
          <a:xfrm>
            <a:off x="5187077" y="3817501"/>
            <a:ext cx="8592860" cy="15240"/>
          </a:xfrm>
          <a:prstGeom prst="roundRect">
            <a:avLst>
              <a:gd name="adj" fmla="val 223256"/>
            </a:avLst>
          </a:prstGeom>
          <a:solidFill>
            <a:srgbClr val="D8D4D4"/>
          </a:solidFill>
          <a:ln/>
        </p:spPr>
      </p:sp>
      <p:pic>
        <p:nvPicPr>
          <p:cNvPr id="6" name="Image 1" descr="preencoded.png"/>
          <p:cNvPicPr>
            <a:picLocks noChangeAspect="1"/>
          </p:cNvPicPr>
          <p:nvPr/>
        </p:nvPicPr>
        <p:blipFill>
          <a:blip r:embed="rId3"/>
          <a:stretch>
            <a:fillRect/>
          </a:stretch>
        </p:blipFill>
        <p:spPr>
          <a:xfrm>
            <a:off x="1902381" y="3861078"/>
            <a:ext cx="4304109" cy="1669852"/>
          </a:xfrm>
          <a:prstGeom prst="rect">
            <a:avLst/>
          </a:prstGeom>
        </p:spPr>
      </p:pic>
      <p:sp>
        <p:nvSpPr>
          <p:cNvPr id="7" name="Text 4"/>
          <p:cNvSpPr/>
          <p:nvPr/>
        </p:nvSpPr>
        <p:spPr>
          <a:xfrm>
            <a:off x="3984069" y="4469249"/>
            <a:ext cx="140613" cy="453509"/>
          </a:xfrm>
          <a:prstGeom prst="rect">
            <a:avLst/>
          </a:prstGeom>
          <a:noFill/>
          <a:ln/>
        </p:spPr>
        <p:txBody>
          <a:bodyPr wrap="none" lIns="0" tIns="0" rIns="0" bIns="0" rtlCol="0" anchor="t"/>
          <a:lstStyle/>
          <a:p>
            <a:pPr marL="0" indent="0" algn="ctr">
              <a:lnSpc>
                <a:spcPts val="35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2</a:t>
            </a:r>
            <a:endParaRPr lang="en-US" sz="2200" dirty="0"/>
          </a:p>
        </p:txBody>
      </p:sp>
      <p:sp>
        <p:nvSpPr>
          <p:cNvPr id="8" name="Text 5"/>
          <p:cNvSpPr/>
          <p:nvPr/>
        </p:nvSpPr>
        <p:spPr>
          <a:xfrm>
            <a:off x="6433304" y="4087892"/>
            <a:ext cx="2835235" cy="354330"/>
          </a:xfrm>
          <a:prstGeom prst="rect">
            <a:avLst/>
          </a:prstGeom>
          <a:noFill/>
          <a:ln/>
        </p:spPr>
        <p:txBody>
          <a:bodyPr wrap="none" lIns="0" tIns="0" rIns="0" bIns="0" rtlCol="0" anchor="t"/>
          <a:lstStyle/>
          <a:p>
            <a:pPr>
              <a:lnSpc>
                <a:spcPts val="2750"/>
              </a:lnSpc>
            </a:pPr>
            <a:r>
              <a:rPr lang="en-US" sz="2200" dirty="0">
                <a:solidFill>
                  <a:srgbClr val="4C4C4D"/>
                </a:solidFill>
                <a:latin typeface="Crimson Pro Semi Bold" pitchFamily="34" charset="0"/>
                <a:ea typeface="Crimson Pro Semi Bold" pitchFamily="34" charset="-122"/>
                <a:cs typeface="Crimson Pro Semi Bold" pitchFamily="34" charset="-120"/>
              </a:rPr>
              <a:t>Improve Accuracy</a:t>
            </a:r>
            <a:endParaRPr lang="en-US" sz="2200" dirty="0"/>
          </a:p>
        </p:txBody>
      </p:sp>
      <p:sp>
        <p:nvSpPr>
          <p:cNvPr id="9" name="Text 6"/>
          <p:cNvSpPr/>
          <p:nvPr/>
        </p:nvSpPr>
        <p:spPr>
          <a:xfrm>
            <a:off x="6433304" y="4578310"/>
            <a:ext cx="7176492" cy="725805"/>
          </a:xfrm>
          <a:prstGeom prst="rect">
            <a:avLst/>
          </a:prstGeom>
          <a:noFill/>
          <a:ln/>
        </p:spPr>
        <p:txBody>
          <a:bodyPr wrap="square" lIns="0" tIns="0" rIns="0" bIns="0" rtlCol="0" anchor="t"/>
          <a:lstStyle/>
          <a:p>
            <a:pPr>
              <a:lnSpc>
                <a:spcPts val="2850"/>
              </a:lnSpc>
            </a:pPr>
            <a:r>
              <a:rPr lang="en-US" sz="1750" dirty="0">
                <a:solidFill>
                  <a:srgbClr val="4C4C4D"/>
                </a:solidFill>
                <a:latin typeface="Heebo" pitchFamily="34" charset="0"/>
                <a:ea typeface="Heebo" pitchFamily="34" charset="-122"/>
                <a:cs typeface="Heebo" pitchFamily="34" charset="-120"/>
              </a:rPr>
              <a:t>To enhance diagnostic accuracy by incorporating attention mechanisms that focus on relevant image features.</a:t>
            </a:r>
          </a:p>
        </p:txBody>
      </p:sp>
      <p:sp>
        <p:nvSpPr>
          <p:cNvPr id="10" name="Shape 7"/>
          <p:cNvSpPr/>
          <p:nvPr/>
        </p:nvSpPr>
        <p:spPr>
          <a:xfrm>
            <a:off x="6263164" y="5544026"/>
            <a:ext cx="7516773" cy="15240"/>
          </a:xfrm>
          <a:prstGeom prst="roundRect">
            <a:avLst>
              <a:gd name="adj" fmla="val 223256"/>
            </a:avLst>
          </a:prstGeom>
          <a:solidFill>
            <a:srgbClr val="D8D4D4"/>
          </a:solidFill>
          <a:ln/>
        </p:spPr>
      </p:sp>
      <p:pic>
        <p:nvPicPr>
          <p:cNvPr id="11" name="Image 2" descr="preencoded.png"/>
          <p:cNvPicPr>
            <a:picLocks noChangeAspect="1"/>
          </p:cNvPicPr>
          <p:nvPr/>
        </p:nvPicPr>
        <p:blipFill>
          <a:blip r:embed="rId4"/>
          <a:stretch>
            <a:fillRect/>
          </a:stretch>
        </p:blipFill>
        <p:spPr>
          <a:xfrm>
            <a:off x="826294" y="5587603"/>
            <a:ext cx="6456164" cy="1669852"/>
          </a:xfrm>
          <a:prstGeom prst="rect">
            <a:avLst/>
          </a:prstGeom>
        </p:spPr>
      </p:pic>
      <p:sp>
        <p:nvSpPr>
          <p:cNvPr id="12" name="Text 8"/>
          <p:cNvSpPr/>
          <p:nvPr/>
        </p:nvSpPr>
        <p:spPr>
          <a:xfrm>
            <a:off x="3986093" y="6195774"/>
            <a:ext cx="136446" cy="453509"/>
          </a:xfrm>
          <a:prstGeom prst="rect">
            <a:avLst/>
          </a:prstGeom>
          <a:noFill/>
          <a:ln/>
        </p:spPr>
        <p:txBody>
          <a:bodyPr wrap="none" lIns="0" tIns="0" rIns="0" bIns="0" rtlCol="0" anchor="t"/>
          <a:lstStyle/>
          <a:p>
            <a:pPr marL="0" indent="0" algn="ctr">
              <a:lnSpc>
                <a:spcPts val="35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3</a:t>
            </a:r>
            <a:endParaRPr lang="en-US" sz="2200" dirty="0"/>
          </a:p>
        </p:txBody>
      </p:sp>
      <p:sp>
        <p:nvSpPr>
          <p:cNvPr id="13" name="Text 9"/>
          <p:cNvSpPr/>
          <p:nvPr/>
        </p:nvSpPr>
        <p:spPr>
          <a:xfrm>
            <a:off x="7435781" y="5814417"/>
            <a:ext cx="3049458" cy="354330"/>
          </a:xfrm>
          <a:prstGeom prst="rect">
            <a:avLst/>
          </a:prstGeom>
          <a:noFill/>
          <a:ln/>
        </p:spPr>
        <p:txBody>
          <a:bodyPr wrap="none" lIns="0" tIns="0" rIns="0" bIns="0" rtlCol="0" anchor="t"/>
          <a:lstStyle/>
          <a:p>
            <a:pPr>
              <a:lnSpc>
                <a:spcPts val="2750"/>
              </a:lnSpc>
            </a:pPr>
            <a:r>
              <a:rPr lang="en-US" sz="2200" dirty="0">
                <a:solidFill>
                  <a:srgbClr val="4C4C4D"/>
                </a:solidFill>
                <a:latin typeface="Crimson Pro Semi Bold" pitchFamily="34" charset="0"/>
                <a:ea typeface="Crimson Pro Semi Bold" pitchFamily="34" charset="-122"/>
                <a:cs typeface="Crimson Pro Semi Bold" pitchFamily="34" charset="-120"/>
              </a:rPr>
              <a:t> Error Analysis</a:t>
            </a:r>
            <a:endParaRPr lang="en-US" sz="2200" dirty="0"/>
          </a:p>
        </p:txBody>
      </p:sp>
      <p:sp>
        <p:nvSpPr>
          <p:cNvPr id="14" name="Text 10"/>
          <p:cNvSpPr/>
          <p:nvPr/>
        </p:nvSpPr>
        <p:spPr>
          <a:xfrm>
            <a:off x="7435780" y="6304836"/>
            <a:ext cx="6174016" cy="725805"/>
          </a:xfrm>
          <a:prstGeom prst="rect">
            <a:avLst/>
          </a:prstGeom>
          <a:noFill/>
          <a:ln/>
        </p:spPr>
        <p:txBody>
          <a:bodyPr wrap="square" lIns="0" tIns="0" rIns="0" bIns="0" rtlCol="0" anchor="t"/>
          <a:lstStyle/>
          <a:p>
            <a:pPr>
              <a:lnSpc>
                <a:spcPts val="2850"/>
              </a:lnSpc>
            </a:pPr>
            <a:r>
              <a:rPr lang="en-US" sz="1750" dirty="0">
                <a:solidFill>
                  <a:srgbClr val="4C4C4D"/>
                </a:solidFill>
                <a:latin typeface="Heebo" pitchFamily="34" charset="0"/>
                <a:ea typeface="Heebo" pitchFamily="34" charset="-122"/>
                <a:cs typeface="Heebo" pitchFamily="34" charset="-120"/>
              </a:rPr>
              <a:t>Identify where the model performs well and where it struggles.</a:t>
            </a:r>
            <a:endParaRPr lang="en-US" sz="1750" dirty="0"/>
          </a:p>
        </p:txBody>
      </p:sp>
      <p:sp>
        <p:nvSpPr>
          <p:cNvPr id="15" name="Text 0"/>
          <p:cNvSpPr/>
          <p:nvPr/>
        </p:nvSpPr>
        <p:spPr>
          <a:xfrm>
            <a:off x="826294" y="1048167"/>
            <a:ext cx="3564731" cy="708779"/>
          </a:xfrm>
          <a:prstGeom prst="rect">
            <a:avLst/>
          </a:prstGeom>
          <a:noFill/>
          <a:ln/>
        </p:spPr>
        <p:txBody>
          <a:bodyPr wrap="none" lIns="0" tIns="0" rIns="0" bIns="0" rtlCol="0" anchor="t"/>
          <a:lstStyle/>
          <a:p>
            <a:pPr>
              <a:lnSpc>
                <a:spcPts val="5550"/>
              </a:lnSpc>
            </a:pPr>
            <a:r>
              <a:rPr lang="en-US" sz="5400" b="1" dirty="0">
                <a:latin typeface="Times New Roman" panose="02020603050405020304" pitchFamily="18" charset="0"/>
                <a:ea typeface="Crimson Pro Semi Bold" pitchFamily="34" charset="-122"/>
                <a:cs typeface="Times New Roman" panose="02020603050405020304" pitchFamily="18" charset="0"/>
              </a:rPr>
              <a:t>Objectives</a:t>
            </a:r>
            <a:r>
              <a:rPr lang="en-US" sz="4450" dirty="0">
                <a:latin typeface="Crimson Pro Semi Bold" pitchFamily="34" charset="0"/>
                <a:ea typeface="Crimson Pro Semi Bold" pitchFamily="34" charset="-122"/>
                <a:cs typeface="Crimson Pro Semi Bold" pitchFamily="34" charset="-120"/>
              </a:rPr>
              <a:t>:</a:t>
            </a:r>
            <a:endParaRPr lang="en-US" sz="4450" dirty="0"/>
          </a:p>
        </p:txBody>
      </p:sp>
      <p:sp>
        <p:nvSpPr>
          <p:cNvPr id="17" name="Text 6"/>
          <p:cNvSpPr/>
          <p:nvPr/>
        </p:nvSpPr>
        <p:spPr>
          <a:xfrm>
            <a:off x="5409009" y="2947274"/>
            <a:ext cx="7176492" cy="725805"/>
          </a:xfrm>
          <a:prstGeom prst="rect">
            <a:avLst/>
          </a:prstGeom>
          <a:noFill/>
          <a:ln/>
        </p:spPr>
        <p:txBody>
          <a:bodyPr wrap="square" lIns="0" tIns="0" rIns="0" bIns="0" rtlCol="0" anchor="t"/>
          <a:lstStyle/>
          <a:p>
            <a:pPr>
              <a:lnSpc>
                <a:spcPts val="2850"/>
              </a:lnSpc>
            </a:pPr>
            <a:r>
              <a:rPr lang="en-US" sz="1750" dirty="0">
                <a:solidFill>
                  <a:srgbClr val="4C4C4D"/>
                </a:solidFill>
                <a:latin typeface="Heebo" pitchFamily="34" charset="0"/>
                <a:ea typeface="Heebo" pitchFamily="34" charset="-122"/>
                <a:cs typeface="Heebo" pitchFamily="34" charset="-120"/>
              </a:rPr>
              <a:t>To design a precise attention-based convolutional neural network (CNN) for brain tumor classification from MRI scans. </a:t>
            </a:r>
          </a:p>
        </p:txBody>
      </p:sp>
      <p:pic>
        <p:nvPicPr>
          <p:cNvPr id="18" name="Picture 17">
            <a:extLst>
              <a:ext uri="{FF2B5EF4-FFF2-40B4-BE49-F238E27FC236}">
                <a16:creationId xmlns:a16="http://schemas.microsoft.com/office/drawing/2014/main" id="{39A932E9-499E-8C64-3080-863B66328A1D}"/>
              </a:ext>
            </a:extLst>
          </p:cNvPr>
          <p:cNvPicPr>
            <a:picLocks noChangeAspect="1"/>
          </p:cNvPicPr>
          <p:nvPr/>
        </p:nvPicPr>
        <p:blipFill>
          <a:blip r:embed="rId5"/>
          <a:stretch>
            <a:fillRect/>
          </a:stretch>
        </p:blipFill>
        <p:spPr>
          <a:xfrm>
            <a:off x="3643" y="241002"/>
            <a:ext cx="681842" cy="390178"/>
          </a:xfrm>
          <a:prstGeom prst="rect">
            <a:avLst/>
          </a:prstGeom>
        </p:spPr>
      </p:pic>
      <p:sp>
        <p:nvSpPr>
          <p:cNvPr id="19" name="object 23">
            <a:extLst>
              <a:ext uri="{FF2B5EF4-FFF2-40B4-BE49-F238E27FC236}">
                <a16:creationId xmlns:a16="http://schemas.microsoft.com/office/drawing/2014/main" id="{7045852A-A2F3-70D1-D6DE-CF910530D045}"/>
              </a:ext>
            </a:extLst>
          </p:cNvPr>
          <p:cNvSpPr/>
          <p:nvPr/>
        </p:nvSpPr>
        <p:spPr>
          <a:xfrm>
            <a:off x="12183611" y="107719"/>
            <a:ext cx="1209819" cy="704826"/>
          </a:xfrm>
          <a:prstGeom prst="rect">
            <a:avLst/>
          </a:prstGeom>
          <a:blipFill>
            <a:blip r:embed="rId6" cstate="print"/>
            <a:stretch>
              <a:fillRect/>
            </a:stretch>
          </a:blipFill>
        </p:spPr>
        <p:txBody>
          <a:bodyPr wrap="square" lIns="0" tIns="0" rIns="0" bIns="0" rtlCol="0"/>
          <a:lstStyle/>
          <a:p>
            <a:endParaRPr>
              <a:solidFill>
                <a:prstClr val="black"/>
              </a:solidFill>
              <a:latin typeface="Aptos" panose="02110004020202020204"/>
            </a:endParaRPr>
          </a:p>
        </p:txBody>
      </p:sp>
      <p:pic>
        <p:nvPicPr>
          <p:cNvPr id="20" name="Picture 19" descr="A logo with a brain and text&#10;&#10;Description automatically generated">
            <a:extLst>
              <a:ext uri="{FF2B5EF4-FFF2-40B4-BE49-F238E27FC236}">
                <a16:creationId xmlns:a16="http://schemas.microsoft.com/office/drawing/2014/main" id="{F5A4A679-DDDB-520C-B9DC-58DDDBABA39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sp>
        <p:nvSpPr>
          <p:cNvPr id="21" name="object 21">
            <a:extLst>
              <a:ext uri="{FF2B5EF4-FFF2-40B4-BE49-F238E27FC236}">
                <a16:creationId xmlns:a16="http://schemas.microsoft.com/office/drawing/2014/main" id="{C357DBD2-FEA9-EA12-EA54-3DF16B404024}"/>
              </a:ext>
            </a:extLst>
          </p:cNvPr>
          <p:cNvSpPr/>
          <p:nvPr/>
        </p:nvSpPr>
        <p:spPr>
          <a:xfrm>
            <a:off x="833199" y="29986"/>
            <a:ext cx="2029524" cy="858129"/>
          </a:xfrm>
          <a:prstGeom prst="rect">
            <a:avLst/>
          </a:prstGeom>
          <a:blipFill>
            <a:blip r:embed="rId8"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22" name="Picture 21" descr="A yellow and orange circle with a red ribbon&#10;&#10;Description automatically generated">
            <a:extLst>
              <a:ext uri="{FF2B5EF4-FFF2-40B4-BE49-F238E27FC236}">
                <a16:creationId xmlns:a16="http://schemas.microsoft.com/office/drawing/2014/main" id="{62868A84-74E8-191F-9D7E-88BAA74BD33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23" name="Rectangle 22">
            <a:extLst>
              <a:ext uri="{FF2B5EF4-FFF2-40B4-BE49-F238E27FC236}">
                <a16:creationId xmlns:a16="http://schemas.microsoft.com/office/drawing/2014/main" id="{A8D0CF68-96F8-0FE5-5B08-021EA96B3C9C}"/>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24" name="Picture 23" descr="A close-up of a blue and gold logo&#10;&#10;Description automatically generated">
            <a:extLst>
              <a:ext uri="{FF2B5EF4-FFF2-40B4-BE49-F238E27FC236}">
                <a16:creationId xmlns:a16="http://schemas.microsoft.com/office/drawing/2014/main" id="{714A8117-68CD-FAD9-5ED8-6E364B6CA43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25" name="Picture 24">
            <a:extLst>
              <a:ext uri="{FF2B5EF4-FFF2-40B4-BE49-F238E27FC236}">
                <a16:creationId xmlns:a16="http://schemas.microsoft.com/office/drawing/2014/main" id="{31DB5D4E-633F-CA7A-517E-A8E21E580494}"/>
              </a:ext>
            </a:extLst>
          </p:cNvPr>
          <p:cNvPicPr>
            <a:picLocks noChangeAspect="1"/>
          </p:cNvPicPr>
          <p:nvPr/>
        </p:nvPicPr>
        <p:blipFill>
          <a:blip r:embed="rId11"/>
          <a:stretch>
            <a:fillRect/>
          </a:stretch>
        </p:blipFill>
        <p:spPr>
          <a:xfrm>
            <a:off x="-19559" y="7851615"/>
            <a:ext cx="14649958" cy="377985"/>
          </a:xfrm>
          <a:prstGeom prst="rect">
            <a:avLst/>
          </a:prstGeom>
        </p:spPr>
      </p:pic>
      <p:sp>
        <p:nvSpPr>
          <p:cNvPr id="26" name="TextBox 25">
            <a:extLst>
              <a:ext uri="{FF2B5EF4-FFF2-40B4-BE49-F238E27FC236}">
                <a16:creationId xmlns:a16="http://schemas.microsoft.com/office/drawing/2014/main" id="{980BCF4A-A762-AB10-6812-2CC85C4CE223}"/>
              </a:ext>
            </a:extLst>
          </p:cNvPr>
          <p:cNvSpPr txBox="1"/>
          <p:nvPr/>
        </p:nvSpPr>
        <p:spPr>
          <a:xfrm>
            <a:off x="4291663" y="7819905"/>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spTree>
    <p:extLst>
      <p:ext uri="{BB962C8B-B14F-4D97-AF65-F5344CB8AC3E}">
        <p14:creationId xmlns:p14="http://schemas.microsoft.com/office/powerpoint/2010/main" val="3476501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800463" y="921605"/>
            <a:ext cx="9747766" cy="591979"/>
          </a:xfrm>
          <a:prstGeom prst="rect">
            <a:avLst/>
          </a:prstGeom>
          <a:noFill/>
          <a:ln/>
        </p:spPr>
        <p:txBody>
          <a:bodyPr wrap="none" lIns="0" tIns="0" rIns="0" bIns="0" rtlCol="0" anchor="t"/>
          <a:lstStyle/>
          <a:p>
            <a:pPr marL="0" indent="0">
              <a:lnSpc>
                <a:spcPts val="4650"/>
              </a:lnSpc>
              <a:buNone/>
            </a:pPr>
            <a:r>
              <a:rPr lang="en-US" sz="3700" b="1" dirty="0">
                <a:latin typeface="Times New Roman" panose="02020603050405020304" pitchFamily="18" charset="0"/>
                <a:ea typeface="Crimson Pro Semi Bold" pitchFamily="34" charset="-122"/>
                <a:cs typeface="Times New Roman" panose="02020603050405020304" pitchFamily="18" charset="0"/>
              </a:rPr>
              <a:t>System Methodology:</a:t>
            </a:r>
            <a:endParaRPr lang="en-US" sz="3700" b="1" dirty="0">
              <a:latin typeface="Times New Roman" panose="02020603050405020304" pitchFamily="18" charset="0"/>
              <a:cs typeface="Times New Roman" panose="02020603050405020304" pitchFamily="18" charset="0"/>
            </a:endParaRPr>
          </a:p>
        </p:txBody>
      </p:sp>
      <p:sp>
        <p:nvSpPr>
          <p:cNvPr id="3" name="Shape 1"/>
          <p:cNvSpPr/>
          <p:nvPr/>
        </p:nvSpPr>
        <p:spPr>
          <a:xfrm>
            <a:off x="935712" y="1540325"/>
            <a:ext cx="22860" cy="6214943"/>
          </a:xfrm>
          <a:prstGeom prst="roundRect">
            <a:avLst>
              <a:gd name="adj" fmla="val 124319"/>
            </a:avLst>
          </a:prstGeom>
          <a:solidFill>
            <a:srgbClr val="D8D4D4"/>
          </a:solidFill>
          <a:ln/>
        </p:spPr>
      </p:sp>
      <p:sp>
        <p:nvSpPr>
          <p:cNvPr id="4" name="Shape 2"/>
          <p:cNvSpPr/>
          <p:nvPr/>
        </p:nvSpPr>
        <p:spPr>
          <a:xfrm>
            <a:off x="1137404" y="1955138"/>
            <a:ext cx="663059" cy="22860"/>
          </a:xfrm>
          <a:prstGeom prst="roundRect">
            <a:avLst>
              <a:gd name="adj" fmla="val 124319"/>
            </a:avLst>
          </a:prstGeom>
          <a:solidFill>
            <a:srgbClr val="D8D4D4"/>
          </a:solidFill>
          <a:ln/>
        </p:spPr>
      </p:sp>
      <p:sp>
        <p:nvSpPr>
          <p:cNvPr id="5" name="Shape 3"/>
          <p:cNvSpPr/>
          <p:nvPr/>
        </p:nvSpPr>
        <p:spPr>
          <a:xfrm>
            <a:off x="734020" y="1753446"/>
            <a:ext cx="426244" cy="426244"/>
          </a:xfrm>
          <a:prstGeom prst="roundRect">
            <a:avLst>
              <a:gd name="adj" fmla="val 6667"/>
            </a:avLst>
          </a:prstGeom>
          <a:solidFill>
            <a:srgbClr val="F2EEEE"/>
          </a:solidFill>
          <a:ln/>
        </p:spPr>
      </p:sp>
      <p:sp>
        <p:nvSpPr>
          <p:cNvPr id="6" name="Text 4"/>
          <p:cNvSpPr/>
          <p:nvPr/>
        </p:nvSpPr>
        <p:spPr>
          <a:xfrm>
            <a:off x="896302" y="1824408"/>
            <a:ext cx="101560" cy="284202"/>
          </a:xfrm>
          <a:prstGeom prst="rect">
            <a:avLst/>
          </a:prstGeom>
          <a:noFill/>
          <a:ln/>
        </p:spPr>
        <p:txBody>
          <a:bodyPr wrap="none" lIns="0" tIns="0" rIns="0" bIns="0" rtlCol="0" anchor="t"/>
          <a:lstStyle/>
          <a:p>
            <a:pPr marL="0" indent="0" algn="ctr">
              <a:lnSpc>
                <a:spcPts val="2200"/>
              </a:lnSpc>
              <a:buNone/>
            </a:pPr>
            <a:r>
              <a:rPr lang="en-US" sz="2200" dirty="0">
                <a:solidFill>
                  <a:srgbClr val="4C4C4D"/>
                </a:solidFill>
                <a:latin typeface="Crimson Pro Semi Bold" pitchFamily="34" charset="0"/>
                <a:ea typeface="Crimson Pro Semi Bold" pitchFamily="34" charset="-122"/>
                <a:cs typeface="Crimson Pro Semi Bold" pitchFamily="34" charset="-120"/>
              </a:rPr>
              <a:t>1</a:t>
            </a:r>
            <a:endParaRPr lang="en-US" sz="2200" dirty="0"/>
          </a:p>
        </p:txBody>
      </p:sp>
      <p:sp>
        <p:nvSpPr>
          <p:cNvPr id="7" name="Text 5"/>
          <p:cNvSpPr/>
          <p:nvPr/>
        </p:nvSpPr>
        <p:spPr>
          <a:xfrm>
            <a:off x="1989177" y="1729753"/>
            <a:ext cx="2368272" cy="295989"/>
          </a:xfrm>
          <a:prstGeom prst="rect">
            <a:avLst/>
          </a:prstGeom>
          <a:noFill/>
          <a:ln/>
        </p:spPr>
        <p:txBody>
          <a:bodyPr wrap="none" lIns="0" tIns="0" rIns="0" bIns="0" rtlCol="0" anchor="t"/>
          <a:lstStyle/>
          <a:p>
            <a:pPr marL="0" indent="0" algn="l">
              <a:lnSpc>
                <a:spcPts val="2300"/>
              </a:lnSpc>
              <a:buNone/>
            </a:pPr>
            <a:r>
              <a:rPr lang="en-US" sz="1850" dirty="0">
                <a:solidFill>
                  <a:srgbClr val="4C4C4D"/>
                </a:solidFill>
                <a:latin typeface="Crimson Pro Semi Bold" pitchFamily="34" charset="0"/>
                <a:ea typeface="Crimson Pro Semi Bold" pitchFamily="34" charset="-122"/>
                <a:cs typeface="Crimson Pro Semi Bold" pitchFamily="34" charset="-120"/>
              </a:rPr>
              <a:t>Data Collection</a:t>
            </a:r>
            <a:endParaRPr lang="en-US" sz="1850" dirty="0"/>
          </a:p>
        </p:txBody>
      </p:sp>
      <p:sp>
        <p:nvSpPr>
          <p:cNvPr id="8" name="Text 6"/>
          <p:cNvSpPr/>
          <p:nvPr/>
        </p:nvSpPr>
        <p:spPr>
          <a:xfrm>
            <a:off x="1989177" y="2139328"/>
            <a:ext cx="11978164" cy="303014"/>
          </a:xfrm>
          <a:prstGeom prst="rect">
            <a:avLst/>
          </a:prstGeom>
          <a:noFill/>
          <a:ln/>
        </p:spPr>
        <p:txBody>
          <a:bodyPr wrap="none" lIns="0" tIns="0" rIns="0" bIns="0" rtlCol="0" anchor="t"/>
          <a:lstStyle/>
          <a:p>
            <a:pPr marL="0" indent="0" algn="l">
              <a:lnSpc>
                <a:spcPts val="2350"/>
              </a:lnSpc>
              <a:buNone/>
            </a:pPr>
            <a:r>
              <a:rPr lang="en-US" sz="1450" dirty="0">
                <a:solidFill>
                  <a:srgbClr val="4C4C4D"/>
                </a:solidFill>
                <a:latin typeface="Heebo" pitchFamily="34" charset="0"/>
                <a:ea typeface="Heebo" pitchFamily="34" charset="-122"/>
                <a:cs typeface="Heebo" pitchFamily="34" charset="-120"/>
              </a:rPr>
              <a:t>Gathering labeled MRI datasets with diverse brain tumor types, including pituitary, meningioma, and glioma.</a:t>
            </a:r>
            <a:endParaRPr lang="en-US" sz="1450" dirty="0"/>
          </a:p>
        </p:txBody>
      </p:sp>
      <p:sp>
        <p:nvSpPr>
          <p:cNvPr id="9" name="Shape 7"/>
          <p:cNvSpPr/>
          <p:nvPr/>
        </p:nvSpPr>
        <p:spPr>
          <a:xfrm>
            <a:off x="1137404" y="3236013"/>
            <a:ext cx="663059" cy="22860"/>
          </a:xfrm>
          <a:prstGeom prst="roundRect">
            <a:avLst>
              <a:gd name="adj" fmla="val 124319"/>
            </a:avLst>
          </a:prstGeom>
          <a:solidFill>
            <a:srgbClr val="D8D4D4"/>
          </a:solidFill>
          <a:ln/>
        </p:spPr>
      </p:sp>
      <p:sp>
        <p:nvSpPr>
          <p:cNvPr id="10" name="Shape 8"/>
          <p:cNvSpPr/>
          <p:nvPr/>
        </p:nvSpPr>
        <p:spPr>
          <a:xfrm>
            <a:off x="734020" y="3034321"/>
            <a:ext cx="426244" cy="426244"/>
          </a:xfrm>
          <a:prstGeom prst="roundRect">
            <a:avLst>
              <a:gd name="adj" fmla="val 6667"/>
            </a:avLst>
          </a:prstGeom>
          <a:solidFill>
            <a:srgbClr val="F2EEEE"/>
          </a:solidFill>
          <a:ln/>
        </p:spPr>
      </p:sp>
      <p:sp>
        <p:nvSpPr>
          <p:cNvPr id="11" name="Text 9"/>
          <p:cNvSpPr/>
          <p:nvPr/>
        </p:nvSpPr>
        <p:spPr>
          <a:xfrm>
            <a:off x="876657" y="3105282"/>
            <a:ext cx="140970" cy="284202"/>
          </a:xfrm>
          <a:prstGeom prst="rect">
            <a:avLst/>
          </a:prstGeom>
          <a:noFill/>
          <a:ln/>
        </p:spPr>
        <p:txBody>
          <a:bodyPr wrap="none" lIns="0" tIns="0" rIns="0" bIns="0" rtlCol="0" anchor="t"/>
          <a:lstStyle/>
          <a:p>
            <a:pPr marL="0" indent="0" algn="ctr">
              <a:lnSpc>
                <a:spcPts val="2200"/>
              </a:lnSpc>
              <a:buNone/>
            </a:pPr>
            <a:r>
              <a:rPr lang="en-US" sz="2200" dirty="0">
                <a:solidFill>
                  <a:srgbClr val="4C4C4D"/>
                </a:solidFill>
                <a:latin typeface="Crimson Pro Semi Bold" pitchFamily="34" charset="0"/>
                <a:ea typeface="Crimson Pro Semi Bold" pitchFamily="34" charset="-122"/>
                <a:cs typeface="Crimson Pro Semi Bold" pitchFamily="34" charset="-120"/>
              </a:rPr>
              <a:t>2</a:t>
            </a:r>
            <a:endParaRPr lang="en-US" sz="2200" dirty="0"/>
          </a:p>
        </p:txBody>
      </p:sp>
      <p:sp>
        <p:nvSpPr>
          <p:cNvPr id="12" name="Text 10"/>
          <p:cNvSpPr/>
          <p:nvPr/>
        </p:nvSpPr>
        <p:spPr>
          <a:xfrm>
            <a:off x="1989177" y="3010627"/>
            <a:ext cx="2368272" cy="295989"/>
          </a:xfrm>
          <a:prstGeom prst="rect">
            <a:avLst/>
          </a:prstGeom>
          <a:noFill/>
          <a:ln/>
        </p:spPr>
        <p:txBody>
          <a:bodyPr wrap="none" lIns="0" tIns="0" rIns="0" bIns="0" rtlCol="0" anchor="t"/>
          <a:lstStyle/>
          <a:p>
            <a:pPr marL="0" indent="0" algn="l">
              <a:lnSpc>
                <a:spcPts val="2300"/>
              </a:lnSpc>
              <a:buNone/>
            </a:pPr>
            <a:r>
              <a:rPr lang="en-US" sz="1850" dirty="0">
                <a:solidFill>
                  <a:srgbClr val="4C4C4D"/>
                </a:solidFill>
                <a:latin typeface="Crimson Pro Semi Bold" pitchFamily="34" charset="0"/>
                <a:ea typeface="Crimson Pro Semi Bold" pitchFamily="34" charset="-122"/>
                <a:cs typeface="Crimson Pro Semi Bold" pitchFamily="34" charset="-120"/>
              </a:rPr>
              <a:t>Data Preprocessing</a:t>
            </a:r>
            <a:endParaRPr lang="en-US" sz="1850" dirty="0"/>
          </a:p>
        </p:txBody>
      </p:sp>
      <p:sp>
        <p:nvSpPr>
          <p:cNvPr id="13" name="Text 11"/>
          <p:cNvSpPr/>
          <p:nvPr/>
        </p:nvSpPr>
        <p:spPr>
          <a:xfrm>
            <a:off x="1989177" y="3420202"/>
            <a:ext cx="11978164" cy="303014"/>
          </a:xfrm>
          <a:prstGeom prst="rect">
            <a:avLst/>
          </a:prstGeom>
          <a:noFill/>
          <a:ln/>
        </p:spPr>
        <p:txBody>
          <a:bodyPr wrap="none" lIns="0" tIns="0" rIns="0" bIns="0" rtlCol="0" anchor="t"/>
          <a:lstStyle/>
          <a:p>
            <a:pPr marL="0" indent="0" algn="l">
              <a:lnSpc>
                <a:spcPts val="2350"/>
              </a:lnSpc>
              <a:buNone/>
            </a:pPr>
            <a:r>
              <a:rPr lang="en-US" sz="1450" dirty="0">
                <a:solidFill>
                  <a:srgbClr val="4C4C4D"/>
                </a:solidFill>
                <a:latin typeface="Heebo" pitchFamily="34" charset="0"/>
                <a:ea typeface="Heebo" pitchFamily="34" charset="-122"/>
                <a:cs typeface="Heebo" pitchFamily="34" charset="-120"/>
              </a:rPr>
              <a:t>Resizing, normalizing, and augmenting images to enhance dataset size and diversity.</a:t>
            </a:r>
            <a:endParaRPr lang="en-US" sz="1450" dirty="0"/>
          </a:p>
        </p:txBody>
      </p:sp>
      <p:sp>
        <p:nvSpPr>
          <p:cNvPr id="14" name="Shape 12"/>
          <p:cNvSpPr/>
          <p:nvPr/>
        </p:nvSpPr>
        <p:spPr>
          <a:xfrm>
            <a:off x="1137404" y="4516887"/>
            <a:ext cx="663059" cy="22860"/>
          </a:xfrm>
          <a:prstGeom prst="roundRect">
            <a:avLst>
              <a:gd name="adj" fmla="val 124319"/>
            </a:avLst>
          </a:prstGeom>
          <a:solidFill>
            <a:srgbClr val="D8D4D4"/>
          </a:solidFill>
          <a:ln/>
        </p:spPr>
      </p:sp>
      <p:sp>
        <p:nvSpPr>
          <p:cNvPr id="15" name="Shape 13"/>
          <p:cNvSpPr/>
          <p:nvPr/>
        </p:nvSpPr>
        <p:spPr>
          <a:xfrm>
            <a:off x="734020" y="4315195"/>
            <a:ext cx="426244" cy="426244"/>
          </a:xfrm>
          <a:prstGeom prst="roundRect">
            <a:avLst>
              <a:gd name="adj" fmla="val 6667"/>
            </a:avLst>
          </a:prstGeom>
          <a:solidFill>
            <a:srgbClr val="F2EEEE"/>
          </a:solidFill>
          <a:ln/>
        </p:spPr>
      </p:sp>
      <p:sp>
        <p:nvSpPr>
          <p:cNvPr id="16" name="Text 14"/>
          <p:cNvSpPr/>
          <p:nvPr/>
        </p:nvSpPr>
        <p:spPr>
          <a:xfrm>
            <a:off x="878681" y="4386156"/>
            <a:ext cx="136803" cy="284202"/>
          </a:xfrm>
          <a:prstGeom prst="rect">
            <a:avLst/>
          </a:prstGeom>
          <a:noFill/>
          <a:ln/>
        </p:spPr>
        <p:txBody>
          <a:bodyPr wrap="none" lIns="0" tIns="0" rIns="0" bIns="0" rtlCol="0" anchor="t"/>
          <a:lstStyle/>
          <a:p>
            <a:pPr marL="0" indent="0" algn="ctr">
              <a:lnSpc>
                <a:spcPts val="2200"/>
              </a:lnSpc>
              <a:buNone/>
            </a:pPr>
            <a:r>
              <a:rPr lang="en-US" sz="2200" dirty="0">
                <a:solidFill>
                  <a:srgbClr val="4C4C4D"/>
                </a:solidFill>
                <a:latin typeface="Crimson Pro Semi Bold" pitchFamily="34" charset="0"/>
                <a:ea typeface="Crimson Pro Semi Bold" pitchFamily="34" charset="-122"/>
                <a:cs typeface="Crimson Pro Semi Bold" pitchFamily="34" charset="-120"/>
              </a:rPr>
              <a:t>3</a:t>
            </a:r>
            <a:endParaRPr lang="en-US" sz="2200" dirty="0"/>
          </a:p>
        </p:txBody>
      </p:sp>
      <p:sp>
        <p:nvSpPr>
          <p:cNvPr id="17" name="Text 15"/>
          <p:cNvSpPr/>
          <p:nvPr/>
        </p:nvSpPr>
        <p:spPr>
          <a:xfrm>
            <a:off x="1989177" y="4291502"/>
            <a:ext cx="2368272" cy="295989"/>
          </a:xfrm>
          <a:prstGeom prst="rect">
            <a:avLst/>
          </a:prstGeom>
          <a:noFill/>
          <a:ln/>
        </p:spPr>
        <p:txBody>
          <a:bodyPr wrap="none" lIns="0" tIns="0" rIns="0" bIns="0" rtlCol="0" anchor="t"/>
          <a:lstStyle/>
          <a:p>
            <a:pPr marL="0" indent="0" algn="l">
              <a:lnSpc>
                <a:spcPts val="2300"/>
              </a:lnSpc>
              <a:buNone/>
            </a:pPr>
            <a:r>
              <a:rPr lang="en-US" sz="1850" dirty="0">
                <a:solidFill>
                  <a:srgbClr val="4C4C4D"/>
                </a:solidFill>
                <a:latin typeface="Crimson Pro Semi Bold" pitchFamily="34" charset="0"/>
                <a:ea typeface="Crimson Pro Semi Bold" pitchFamily="34" charset="-122"/>
                <a:cs typeface="Crimson Pro Semi Bold" pitchFamily="34" charset="-120"/>
              </a:rPr>
              <a:t>Model Design</a:t>
            </a:r>
            <a:endParaRPr lang="en-US" sz="1850" dirty="0"/>
          </a:p>
        </p:txBody>
      </p:sp>
      <p:sp>
        <p:nvSpPr>
          <p:cNvPr id="18" name="Text 16"/>
          <p:cNvSpPr/>
          <p:nvPr/>
        </p:nvSpPr>
        <p:spPr>
          <a:xfrm>
            <a:off x="1989177" y="4701077"/>
            <a:ext cx="11978164" cy="303014"/>
          </a:xfrm>
          <a:prstGeom prst="rect">
            <a:avLst/>
          </a:prstGeom>
          <a:noFill/>
          <a:ln/>
        </p:spPr>
        <p:txBody>
          <a:bodyPr wrap="none" lIns="0" tIns="0" rIns="0" bIns="0" rtlCol="0" anchor="t"/>
          <a:lstStyle/>
          <a:p>
            <a:pPr marL="0" indent="0" algn="l">
              <a:lnSpc>
                <a:spcPts val="2350"/>
              </a:lnSpc>
              <a:buNone/>
            </a:pPr>
            <a:r>
              <a:rPr lang="en-US" sz="1450" dirty="0">
                <a:solidFill>
                  <a:srgbClr val="4C4C4D"/>
                </a:solidFill>
                <a:latin typeface="Heebo" pitchFamily="34" charset="0"/>
                <a:ea typeface="Heebo" pitchFamily="34" charset="-122"/>
                <a:cs typeface="Heebo" pitchFamily="34" charset="-120"/>
              </a:rPr>
              <a:t>Choosing a robust CNN architecture with appropriate layers for feature extraction, attention, and classification.</a:t>
            </a:r>
            <a:endParaRPr lang="en-US" sz="1450" dirty="0"/>
          </a:p>
        </p:txBody>
      </p:sp>
      <p:sp>
        <p:nvSpPr>
          <p:cNvPr id="19" name="Shape 17"/>
          <p:cNvSpPr/>
          <p:nvPr/>
        </p:nvSpPr>
        <p:spPr>
          <a:xfrm>
            <a:off x="1137404" y="5797761"/>
            <a:ext cx="663059" cy="22860"/>
          </a:xfrm>
          <a:prstGeom prst="roundRect">
            <a:avLst>
              <a:gd name="adj" fmla="val 124319"/>
            </a:avLst>
          </a:prstGeom>
          <a:solidFill>
            <a:srgbClr val="D8D4D4"/>
          </a:solidFill>
          <a:ln/>
        </p:spPr>
      </p:sp>
      <p:sp>
        <p:nvSpPr>
          <p:cNvPr id="20" name="Shape 18"/>
          <p:cNvSpPr/>
          <p:nvPr/>
        </p:nvSpPr>
        <p:spPr>
          <a:xfrm>
            <a:off x="734020" y="5596070"/>
            <a:ext cx="426244" cy="426244"/>
          </a:xfrm>
          <a:prstGeom prst="roundRect">
            <a:avLst>
              <a:gd name="adj" fmla="val 6667"/>
            </a:avLst>
          </a:prstGeom>
          <a:solidFill>
            <a:srgbClr val="F2EEEE"/>
          </a:solidFill>
          <a:ln/>
        </p:spPr>
      </p:sp>
      <p:sp>
        <p:nvSpPr>
          <p:cNvPr id="21" name="Text 19"/>
          <p:cNvSpPr/>
          <p:nvPr/>
        </p:nvSpPr>
        <p:spPr>
          <a:xfrm>
            <a:off x="872133" y="5667031"/>
            <a:ext cx="149900" cy="284202"/>
          </a:xfrm>
          <a:prstGeom prst="rect">
            <a:avLst/>
          </a:prstGeom>
          <a:noFill/>
          <a:ln/>
        </p:spPr>
        <p:txBody>
          <a:bodyPr wrap="none" lIns="0" tIns="0" rIns="0" bIns="0" rtlCol="0" anchor="t"/>
          <a:lstStyle/>
          <a:p>
            <a:pPr marL="0" indent="0" algn="ctr">
              <a:lnSpc>
                <a:spcPts val="2200"/>
              </a:lnSpc>
              <a:buNone/>
            </a:pPr>
            <a:r>
              <a:rPr lang="en-US" sz="2200" dirty="0">
                <a:solidFill>
                  <a:srgbClr val="4C4C4D"/>
                </a:solidFill>
                <a:latin typeface="Crimson Pro Semi Bold" pitchFamily="34" charset="0"/>
                <a:ea typeface="Crimson Pro Semi Bold" pitchFamily="34" charset="-122"/>
                <a:cs typeface="Crimson Pro Semi Bold" pitchFamily="34" charset="-120"/>
              </a:rPr>
              <a:t>4</a:t>
            </a:r>
            <a:endParaRPr lang="en-US" sz="2200" dirty="0"/>
          </a:p>
        </p:txBody>
      </p:sp>
      <p:sp>
        <p:nvSpPr>
          <p:cNvPr id="22" name="Text 20"/>
          <p:cNvSpPr/>
          <p:nvPr/>
        </p:nvSpPr>
        <p:spPr>
          <a:xfrm>
            <a:off x="1989177" y="5572376"/>
            <a:ext cx="2368272" cy="295989"/>
          </a:xfrm>
          <a:prstGeom prst="rect">
            <a:avLst/>
          </a:prstGeom>
          <a:noFill/>
          <a:ln/>
        </p:spPr>
        <p:txBody>
          <a:bodyPr wrap="none" lIns="0" tIns="0" rIns="0" bIns="0" rtlCol="0" anchor="t"/>
          <a:lstStyle/>
          <a:p>
            <a:pPr marL="0" indent="0" algn="l">
              <a:lnSpc>
                <a:spcPts val="2300"/>
              </a:lnSpc>
              <a:buNone/>
            </a:pPr>
            <a:r>
              <a:rPr lang="en-US" sz="1850" dirty="0">
                <a:solidFill>
                  <a:srgbClr val="4C4C4D"/>
                </a:solidFill>
                <a:latin typeface="Crimson Pro Semi Bold" pitchFamily="34" charset="0"/>
                <a:ea typeface="Crimson Pro Semi Bold" pitchFamily="34" charset="-122"/>
                <a:cs typeface="Crimson Pro Semi Bold" pitchFamily="34" charset="-120"/>
              </a:rPr>
              <a:t>Model Training</a:t>
            </a:r>
            <a:endParaRPr lang="en-US" sz="1850" dirty="0"/>
          </a:p>
        </p:txBody>
      </p:sp>
      <p:sp>
        <p:nvSpPr>
          <p:cNvPr id="23" name="Text 21"/>
          <p:cNvSpPr/>
          <p:nvPr/>
        </p:nvSpPr>
        <p:spPr>
          <a:xfrm>
            <a:off x="1989177" y="5981951"/>
            <a:ext cx="11978164" cy="303014"/>
          </a:xfrm>
          <a:prstGeom prst="rect">
            <a:avLst/>
          </a:prstGeom>
          <a:noFill/>
          <a:ln/>
        </p:spPr>
        <p:txBody>
          <a:bodyPr wrap="none" lIns="0" tIns="0" rIns="0" bIns="0" rtlCol="0" anchor="t"/>
          <a:lstStyle/>
          <a:p>
            <a:pPr marL="0" indent="0" algn="l">
              <a:lnSpc>
                <a:spcPts val="2350"/>
              </a:lnSpc>
              <a:buNone/>
            </a:pPr>
            <a:r>
              <a:rPr lang="en-US" sz="1450" dirty="0">
                <a:solidFill>
                  <a:srgbClr val="4C4C4D"/>
                </a:solidFill>
                <a:latin typeface="Heebo" pitchFamily="34" charset="0"/>
                <a:ea typeface="Heebo" pitchFamily="34" charset="-122"/>
                <a:cs typeface="Heebo" pitchFamily="34" charset="-120"/>
              </a:rPr>
              <a:t>Training the model on labeled data using an appropriate loss function and optimization algorithm.</a:t>
            </a:r>
            <a:endParaRPr lang="en-US" sz="1450" dirty="0"/>
          </a:p>
        </p:txBody>
      </p:sp>
      <p:sp>
        <p:nvSpPr>
          <p:cNvPr id="24" name="Shape 22"/>
          <p:cNvSpPr/>
          <p:nvPr/>
        </p:nvSpPr>
        <p:spPr>
          <a:xfrm>
            <a:off x="1137404" y="7078636"/>
            <a:ext cx="663059" cy="22860"/>
          </a:xfrm>
          <a:prstGeom prst="roundRect">
            <a:avLst>
              <a:gd name="adj" fmla="val 124319"/>
            </a:avLst>
          </a:prstGeom>
          <a:solidFill>
            <a:srgbClr val="D8D4D4"/>
          </a:solidFill>
          <a:ln/>
        </p:spPr>
      </p:sp>
      <p:sp>
        <p:nvSpPr>
          <p:cNvPr id="25" name="Shape 23"/>
          <p:cNvSpPr/>
          <p:nvPr/>
        </p:nvSpPr>
        <p:spPr>
          <a:xfrm>
            <a:off x="734020" y="6876944"/>
            <a:ext cx="426244" cy="426244"/>
          </a:xfrm>
          <a:prstGeom prst="roundRect">
            <a:avLst>
              <a:gd name="adj" fmla="val 6667"/>
            </a:avLst>
          </a:prstGeom>
          <a:solidFill>
            <a:srgbClr val="F2EEEE"/>
          </a:solidFill>
          <a:ln/>
        </p:spPr>
      </p:sp>
      <p:sp>
        <p:nvSpPr>
          <p:cNvPr id="26" name="Text 24"/>
          <p:cNvSpPr/>
          <p:nvPr/>
        </p:nvSpPr>
        <p:spPr>
          <a:xfrm>
            <a:off x="878681" y="6947905"/>
            <a:ext cx="136803" cy="284202"/>
          </a:xfrm>
          <a:prstGeom prst="rect">
            <a:avLst/>
          </a:prstGeom>
          <a:noFill/>
          <a:ln/>
        </p:spPr>
        <p:txBody>
          <a:bodyPr wrap="none" lIns="0" tIns="0" rIns="0" bIns="0" rtlCol="0" anchor="t"/>
          <a:lstStyle/>
          <a:p>
            <a:pPr marL="0" indent="0" algn="ctr">
              <a:lnSpc>
                <a:spcPts val="2200"/>
              </a:lnSpc>
              <a:buNone/>
            </a:pPr>
            <a:r>
              <a:rPr lang="en-US" sz="2200" dirty="0">
                <a:solidFill>
                  <a:srgbClr val="4C4C4D"/>
                </a:solidFill>
                <a:latin typeface="Crimson Pro Semi Bold" pitchFamily="34" charset="0"/>
                <a:ea typeface="Crimson Pro Semi Bold" pitchFamily="34" charset="-122"/>
                <a:cs typeface="Crimson Pro Semi Bold" pitchFamily="34" charset="-120"/>
              </a:rPr>
              <a:t>5</a:t>
            </a:r>
            <a:endParaRPr lang="en-US" sz="2200" dirty="0"/>
          </a:p>
        </p:txBody>
      </p:sp>
      <p:sp>
        <p:nvSpPr>
          <p:cNvPr id="27" name="Text 25"/>
          <p:cNvSpPr/>
          <p:nvPr/>
        </p:nvSpPr>
        <p:spPr>
          <a:xfrm>
            <a:off x="1989177" y="6853251"/>
            <a:ext cx="2368272" cy="295989"/>
          </a:xfrm>
          <a:prstGeom prst="rect">
            <a:avLst/>
          </a:prstGeom>
          <a:noFill/>
          <a:ln/>
        </p:spPr>
        <p:txBody>
          <a:bodyPr wrap="none" lIns="0" tIns="0" rIns="0" bIns="0" rtlCol="0" anchor="t"/>
          <a:lstStyle/>
          <a:p>
            <a:pPr marL="0" indent="0" algn="l">
              <a:lnSpc>
                <a:spcPts val="2300"/>
              </a:lnSpc>
              <a:buNone/>
            </a:pPr>
            <a:r>
              <a:rPr lang="en-US" sz="1850" dirty="0">
                <a:solidFill>
                  <a:srgbClr val="4C4C4D"/>
                </a:solidFill>
                <a:latin typeface="Crimson Pro Semi Bold" pitchFamily="34" charset="0"/>
                <a:ea typeface="Crimson Pro Semi Bold" pitchFamily="34" charset="-122"/>
                <a:cs typeface="Crimson Pro Semi Bold" pitchFamily="34" charset="-120"/>
              </a:rPr>
              <a:t>Evaluation</a:t>
            </a:r>
            <a:endParaRPr lang="en-US" sz="1850" dirty="0"/>
          </a:p>
        </p:txBody>
      </p:sp>
      <p:sp>
        <p:nvSpPr>
          <p:cNvPr id="28" name="Text 26"/>
          <p:cNvSpPr/>
          <p:nvPr/>
        </p:nvSpPr>
        <p:spPr>
          <a:xfrm>
            <a:off x="1989177" y="7262826"/>
            <a:ext cx="11978164" cy="303014"/>
          </a:xfrm>
          <a:prstGeom prst="rect">
            <a:avLst/>
          </a:prstGeom>
          <a:noFill/>
          <a:ln/>
        </p:spPr>
        <p:txBody>
          <a:bodyPr wrap="none" lIns="0" tIns="0" rIns="0" bIns="0" rtlCol="0" anchor="t"/>
          <a:lstStyle/>
          <a:p>
            <a:pPr marL="0" indent="0" algn="l">
              <a:lnSpc>
                <a:spcPts val="2350"/>
              </a:lnSpc>
              <a:buNone/>
            </a:pPr>
            <a:r>
              <a:rPr lang="en-US" sz="1450" dirty="0">
                <a:solidFill>
                  <a:srgbClr val="4C4C4D"/>
                </a:solidFill>
                <a:latin typeface="Heebo" pitchFamily="34" charset="0"/>
                <a:ea typeface="Heebo" pitchFamily="34" charset="-122"/>
                <a:cs typeface="Heebo" pitchFamily="34" charset="-120"/>
              </a:rPr>
              <a:t>Assessing model performance on unseen data using metrics like accuracy, precision, recall, and F1-score.</a:t>
            </a:r>
            <a:endParaRPr lang="en-US" sz="1450" dirty="0"/>
          </a:p>
        </p:txBody>
      </p:sp>
      <p:pic>
        <p:nvPicPr>
          <p:cNvPr id="29" name="Picture 28">
            <a:extLst>
              <a:ext uri="{FF2B5EF4-FFF2-40B4-BE49-F238E27FC236}">
                <a16:creationId xmlns:a16="http://schemas.microsoft.com/office/drawing/2014/main" id="{39A932E9-499E-8C64-3080-863B66328A1D}"/>
              </a:ext>
            </a:extLst>
          </p:cNvPr>
          <p:cNvPicPr>
            <a:picLocks noChangeAspect="1"/>
          </p:cNvPicPr>
          <p:nvPr/>
        </p:nvPicPr>
        <p:blipFill>
          <a:blip r:embed="rId2"/>
          <a:stretch>
            <a:fillRect/>
          </a:stretch>
        </p:blipFill>
        <p:spPr>
          <a:xfrm>
            <a:off x="3643" y="241002"/>
            <a:ext cx="681842" cy="390178"/>
          </a:xfrm>
          <a:prstGeom prst="rect">
            <a:avLst/>
          </a:prstGeom>
        </p:spPr>
      </p:pic>
      <p:sp>
        <p:nvSpPr>
          <p:cNvPr id="30" name="object 23">
            <a:extLst>
              <a:ext uri="{FF2B5EF4-FFF2-40B4-BE49-F238E27FC236}">
                <a16:creationId xmlns:a16="http://schemas.microsoft.com/office/drawing/2014/main" id="{7045852A-A2F3-70D1-D6DE-CF910530D045}"/>
              </a:ext>
            </a:extLst>
          </p:cNvPr>
          <p:cNvSpPr/>
          <p:nvPr/>
        </p:nvSpPr>
        <p:spPr>
          <a:xfrm>
            <a:off x="12183611" y="107719"/>
            <a:ext cx="1209819" cy="704826"/>
          </a:xfrm>
          <a:prstGeom prst="rect">
            <a:avLst/>
          </a:prstGeom>
          <a:blipFill>
            <a:blip r:embed="rId3" cstate="print"/>
            <a:stretch>
              <a:fillRect/>
            </a:stretch>
          </a:blipFill>
        </p:spPr>
        <p:txBody>
          <a:bodyPr wrap="square" lIns="0" tIns="0" rIns="0" bIns="0" rtlCol="0"/>
          <a:lstStyle/>
          <a:p>
            <a:endParaRPr>
              <a:solidFill>
                <a:prstClr val="black"/>
              </a:solidFill>
              <a:latin typeface="Aptos" panose="02110004020202020204"/>
            </a:endParaRPr>
          </a:p>
        </p:txBody>
      </p:sp>
      <p:pic>
        <p:nvPicPr>
          <p:cNvPr id="31" name="Picture 30" descr="A logo with a brain and text&#10;&#10;Description automatically generated">
            <a:extLst>
              <a:ext uri="{FF2B5EF4-FFF2-40B4-BE49-F238E27FC236}">
                <a16:creationId xmlns:a16="http://schemas.microsoft.com/office/drawing/2014/main" id="{F5A4A679-DDDB-520C-B9DC-58DDDBABA3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sp>
        <p:nvSpPr>
          <p:cNvPr id="32" name="object 21">
            <a:extLst>
              <a:ext uri="{FF2B5EF4-FFF2-40B4-BE49-F238E27FC236}">
                <a16:creationId xmlns:a16="http://schemas.microsoft.com/office/drawing/2014/main" id="{C357DBD2-FEA9-EA12-EA54-3DF16B404024}"/>
              </a:ext>
            </a:extLst>
          </p:cNvPr>
          <p:cNvSpPr/>
          <p:nvPr/>
        </p:nvSpPr>
        <p:spPr>
          <a:xfrm>
            <a:off x="833199" y="29986"/>
            <a:ext cx="2029524" cy="858129"/>
          </a:xfrm>
          <a:prstGeom prst="rect">
            <a:avLst/>
          </a:prstGeom>
          <a:blipFill>
            <a:blip r:embed="rId5"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33" name="Picture 32" descr="A yellow and orange circle with a red ribbon&#10;&#10;Description automatically generated">
            <a:extLst>
              <a:ext uri="{FF2B5EF4-FFF2-40B4-BE49-F238E27FC236}">
                <a16:creationId xmlns:a16="http://schemas.microsoft.com/office/drawing/2014/main" id="{62868A84-74E8-191F-9D7E-88BAA74BD3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34" name="Rectangle 33">
            <a:extLst>
              <a:ext uri="{FF2B5EF4-FFF2-40B4-BE49-F238E27FC236}">
                <a16:creationId xmlns:a16="http://schemas.microsoft.com/office/drawing/2014/main" id="{A8D0CF68-96F8-0FE5-5B08-021EA96B3C9C}"/>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35" name="Picture 34" descr="A close-up of a blue and gold logo&#10;&#10;Description automatically generated">
            <a:extLst>
              <a:ext uri="{FF2B5EF4-FFF2-40B4-BE49-F238E27FC236}">
                <a16:creationId xmlns:a16="http://schemas.microsoft.com/office/drawing/2014/main" id="{714A8117-68CD-FAD9-5ED8-6E364B6CA4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36" name="Picture 35">
            <a:extLst>
              <a:ext uri="{FF2B5EF4-FFF2-40B4-BE49-F238E27FC236}">
                <a16:creationId xmlns:a16="http://schemas.microsoft.com/office/drawing/2014/main" id="{31DB5D4E-633F-CA7A-517E-A8E21E580494}"/>
              </a:ext>
            </a:extLst>
          </p:cNvPr>
          <p:cNvPicPr>
            <a:picLocks noChangeAspect="1"/>
          </p:cNvPicPr>
          <p:nvPr/>
        </p:nvPicPr>
        <p:blipFill>
          <a:blip r:embed="rId8"/>
          <a:stretch>
            <a:fillRect/>
          </a:stretch>
        </p:blipFill>
        <p:spPr>
          <a:xfrm>
            <a:off x="-19559" y="7851615"/>
            <a:ext cx="14649958" cy="377985"/>
          </a:xfrm>
          <a:prstGeom prst="rect">
            <a:avLst/>
          </a:prstGeom>
        </p:spPr>
      </p:pic>
      <p:sp>
        <p:nvSpPr>
          <p:cNvPr id="37" name="TextBox 36">
            <a:extLst>
              <a:ext uri="{FF2B5EF4-FFF2-40B4-BE49-F238E27FC236}">
                <a16:creationId xmlns:a16="http://schemas.microsoft.com/office/drawing/2014/main" id="{980BCF4A-A762-AB10-6812-2CC85C4CE223}"/>
              </a:ext>
            </a:extLst>
          </p:cNvPr>
          <p:cNvSpPr txBox="1"/>
          <p:nvPr/>
        </p:nvSpPr>
        <p:spPr>
          <a:xfrm>
            <a:off x="4291663" y="7867543"/>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spTree>
    <p:extLst>
      <p:ext uri="{BB962C8B-B14F-4D97-AF65-F5344CB8AC3E}">
        <p14:creationId xmlns:p14="http://schemas.microsoft.com/office/powerpoint/2010/main" val="22545927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9A932E9-499E-8C64-3080-863B66328A1D}"/>
              </a:ext>
            </a:extLst>
          </p:cNvPr>
          <p:cNvPicPr>
            <a:picLocks noChangeAspect="1"/>
          </p:cNvPicPr>
          <p:nvPr/>
        </p:nvPicPr>
        <p:blipFill>
          <a:blip r:embed="rId2"/>
          <a:stretch>
            <a:fillRect/>
          </a:stretch>
        </p:blipFill>
        <p:spPr>
          <a:xfrm>
            <a:off x="3643" y="241002"/>
            <a:ext cx="681842" cy="390178"/>
          </a:xfrm>
          <a:prstGeom prst="rect">
            <a:avLst/>
          </a:prstGeom>
        </p:spPr>
      </p:pic>
      <p:sp>
        <p:nvSpPr>
          <p:cNvPr id="3" name="object 23">
            <a:extLst>
              <a:ext uri="{FF2B5EF4-FFF2-40B4-BE49-F238E27FC236}">
                <a16:creationId xmlns:a16="http://schemas.microsoft.com/office/drawing/2014/main" id="{7045852A-A2F3-70D1-D6DE-CF910530D045}"/>
              </a:ext>
            </a:extLst>
          </p:cNvPr>
          <p:cNvSpPr/>
          <p:nvPr/>
        </p:nvSpPr>
        <p:spPr>
          <a:xfrm>
            <a:off x="12183611" y="107719"/>
            <a:ext cx="1209819" cy="704826"/>
          </a:xfrm>
          <a:prstGeom prst="rect">
            <a:avLst/>
          </a:prstGeom>
          <a:blipFill>
            <a:blip r:embed="rId3" cstate="print"/>
            <a:stretch>
              <a:fillRect/>
            </a:stretch>
          </a:blipFill>
        </p:spPr>
        <p:txBody>
          <a:bodyPr wrap="square" lIns="0" tIns="0" rIns="0" bIns="0" rtlCol="0"/>
          <a:lstStyle/>
          <a:p>
            <a:endParaRPr>
              <a:solidFill>
                <a:prstClr val="black"/>
              </a:solidFill>
              <a:latin typeface="Aptos" panose="02110004020202020204"/>
            </a:endParaRPr>
          </a:p>
        </p:txBody>
      </p:sp>
      <p:pic>
        <p:nvPicPr>
          <p:cNvPr id="4" name="Picture 3" descr="A logo with a brain and text&#10;&#10;Description automatically generated">
            <a:extLst>
              <a:ext uri="{FF2B5EF4-FFF2-40B4-BE49-F238E27FC236}">
                <a16:creationId xmlns:a16="http://schemas.microsoft.com/office/drawing/2014/main" id="{F5A4A679-DDDB-520C-B9DC-58DDDBABA3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sp>
        <p:nvSpPr>
          <p:cNvPr id="5" name="object 21">
            <a:extLst>
              <a:ext uri="{FF2B5EF4-FFF2-40B4-BE49-F238E27FC236}">
                <a16:creationId xmlns:a16="http://schemas.microsoft.com/office/drawing/2014/main" id="{C357DBD2-FEA9-EA12-EA54-3DF16B404024}"/>
              </a:ext>
            </a:extLst>
          </p:cNvPr>
          <p:cNvSpPr/>
          <p:nvPr/>
        </p:nvSpPr>
        <p:spPr>
          <a:xfrm>
            <a:off x="833199" y="29986"/>
            <a:ext cx="2029524" cy="858129"/>
          </a:xfrm>
          <a:prstGeom prst="rect">
            <a:avLst/>
          </a:prstGeom>
          <a:blipFill>
            <a:blip r:embed="rId5"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6" name="Picture 5" descr="A yellow and orange circle with a red ribbon&#10;&#10;Description automatically generated">
            <a:extLst>
              <a:ext uri="{FF2B5EF4-FFF2-40B4-BE49-F238E27FC236}">
                <a16:creationId xmlns:a16="http://schemas.microsoft.com/office/drawing/2014/main" id="{62868A84-74E8-191F-9D7E-88BAA74BD3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7" name="Rectangle 6">
            <a:extLst>
              <a:ext uri="{FF2B5EF4-FFF2-40B4-BE49-F238E27FC236}">
                <a16:creationId xmlns:a16="http://schemas.microsoft.com/office/drawing/2014/main" id="{A8D0CF68-96F8-0FE5-5B08-021EA96B3C9C}"/>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8" name="Picture 7" descr="A close-up of a blue and gold logo&#10;&#10;Description automatically generated">
            <a:extLst>
              <a:ext uri="{FF2B5EF4-FFF2-40B4-BE49-F238E27FC236}">
                <a16:creationId xmlns:a16="http://schemas.microsoft.com/office/drawing/2014/main" id="{714A8117-68CD-FAD9-5ED8-6E364B6CA4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9" name="Picture 8">
            <a:extLst>
              <a:ext uri="{FF2B5EF4-FFF2-40B4-BE49-F238E27FC236}">
                <a16:creationId xmlns:a16="http://schemas.microsoft.com/office/drawing/2014/main" id="{31DB5D4E-633F-CA7A-517E-A8E21E580494}"/>
              </a:ext>
            </a:extLst>
          </p:cNvPr>
          <p:cNvPicPr>
            <a:picLocks noChangeAspect="1"/>
          </p:cNvPicPr>
          <p:nvPr/>
        </p:nvPicPr>
        <p:blipFill>
          <a:blip r:embed="rId8"/>
          <a:stretch>
            <a:fillRect/>
          </a:stretch>
        </p:blipFill>
        <p:spPr>
          <a:xfrm>
            <a:off x="-19559" y="7851615"/>
            <a:ext cx="14649958" cy="377985"/>
          </a:xfrm>
          <a:prstGeom prst="rect">
            <a:avLst/>
          </a:prstGeom>
        </p:spPr>
      </p:pic>
      <p:sp>
        <p:nvSpPr>
          <p:cNvPr id="10" name="TextBox 9">
            <a:extLst>
              <a:ext uri="{FF2B5EF4-FFF2-40B4-BE49-F238E27FC236}">
                <a16:creationId xmlns:a16="http://schemas.microsoft.com/office/drawing/2014/main" id="{980BCF4A-A762-AB10-6812-2CC85C4CE223}"/>
              </a:ext>
            </a:extLst>
          </p:cNvPr>
          <p:cNvSpPr txBox="1"/>
          <p:nvPr/>
        </p:nvSpPr>
        <p:spPr>
          <a:xfrm>
            <a:off x="4291663" y="7819905"/>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sp>
        <p:nvSpPr>
          <p:cNvPr id="11" name="Text 0"/>
          <p:cNvSpPr/>
          <p:nvPr/>
        </p:nvSpPr>
        <p:spPr>
          <a:xfrm>
            <a:off x="1409702" y="1493375"/>
            <a:ext cx="5314712" cy="591979"/>
          </a:xfrm>
          <a:prstGeom prst="rect">
            <a:avLst/>
          </a:prstGeom>
          <a:noFill/>
          <a:ln/>
        </p:spPr>
        <p:txBody>
          <a:bodyPr wrap="none" lIns="0" tIns="0" rIns="0" bIns="0" rtlCol="0" anchor="t"/>
          <a:lstStyle/>
          <a:p>
            <a:pPr>
              <a:lnSpc>
                <a:spcPts val="4650"/>
              </a:lnSpc>
            </a:pPr>
            <a:r>
              <a:rPr lang="en-US" sz="4800" b="1" dirty="0">
                <a:latin typeface="Times New Roman" panose="02020603050405020304" pitchFamily="18" charset="0"/>
                <a:ea typeface="Crimson Pro Semi Bold" pitchFamily="34" charset="-122"/>
                <a:cs typeface="Times New Roman" panose="02020603050405020304" pitchFamily="18" charset="0"/>
              </a:rPr>
              <a:t>FLOW CHART :</a:t>
            </a:r>
            <a:endParaRPr lang="en-US" sz="4800" b="1" dirty="0">
              <a:latin typeface="Times New Roman" panose="02020603050405020304" pitchFamily="18" charset="0"/>
              <a:cs typeface="Times New Roman" panose="02020603050405020304" pitchFamily="18" charset="0"/>
            </a:endParaRPr>
          </a:p>
        </p:txBody>
      </p:sp>
      <p:sp>
        <p:nvSpPr>
          <p:cNvPr id="17" name="Shape 3"/>
          <p:cNvSpPr/>
          <p:nvPr/>
        </p:nvSpPr>
        <p:spPr>
          <a:xfrm>
            <a:off x="6769614" y="3900568"/>
            <a:ext cx="1121203" cy="779186"/>
          </a:xfrm>
          <a:prstGeom prst="roundRect">
            <a:avLst>
              <a:gd name="adj" fmla="val 6667"/>
            </a:avLst>
          </a:prstGeom>
          <a:solidFill>
            <a:srgbClr val="F2EEEE"/>
          </a:solidFill>
          <a:ln/>
        </p:spPr>
        <p:txBody>
          <a:bodyPr anchor="ctr"/>
          <a:lstStyle/>
          <a:p>
            <a:pPr algn="ctr"/>
            <a:r>
              <a:rPr lang="en-US" dirty="0"/>
              <a:t>Train the model</a:t>
            </a:r>
            <a:endParaRPr lang="en-IN" dirty="0"/>
          </a:p>
        </p:txBody>
      </p:sp>
      <p:sp>
        <p:nvSpPr>
          <p:cNvPr id="18" name="Shape 3"/>
          <p:cNvSpPr/>
          <p:nvPr/>
        </p:nvSpPr>
        <p:spPr>
          <a:xfrm>
            <a:off x="12753973" y="1765312"/>
            <a:ext cx="1685925" cy="703315"/>
          </a:xfrm>
          <a:prstGeom prst="roundRect">
            <a:avLst>
              <a:gd name="adj" fmla="val 6667"/>
            </a:avLst>
          </a:prstGeom>
          <a:solidFill>
            <a:srgbClr val="F2EEEE"/>
          </a:solidFill>
          <a:ln/>
        </p:spPr>
        <p:txBody>
          <a:bodyPr anchor="ctr"/>
          <a:lstStyle/>
          <a:p>
            <a:pPr algn="ctr"/>
            <a:r>
              <a:rPr lang="en-US" dirty="0"/>
              <a:t>Glioma</a:t>
            </a:r>
            <a:endParaRPr lang="en-IN" dirty="0"/>
          </a:p>
        </p:txBody>
      </p:sp>
      <p:sp>
        <p:nvSpPr>
          <p:cNvPr id="19" name="Shape 3"/>
          <p:cNvSpPr/>
          <p:nvPr/>
        </p:nvSpPr>
        <p:spPr>
          <a:xfrm>
            <a:off x="12753974" y="3247152"/>
            <a:ext cx="1685925" cy="712715"/>
          </a:xfrm>
          <a:prstGeom prst="roundRect">
            <a:avLst>
              <a:gd name="adj" fmla="val 6667"/>
            </a:avLst>
          </a:prstGeom>
          <a:solidFill>
            <a:srgbClr val="F2EEEE"/>
          </a:solidFill>
          <a:ln/>
        </p:spPr>
        <p:txBody>
          <a:bodyPr anchor="ctr"/>
          <a:lstStyle/>
          <a:p>
            <a:pPr algn="ctr"/>
            <a:r>
              <a:rPr lang="en-US" dirty="0"/>
              <a:t>Meningioma</a:t>
            </a:r>
            <a:endParaRPr lang="en-IN" dirty="0"/>
          </a:p>
        </p:txBody>
      </p:sp>
      <p:sp>
        <p:nvSpPr>
          <p:cNvPr id="20" name="Shape 3"/>
          <p:cNvSpPr/>
          <p:nvPr/>
        </p:nvSpPr>
        <p:spPr>
          <a:xfrm>
            <a:off x="12753973" y="4753252"/>
            <a:ext cx="1685925" cy="698157"/>
          </a:xfrm>
          <a:prstGeom prst="roundRect">
            <a:avLst>
              <a:gd name="adj" fmla="val 6667"/>
            </a:avLst>
          </a:prstGeom>
          <a:solidFill>
            <a:srgbClr val="F2EEEE"/>
          </a:solidFill>
          <a:ln/>
        </p:spPr>
        <p:txBody>
          <a:bodyPr anchor="ctr"/>
          <a:lstStyle/>
          <a:p>
            <a:pPr algn="ctr"/>
            <a:r>
              <a:rPr lang="en-US" dirty="0"/>
              <a:t>Pituitary</a:t>
            </a:r>
            <a:endParaRPr lang="en-IN" dirty="0"/>
          </a:p>
        </p:txBody>
      </p:sp>
      <p:sp>
        <p:nvSpPr>
          <p:cNvPr id="21" name="Shape 3"/>
          <p:cNvSpPr/>
          <p:nvPr/>
        </p:nvSpPr>
        <p:spPr>
          <a:xfrm>
            <a:off x="12753973" y="6189662"/>
            <a:ext cx="1685926" cy="749401"/>
          </a:xfrm>
          <a:prstGeom prst="roundRect">
            <a:avLst>
              <a:gd name="adj" fmla="val 6667"/>
            </a:avLst>
          </a:prstGeom>
          <a:solidFill>
            <a:srgbClr val="F2EEEE"/>
          </a:solidFill>
          <a:ln/>
        </p:spPr>
        <p:txBody>
          <a:bodyPr anchor="ctr"/>
          <a:lstStyle/>
          <a:p>
            <a:pPr algn="ctr"/>
            <a:r>
              <a:rPr lang="en-US" dirty="0"/>
              <a:t>No Tumor</a:t>
            </a:r>
            <a:endParaRPr lang="en-IN" dirty="0"/>
          </a:p>
        </p:txBody>
      </p:sp>
      <p:sp>
        <p:nvSpPr>
          <p:cNvPr id="22" name="Shape 3"/>
          <p:cNvSpPr/>
          <p:nvPr/>
        </p:nvSpPr>
        <p:spPr>
          <a:xfrm>
            <a:off x="4428270" y="3886413"/>
            <a:ext cx="1692699" cy="779186"/>
          </a:xfrm>
          <a:prstGeom prst="roundRect">
            <a:avLst>
              <a:gd name="adj" fmla="val 6667"/>
            </a:avLst>
          </a:prstGeom>
          <a:solidFill>
            <a:srgbClr val="F2EEEE"/>
          </a:solidFill>
          <a:ln/>
        </p:spPr>
        <p:txBody>
          <a:bodyPr anchor="ctr"/>
          <a:lstStyle/>
          <a:p>
            <a:pPr algn="ctr"/>
            <a:r>
              <a:rPr lang="en-US" sz="1600" dirty="0"/>
              <a:t>Build and compile the model</a:t>
            </a:r>
            <a:endParaRPr lang="en-IN" sz="1600" dirty="0"/>
          </a:p>
        </p:txBody>
      </p:sp>
      <p:sp>
        <p:nvSpPr>
          <p:cNvPr id="23" name="Shape 3"/>
          <p:cNvSpPr/>
          <p:nvPr/>
        </p:nvSpPr>
        <p:spPr>
          <a:xfrm>
            <a:off x="2058347" y="3898254"/>
            <a:ext cx="1721278" cy="779186"/>
          </a:xfrm>
          <a:prstGeom prst="roundRect">
            <a:avLst>
              <a:gd name="adj" fmla="val 6667"/>
            </a:avLst>
          </a:prstGeom>
          <a:solidFill>
            <a:srgbClr val="F2EEEE"/>
          </a:solidFill>
          <a:ln/>
        </p:spPr>
        <p:txBody>
          <a:bodyPr/>
          <a:lstStyle/>
          <a:p>
            <a:pPr algn="ctr"/>
            <a:r>
              <a:rPr lang="en-US" sz="1600" dirty="0"/>
              <a:t>Preprocessing and Augmentation</a:t>
            </a:r>
            <a:endParaRPr lang="en-IN" sz="1600" dirty="0"/>
          </a:p>
        </p:txBody>
      </p:sp>
      <p:sp>
        <p:nvSpPr>
          <p:cNvPr id="24" name="Shape 3"/>
          <p:cNvSpPr/>
          <p:nvPr/>
        </p:nvSpPr>
        <p:spPr>
          <a:xfrm>
            <a:off x="31925" y="3892761"/>
            <a:ext cx="1377777" cy="779186"/>
          </a:xfrm>
          <a:prstGeom prst="roundRect">
            <a:avLst>
              <a:gd name="adj" fmla="val 6667"/>
            </a:avLst>
          </a:prstGeom>
          <a:solidFill>
            <a:srgbClr val="F2EEEE"/>
          </a:solidFill>
          <a:ln/>
        </p:spPr>
        <p:txBody>
          <a:bodyPr anchor="ctr"/>
          <a:lstStyle/>
          <a:p>
            <a:pPr algn="ctr"/>
            <a:r>
              <a:rPr lang="en-US" sz="1600" dirty="0"/>
              <a:t>Import dataset</a:t>
            </a:r>
            <a:endParaRPr lang="en-IN" sz="1600" dirty="0"/>
          </a:p>
        </p:txBody>
      </p:sp>
      <p:sp>
        <p:nvSpPr>
          <p:cNvPr id="25" name="Shape 3"/>
          <p:cNvSpPr/>
          <p:nvPr/>
        </p:nvSpPr>
        <p:spPr>
          <a:xfrm>
            <a:off x="8539462" y="3922634"/>
            <a:ext cx="1387903" cy="779186"/>
          </a:xfrm>
          <a:prstGeom prst="roundRect">
            <a:avLst>
              <a:gd name="adj" fmla="val 6667"/>
            </a:avLst>
          </a:prstGeom>
          <a:solidFill>
            <a:srgbClr val="F2EEEE"/>
          </a:solidFill>
          <a:ln/>
        </p:spPr>
        <p:txBody>
          <a:bodyPr anchor="ctr"/>
          <a:lstStyle/>
          <a:p>
            <a:pPr algn="ctr"/>
            <a:r>
              <a:rPr lang="en-US" dirty="0"/>
              <a:t>Evaluate the model</a:t>
            </a:r>
            <a:endParaRPr lang="en-IN" dirty="0"/>
          </a:p>
        </p:txBody>
      </p:sp>
      <p:sp>
        <p:nvSpPr>
          <p:cNvPr id="26" name="Shape 3"/>
          <p:cNvSpPr/>
          <p:nvPr/>
        </p:nvSpPr>
        <p:spPr>
          <a:xfrm>
            <a:off x="10576010" y="3910777"/>
            <a:ext cx="1456492" cy="779186"/>
          </a:xfrm>
          <a:prstGeom prst="roundRect">
            <a:avLst>
              <a:gd name="adj" fmla="val 6667"/>
            </a:avLst>
          </a:prstGeom>
          <a:solidFill>
            <a:srgbClr val="F2EEEE"/>
          </a:solidFill>
          <a:ln/>
        </p:spPr>
        <p:txBody>
          <a:bodyPr anchor="ctr"/>
          <a:lstStyle/>
          <a:p>
            <a:pPr algn="ctr"/>
            <a:r>
              <a:rPr lang="en-US" dirty="0"/>
              <a:t>classification</a:t>
            </a:r>
            <a:endParaRPr lang="en-IN" dirty="0"/>
          </a:p>
        </p:txBody>
      </p:sp>
      <p:sp>
        <p:nvSpPr>
          <p:cNvPr id="27" name="Right Arrow 26"/>
          <p:cNvSpPr/>
          <p:nvPr/>
        </p:nvSpPr>
        <p:spPr>
          <a:xfrm>
            <a:off x="1418754" y="4174991"/>
            <a:ext cx="648645" cy="276225"/>
          </a:xfrm>
          <a:prstGeom prst="right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ight Arrow 28"/>
          <p:cNvSpPr/>
          <p:nvPr/>
        </p:nvSpPr>
        <p:spPr>
          <a:xfrm>
            <a:off x="3770573" y="4174991"/>
            <a:ext cx="648645" cy="276225"/>
          </a:xfrm>
          <a:prstGeom prst="right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ight Arrow 29"/>
          <p:cNvSpPr/>
          <p:nvPr/>
        </p:nvSpPr>
        <p:spPr>
          <a:xfrm>
            <a:off x="6120385" y="4170948"/>
            <a:ext cx="648645" cy="276225"/>
          </a:xfrm>
          <a:prstGeom prst="right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ight Arrow 30"/>
          <p:cNvSpPr/>
          <p:nvPr/>
        </p:nvSpPr>
        <p:spPr>
          <a:xfrm>
            <a:off x="7892237" y="4174114"/>
            <a:ext cx="648645" cy="276225"/>
          </a:xfrm>
          <a:prstGeom prst="right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ight Arrow 31"/>
          <p:cNvSpPr/>
          <p:nvPr/>
        </p:nvSpPr>
        <p:spPr>
          <a:xfrm>
            <a:off x="9938287" y="4181234"/>
            <a:ext cx="648645" cy="276225"/>
          </a:xfrm>
          <a:prstGeom prst="right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4" name="Straight Arrow Connector 33"/>
          <p:cNvCxnSpPr>
            <a:stCxn id="26" idx="3"/>
            <a:endCxn id="18" idx="1"/>
          </p:cNvCxnSpPr>
          <p:nvPr/>
        </p:nvCxnSpPr>
        <p:spPr>
          <a:xfrm flipV="1">
            <a:off x="12032502" y="2116970"/>
            <a:ext cx="721471" cy="2183400"/>
          </a:xfrm>
          <a:prstGeom prst="straightConnector1">
            <a:avLst/>
          </a:prstGeom>
          <a:ln>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26" idx="3"/>
            <a:endCxn id="19" idx="1"/>
          </p:cNvCxnSpPr>
          <p:nvPr/>
        </p:nvCxnSpPr>
        <p:spPr>
          <a:xfrm flipV="1">
            <a:off x="12032502" y="3603510"/>
            <a:ext cx="721472" cy="696860"/>
          </a:xfrm>
          <a:prstGeom prst="straightConnector1">
            <a:avLst/>
          </a:prstGeom>
          <a:ln>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26" idx="3"/>
            <a:endCxn id="20" idx="1"/>
          </p:cNvCxnSpPr>
          <p:nvPr/>
        </p:nvCxnSpPr>
        <p:spPr>
          <a:xfrm>
            <a:off x="12032502" y="4300370"/>
            <a:ext cx="721471" cy="801961"/>
          </a:xfrm>
          <a:prstGeom prst="straightConnector1">
            <a:avLst/>
          </a:prstGeom>
          <a:ln>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6" idx="3"/>
            <a:endCxn id="21" idx="1"/>
          </p:cNvCxnSpPr>
          <p:nvPr/>
        </p:nvCxnSpPr>
        <p:spPr>
          <a:xfrm>
            <a:off x="12032502" y="4300370"/>
            <a:ext cx="721471" cy="2263993"/>
          </a:xfrm>
          <a:prstGeom prst="straightConnector1">
            <a:avLst/>
          </a:prstGeom>
          <a:ln>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8819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9A932E9-499E-8C64-3080-863B66328A1D}"/>
              </a:ext>
            </a:extLst>
          </p:cNvPr>
          <p:cNvPicPr>
            <a:picLocks noChangeAspect="1"/>
          </p:cNvPicPr>
          <p:nvPr/>
        </p:nvPicPr>
        <p:blipFill>
          <a:blip r:embed="rId2"/>
          <a:stretch>
            <a:fillRect/>
          </a:stretch>
        </p:blipFill>
        <p:spPr>
          <a:xfrm>
            <a:off x="3643" y="241002"/>
            <a:ext cx="681842" cy="390178"/>
          </a:xfrm>
          <a:prstGeom prst="rect">
            <a:avLst/>
          </a:prstGeom>
        </p:spPr>
      </p:pic>
      <p:sp>
        <p:nvSpPr>
          <p:cNvPr id="3" name="object 23">
            <a:extLst>
              <a:ext uri="{FF2B5EF4-FFF2-40B4-BE49-F238E27FC236}">
                <a16:creationId xmlns:a16="http://schemas.microsoft.com/office/drawing/2014/main" id="{7045852A-A2F3-70D1-D6DE-CF910530D045}"/>
              </a:ext>
            </a:extLst>
          </p:cNvPr>
          <p:cNvSpPr/>
          <p:nvPr/>
        </p:nvSpPr>
        <p:spPr>
          <a:xfrm>
            <a:off x="12183611" y="107719"/>
            <a:ext cx="1209819" cy="704826"/>
          </a:xfrm>
          <a:prstGeom prst="rect">
            <a:avLst/>
          </a:prstGeom>
          <a:blipFill>
            <a:blip r:embed="rId3" cstate="print"/>
            <a:stretch>
              <a:fillRect/>
            </a:stretch>
          </a:blipFill>
        </p:spPr>
        <p:txBody>
          <a:bodyPr wrap="square" lIns="0" tIns="0" rIns="0" bIns="0" rtlCol="0"/>
          <a:lstStyle/>
          <a:p>
            <a:endParaRPr>
              <a:solidFill>
                <a:prstClr val="black"/>
              </a:solidFill>
              <a:latin typeface="Aptos" panose="02110004020202020204"/>
            </a:endParaRPr>
          </a:p>
        </p:txBody>
      </p:sp>
      <p:pic>
        <p:nvPicPr>
          <p:cNvPr id="4" name="Picture 3" descr="A logo with a brain and text&#10;&#10;Description automatically generated">
            <a:extLst>
              <a:ext uri="{FF2B5EF4-FFF2-40B4-BE49-F238E27FC236}">
                <a16:creationId xmlns:a16="http://schemas.microsoft.com/office/drawing/2014/main" id="{F5A4A679-DDDB-520C-B9DC-58DDDBABA3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sp>
        <p:nvSpPr>
          <p:cNvPr id="5" name="object 21">
            <a:extLst>
              <a:ext uri="{FF2B5EF4-FFF2-40B4-BE49-F238E27FC236}">
                <a16:creationId xmlns:a16="http://schemas.microsoft.com/office/drawing/2014/main" id="{C357DBD2-FEA9-EA12-EA54-3DF16B404024}"/>
              </a:ext>
            </a:extLst>
          </p:cNvPr>
          <p:cNvSpPr/>
          <p:nvPr/>
        </p:nvSpPr>
        <p:spPr>
          <a:xfrm>
            <a:off x="833199" y="29986"/>
            <a:ext cx="2029524" cy="858129"/>
          </a:xfrm>
          <a:prstGeom prst="rect">
            <a:avLst/>
          </a:prstGeom>
          <a:blipFill>
            <a:blip r:embed="rId5"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6" name="Picture 5" descr="A yellow and orange circle with a red ribbon&#10;&#10;Description automatically generated">
            <a:extLst>
              <a:ext uri="{FF2B5EF4-FFF2-40B4-BE49-F238E27FC236}">
                <a16:creationId xmlns:a16="http://schemas.microsoft.com/office/drawing/2014/main" id="{62868A84-74E8-191F-9D7E-88BAA74BD3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7" name="Rectangle 6">
            <a:extLst>
              <a:ext uri="{FF2B5EF4-FFF2-40B4-BE49-F238E27FC236}">
                <a16:creationId xmlns:a16="http://schemas.microsoft.com/office/drawing/2014/main" id="{A8D0CF68-96F8-0FE5-5B08-021EA96B3C9C}"/>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8" name="Picture 7" descr="A close-up of a blue and gold logo&#10;&#10;Description automatically generated">
            <a:extLst>
              <a:ext uri="{FF2B5EF4-FFF2-40B4-BE49-F238E27FC236}">
                <a16:creationId xmlns:a16="http://schemas.microsoft.com/office/drawing/2014/main" id="{714A8117-68CD-FAD9-5ED8-6E364B6CA4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9" name="Picture 8">
            <a:extLst>
              <a:ext uri="{FF2B5EF4-FFF2-40B4-BE49-F238E27FC236}">
                <a16:creationId xmlns:a16="http://schemas.microsoft.com/office/drawing/2014/main" id="{31DB5D4E-633F-CA7A-517E-A8E21E580494}"/>
              </a:ext>
            </a:extLst>
          </p:cNvPr>
          <p:cNvPicPr>
            <a:picLocks noChangeAspect="1"/>
          </p:cNvPicPr>
          <p:nvPr/>
        </p:nvPicPr>
        <p:blipFill>
          <a:blip r:embed="rId8"/>
          <a:stretch>
            <a:fillRect/>
          </a:stretch>
        </p:blipFill>
        <p:spPr>
          <a:xfrm>
            <a:off x="-19559" y="7851615"/>
            <a:ext cx="14649958" cy="377985"/>
          </a:xfrm>
          <a:prstGeom prst="rect">
            <a:avLst/>
          </a:prstGeom>
        </p:spPr>
      </p:pic>
      <p:sp>
        <p:nvSpPr>
          <p:cNvPr id="10" name="TextBox 9">
            <a:extLst>
              <a:ext uri="{FF2B5EF4-FFF2-40B4-BE49-F238E27FC236}">
                <a16:creationId xmlns:a16="http://schemas.microsoft.com/office/drawing/2014/main" id="{980BCF4A-A762-AB10-6812-2CC85C4CE223}"/>
              </a:ext>
            </a:extLst>
          </p:cNvPr>
          <p:cNvSpPr txBox="1"/>
          <p:nvPr/>
        </p:nvSpPr>
        <p:spPr>
          <a:xfrm>
            <a:off x="4291663" y="7819905"/>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pic>
        <p:nvPicPr>
          <p:cNvPr id="11" name="Picture 1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05319" y="1798654"/>
            <a:ext cx="12288111" cy="5926351"/>
          </a:xfrm>
          <a:prstGeom prst="rect">
            <a:avLst/>
          </a:prstGeom>
        </p:spPr>
      </p:pic>
      <p:sp>
        <p:nvSpPr>
          <p:cNvPr id="12" name="TextBox 11">
            <a:extLst>
              <a:ext uri="{FF2B5EF4-FFF2-40B4-BE49-F238E27FC236}">
                <a16:creationId xmlns:a16="http://schemas.microsoft.com/office/drawing/2014/main" id="{747167EA-348A-3201-0963-B8577A44BBAD}"/>
              </a:ext>
            </a:extLst>
          </p:cNvPr>
          <p:cNvSpPr txBox="1"/>
          <p:nvPr/>
        </p:nvSpPr>
        <p:spPr>
          <a:xfrm flipH="1">
            <a:off x="1105318" y="954615"/>
            <a:ext cx="4250451"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Model Architecture:</a:t>
            </a:r>
          </a:p>
        </p:txBody>
      </p:sp>
    </p:spTree>
    <p:extLst>
      <p:ext uri="{BB962C8B-B14F-4D97-AF65-F5344CB8AC3E}">
        <p14:creationId xmlns:p14="http://schemas.microsoft.com/office/powerpoint/2010/main" val="2732907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98ABFDC4-0DBE-B147-E89F-33F312F77D1F}"/>
              </a:ext>
            </a:extLst>
          </p:cNvPr>
          <p:cNvSpPr txBox="1"/>
          <p:nvPr/>
        </p:nvSpPr>
        <p:spPr>
          <a:xfrm>
            <a:off x="166729" y="1946702"/>
            <a:ext cx="13991922" cy="4185761"/>
          </a:xfrm>
          <a:prstGeom prst="rect">
            <a:avLst/>
          </a:prstGeom>
          <a:noFill/>
        </p:spPr>
        <p:txBody>
          <a:bodyPr wrap="square" rtlCol="0">
            <a:spAutoFit/>
          </a:bodyPr>
          <a:lstStyle/>
          <a:p>
            <a:pPr>
              <a:lnSpc>
                <a:spcPct val="150000"/>
              </a:lnSpc>
            </a:pPr>
            <a:r>
              <a:rPr lang="en-IN" sz="2400" dirty="0">
                <a:latin typeface="Times New Roman" panose="02020603050405020304" pitchFamily="18" charset="0"/>
                <a:cs typeface="Times New Roman" panose="02020603050405020304" pitchFamily="18" charset="0"/>
              </a:rPr>
              <a:t>1. </a:t>
            </a:r>
            <a:r>
              <a:rPr lang="en-US" sz="2400" b="1" dirty="0">
                <a:latin typeface="Times New Roman" panose="02020603050405020304" pitchFamily="18" charset="0"/>
                <a:cs typeface="Times New Roman" panose="02020603050405020304" pitchFamily="18" charset="0"/>
              </a:rPr>
              <a:t>Operating System:</a:t>
            </a:r>
            <a:r>
              <a:rPr lang="en-US" sz="2400" dirty="0">
                <a:latin typeface="Times New Roman" panose="02020603050405020304" pitchFamily="18" charset="0"/>
                <a:cs typeface="Times New Roman" panose="02020603050405020304" pitchFamily="18" charset="0"/>
              </a:rPr>
              <a:t> Windows, preferred for compatibility with deep learning tools.</a:t>
            </a:r>
            <a:endParaRPr lang="en-IN" sz="2400" dirty="0">
              <a:latin typeface="Times New Roman" panose="02020603050405020304" pitchFamily="18" charset="0"/>
              <a:cs typeface="Times New Roman" panose="02020603050405020304" pitchFamily="18" charset="0"/>
            </a:endParaRPr>
          </a:p>
          <a:p>
            <a:pPr>
              <a:lnSpc>
                <a:spcPct val="150000"/>
              </a:lnSpc>
            </a:pPr>
            <a:r>
              <a:rPr lang="en-IN" sz="2400" dirty="0">
                <a:latin typeface="Times New Roman" panose="02020603050405020304" pitchFamily="18" charset="0"/>
                <a:cs typeface="Times New Roman" panose="02020603050405020304" pitchFamily="18" charset="0"/>
              </a:rPr>
              <a:t>2. </a:t>
            </a:r>
            <a:r>
              <a:rPr lang="en-IN" sz="2400" b="1" dirty="0">
                <a:latin typeface="Times New Roman" panose="02020603050405020304" pitchFamily="18" charset="0"/>
                <a:cs typeface="Times New Roman" panose="02020603050405020304" pitchFamily="18" charset="0"/>
              </a:rPr>
              <a:t>Programming Language:</a:t>
            </a:r>
            <a:r>
              <a:rPr lang="en-IN" sz="2400" dirty="0">
                <a:latin typeface="Times New Roman" panose="02020603050405020304" pitchFamily="18" charset="0"/>
                <a:cs typeface="Times New Roman" panose="02020603050405020304" pitchFamily="18" charset="0"/>
              </a:rPr>
              <a:t> Python, the primary language used for implementing deep learning models. </a:t>
            </a:r>
          </a:p>
          <a:p>
            <a:pPr>
              <a:lnSpc>
                <a:spcPct val="150000"/>
              </a:lnSpc>
            </a:pPr>
            <a:r>
              <a:rPr lang="en-IN" sz="2400" dirty="0">
                <a:latin typeface="Times New Roman" panose="02020603050405020304" pitchFamily="18" charset="0"/>
                <a:cs typeface="Times New Roman" panose="02020603050405020304" pitchFamily="18" charset="0"/>
              </a:rPr>
              <a:t>3. </a:t>
            </a:r>
            <a:r>
              <a:rPr lang="en-IN" sz="2400" b="1" dirty="0">
                <a:latin typeface="Times New Roman" panose="02020603050405020304" pitchFamily="18" charset="0"/>
                <a:cs typeface="Times New Roman" panose="02020603050405020304" pitchFamily="18" charset="0"/>
              </a:rPr>
              <a:t>Deep Learning Frameworks:</a:t>
            </a:r>
            <a:r>
              <a:rPr lang="en-IN" sz="2400" dirty="0">
                <a:latin typeface="Times New Roman" panose="02020603050405020304" pitchFamily="18" charset="0"/>
                <a:cs typeface="Times New Roman" panose="02020603050405020304" pitchFamily="18" charset="0"/>
              </a:rPr>
              <a:t> TensorFlow with </a:t>
            </a:r>
            <a:r>
              <a:rPr lang="en-IN" sz="2400" dirty="0" err="1">
                <a:latin typeface="Times New Roman" panose="02020603050405020304" pitchFamily="18" charset="0"/>
                <a:cs typeface="Times New Roman" panose="02020603050405020304" pitchFamily="18" charset="0"/>
              </a:rPr>
              <a:t>Keras</a:t>
            </a:r>
            <a:r>
              <a:rPr lang="en-IN" sz="2400" dirty="0">
                <a:latin typeface="Times New Roman" panose="02020603050405020304" pitchFamily="18" charset="0"/>
                <a:cs typeface="Times New Roman" panose="02020603050405020304" pitchFamily="18" charset="0"/>
              </a:rPr>
              <a:t>. </a:t>
            </a:r>
          </a:p>
          <a:p>
            <a:pPr>
              <a:lnSpc>
                <a:spcPct val="150000"/>
              </a:lnSpc>
            </a:pPr>
            <a:r>
              <a:rPr lang="en-IN" sz="2400" dirty="0">
                <a:latin typeface="Times New Roman" panose="02020603050405020304" pitchFamily="18" charset="0"/>
                <a:cs typeface="Times New Roman" panose="02020603050405020304" pitchFamily="18" charset="0"/>
              </a:rPr>
              <a:t>4. </a:t>
            </a:r>
            <a:r>
              <a:rPr lang="en-IN" sz="2400" b="1" dirty="0">
                <a:latin typeface="Times New Roman" panose="02020603050405020304" pitchFamily="18" charset="0"/>
                <a:cs typeface="Times New Roman" panose="02020603050405020304" pitchFamily="18" charset="0"/>
              </a:rPr>
              <a:t>Data Processing Libraries: </a:t>
            </a:r>
            <a:r>
              <a:rPr lang="en-IN" sz="2400" dirty="0">
                <a:latin typeface="Times New Roman" panose="02020603050405020304" pitchFamily="18" charset="0"/>
                <a:cs typeface="Times New Roman" panose="02020603050405020304" pitchFamily="18" charset="0"/>
              </a:rPr>
              <a:t>NumPy and Pandas</a:t>
            </a:r>
          </a:p>
          <a:p>
            <a:pPr>
              <a:lnSpc>
                <a:spcPct val="150000"/>
              </a:lnSpc>
            </a:pPr>
            <a:r>
              <a:rPr lang="en-IN" sz="2400" dirty="0">
                <a:latin typeface="Times New Roman" panose="02020603050405020304" pitchFamily="18" charset="0"/>
                <a:cs typeface="Times New Roman" panose="02020603050405020304" pitchFamily="18" charset="0"/>
              </a:rPr>
              <a:t>5. </a:t>
            </a:r>
            <a:r>
              <a:rPr lang="en-IN" sz="2400" b="1" dirty="0">
                <a:latin typeface="Times New Roman" panose="02020603050405020304" pitchFamily="18" charset="0"/>
                <a:cs typeface="Times New Roman" panose="02020603050405020304" pitchFamily="18" charset="0"/>
              </a:rPr>
              <a:t>Visualization Tools: </a:t>
            </a:r>
            <a:r>
              <a:rPr lang="en-IN" sz="2400" dirty="0">
                <a:latin typeface="Times New Roman" panose="02020603050405020304" pitchFamily="18" charset="0"/>
                <a:cs typeface="Times New Roman" panose="02020603050405020304" pitchFamily="18" charset="0"/>
              </a:rPr>
              <a:t>Matplotlib and Seaborn: For data visualization and tracking model performance. </a:t>
            </a:r>
          </a:p>
          <a:p>
            <a:pPr>
              <a:lnSpc>
                <a:spcPct val="150000"/>
              </a:lnSpc>
            </a:pPr>
            <a:r>
              <a:rPr lang="en-IN" sz="2400" dirty="0">
                <a:latin typeface="Times New Roman" panose="02020603050405020304" pitchFamily="18" charset="0"/>
                <a:cs typeface="Times New Roman" panose="02020603050405020304" pitchFamily="18" charset="0"/>
              </a:rPr>
              <a:t>6. </a:t>
            </a:r>
            <a:r>
              <a:rPr lang="en-IN" sz="2400" b="1" dirty="0">
                <a:latin typeface="Times New Roman" panose="02020603050405020304" pitchFamily="18" charset="0"/>
                <a:cs typeface="Times New Roman" panose="02020603050405020304" pitchFamily="18" charset="0"/>
              </a:rPr>
              <a:t>Development Environment: </a:t>
            </a:r>
            <a:r>
              <a:rPr lang="en-IN" sz="2400" dirty="0" err="1">
                <a:latin typeface="Times New Roman" panose="02020603050405020304" pitchFamily="18" charset="0"/>
                <a:cs typeface="Times New Roman" panose="02020603050405020304" pitchFamily="18" charset="0"/>
              </a:rPr>
              <a:t>Jupyter</a:t>
            </a:r>
            <a:r>
              <a:rPr lang="en-IN" sz="2400" dirty="0">
                <a:latin typeface="Times New Roman" panose="02020603050405020304" pitchFamily="18" charset="0"/>
                <a:cs typeface="Times New Roman" panose="02020603050405020304" pitchFamily="18" charset="0"/>
              </a:rPr>
              <a:t> Notebook, great for interactive coding and visualizations.</a:t>
            </a:r>
          </a:p>
          <a:p>
            <a:pPr>
              <a:lnSpc>
                <a:spcPct val="150000"/>
              </a:lnSpc>
            </a:pP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5BB2494-4AF7-A903-4B09-A623A667ADF1}"/>
              </a:ext>
            </a:extLst>
          </p:cNvPr>
          <p:cNvSpPr txBox="1"/>
          <p:nvPr/>
        </p:nvSpPr>
        <p:spPr>
          <a:xfrm>
            <a:off x="2862723" y="1011694"/>
            <a:ext cx="8599934" cy="661207"/>
          </a:xfrm>
          <a:prstGeom prst="rect">
            <a:avLst/>
          </a:prstGeom>
          <a:noFill/>
        </p:spPr>
        <p:txBody>
          <a:bodyPr wrap="square">
            <a:spAutoFit/>
          </a:bodyPr>
          <a:lstStyle/>
          <a:p>
            <a:pPr algn="ctr">
              <a:lnSpc>
                <a:spcPct val="150000"/>
              </a:lnSpc>
            </a:pPr>
            <a:r>
              <a:rPr lang="en-IN" sz="2800" b="1" dirty="0">
                <a:latin typeface="Times New Roman" panose="02020603050405020304" pitchFamily="18" charset="0"/>
                <a:cs typeface="Times New Roman" panose="02020603050405020304" pitchFamily="18" charset="0"/>
              </a:rPr>
              <a:t>SYSTEM REQUIREMENTS AND SPEICIFICATION</a:t>
            </a:r>
            <a:endParaRPr lang="en-IN" sz="2800" b="1" dirty="0">
              <a:latin typeface="Times New Roman" panose="02020603050405020304" pitchFamily="18" charset="0"/>
              <a:ea typeface="Times New Roman" panose="02020603050405020304" pitchFamily="18" charset="0"/>
            </a:endParaRPr>
          </a:p>
        </p:txBody>
      </p:sp>
      <p:pic>
        <p:nvPicPr>
          <p:cNvPr id="14" name="Picture 13">
            <a:extLst>
              <a:ext uri="{FF2B5EF4-FFF2-40B4-BE49-F238E27FC236}">
                <a16:creationId xmlns:a16="http://schemas.microsoft.com/office/drawing/2014/main" id="{39A932E9-499E-8C64-3080-863B66328A1D}"/>
              </a:ext>
            </a:extLst>
          </p:cNvPr>
          <p:cNvPicPr>
            <a:picLocks noChangeAspect="1"/>
          </p:cNvPicPr>
          <p:nvPr/>
        </p:nvPicPr>
        <p:blipFill>
          <a:blip r:embed="rId2"/>
          <a:stretch>
            <a:fillRect/>
          </a:stretch>
        </p:blipFill>
        <p:spPr>
          <a:xfrm>
            <a:off x="3643" y="241002"/>
            <a:ext cx="681842" cy="390178"/>
          </a:xfrm>
          <a:prstGeom prst="rect">
            <a:avLst/>
          </a:prstGeom>
        </p:spPr>
      </p:pic>
      <p:sp>
        <p:nvSpPr>
          <p:cNvPr id="16" name="object 23">
            <a:extLst>
              <a:ext uri="{FF2B5EF4-FFF2-40B4-BE49-F238E27FC236}">
                <a16:creationId xmlns:a16="http://schemas.microsoft.com/office/drawing/2014/main" id="{7045852A-A2F3-70D1-D6DE-CF910530D045}"/>
              </a:ext>
            </a:extLst>
          </p:cNvPr>
          <p:cNvSpPr/>
          <p:nvPr/>
        </p:nvSpPr>
        <p:spPr>
          <a:xfrm>
            <a:off x="12183611" y="107719"/>
            <a:ext cx="1209819" cy="704826"/>
          </a:xfrm>
          <a:prstGeom prst="rect">
            <a:avLst/>
          </a:prstGeom>
          <a:blipFill>
            <a:blip r:embed="rId3" cstate="print"/>
            <a:stretch>
              <a:fillRect/>
            </a:stretch>
          </a:blipFill>
        </p:spPr>
        <p:txBody>
          <a:bodyPr wrap="square" lIns="0" tIns="0" rIns="0" bIns="0" rtlCol="0"/>
          <a:lstStyle/>
          <a:p>
            <a:endParaRPr>
              <a:solidFill>
                <a:prstClr val="black"/>
              </a:solidFill>
              <a:latin typeface="Aptos" panose="02110004020202020204"/>
            </a:endParaRPr>
          </a:p>
        </p:txBody>
      </p:sp>
      <p:pic>
        <p:nvPicPr>
          <p:cNvPr id="17" name="Picture 16" descr="A logo with a brain and text&#10;&#10;Description automatically generated">
            <a:extLst>
              <a:ext uri="{FF2B5EF4-FFF2-40B4-BE49-F238E27FC236}">
                <a16:creationId xmlns:a16="http://schemas.microsoft.com/office/drawing/2014/main" id="{F5A4A679-DDDB-520C-B9DC-58DDDBABA3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sp>
        <p:nvSpPr>
          <p:cNvPr id="18" name="object 21">
            <a:extLst>
              <a:ext uri="{FF2B5EF4-FFF2-40B4-BE49-F238E27FC236}">
                <a16:creationId xmlns:a16="http://schemas.microsoft.com/office/drawing/2014/main" id="{C357DBD2-FEA9-EA12-EA54-3DF16B404024}"/>
              </a:ext>
            </a:extLst>
          </p:cNvPr>
          <p:cNvSpPr/>
          <p:nvPr/>
        </p:nvSpPr>
        <p:spPr>
          <a:xfrm>
            <a:off x="833199" y="29986"/>
            <a:ext cx="2029524" cy="858129"/>
          </a:xfrm>
          <a:prstGeom prst="rect">
            <a:avLst/>
          </a:prstGeom>
          <a:blipFill>
            <a:blip r:embed="rId5"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19" name="Picture 18" descr="A yellow and orange circle with a red ribbon&#10;&#10;Description automatically generated">
            <a:extLst>
              <a:ext uri="{FF2B5EF4-FFF2-40B4-BE49-F238E27FC236}">
                <a16:creationId xmlns:a16="http://schemas.microsoft.com/office/drawing/2014/main" id="{62868A84-74E8-191F-9D7E-88BAA74BD3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20" name="Rectangle 19">
            <a:extLst>
              <a:ext uri="{FF2B5EF4-FFF2-40B4-BE49-F238E27FC236}">
                <a16:creationId xmlns:a16="http://schemas.microsoft.com/office/drawing/2014/main" id="{A8D0CF68-96F8-0FE5-5B08-021EA96B3C9C}"/>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21" name="Picture 20" descr="A close-up of a blue and gold logo&#10;&#10;Description automatically generated">
            <a:extLst>
              <a:ext uri="{FF2B5EF4-FFF2-40B4-BE49-F238E27FC236}">
                <a16:creationId xmlns:a16="http://schemas.microsoft.com/office/drawing/2014/main" id="{714A8117-68CD-FAD9-5ED8-6E364B6CA4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22" name="Picture 21">
            <a:extLst>
              <a:ext uri="{FF2B5EF4-FFF2-40B4-BE49-F238E27FC236}">
                <a16:creationId xmlns:a16="http://schemas.microsoft.com/office/drawing/2014/main" id="{31DB5D4E-633F-CA7A-517E-A8E21E580494}"/>
              </a:ext>
            </a:extLst>
          </p:cNvPr>
          <p:cNvPicPr>
            <a:picLocks noChangeAspect="1"/>
          </p:cNvPicPr>
          <p:nvPr/>
        </p:nvPicPr>
        <p:blipFill>
          <a:blip r:embed="rId8"/>
          <a:stretch>
            <a:fillRect/>
          </a:stretch>
        </p:blipFill>
        <p:spPr>
          <a:xfrm>
            <a:off x="-19559" y="7851615"/>
            <a:ext cx="14649958" cy="377985"/>
          </a:xfrm>
          <a:prstGeom prst="rect">
            <a:avLst/>
          </a:prstGeom>
        </p:spPr>
      </p:pic>
      <p:sp>
        <p:nvSpPr>
          <p:cNvPr id="23" name="TextBox 22">
            <a:extLst>
              <a:ext uri="{FF2B5EF4-FFF2-40B4-BE49-F238E27FC236}">
                <a16:creationId xmlns:a16="http://schemas.microsoft.com/office/drawing/2014/main" id="{980BCF4A-A762-AB10-6812-2CC85C4CE223}"/>
              </a:ext>
            </a:extLst>
          </p:cNvPr>
          <p:cNvSpPr txBox="1"/>
          <p:nvPr/>
        </p:nvSpPr>
        <p:spPr>
          <a:xfrm>
            <a:off x="4291663" y="7819905"/>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spTree>
    <p:extLst>
      <p:ext uri="{BB962C8B-B14F-4D97-AF65-F5344CB8AC3E}">
        <p14:creationId xmlns:p14="http://schemas.microsoft.com/office/powerpoint/2010/main" val="1469891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TextBox 21"/>
          <p:cNvSpPr txBox="1"/>
          <p:nvPr/>
        </p:nvSpPr>
        <p:spPr>
          <a:xfrm>
            <a:off x="685485" y="970862"/>
            <a:ext cx="13208990" cy="3719288"/>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HARDWARE REQUIREMENTS </a:t>
            </a:r>
          </a:p>
          <a:p>
            <a:endParaRPr lang="en-IN" sz="3200" b="1" dirty="0">
              <a:latin typeface="Times New Roman" panose="02020603050405020304" pitchFamily="18" charset="0"/>
              <a:cs typeface="Times New Roman" panose="02020603050405020304" pitchFamily="18" charset="0"/>
            </a:endParaRPr>
          </a:p>
          <a:p>
            <a:endParaRPr lang="en-IN" sz="3200" b="1" dirty="0">
              <a:latin typeface="Times New Roman" panose="02020603050405020304" pitchFamily="18" charset="0"/>
              <a:cs typeface="Times New Roman" panose="02020603050405020304" pitchFamily="18" charset="0"/>
            </a:endParaRPr>
          </a:p>
          <a:p>
            <a:pPr marL="742950" indent="-742950">
              <a:lnSpc>
                <a:spcPct val="150000"/>
              </a:lnSpc>
              <a:buAutoNum type="arabicPeriod"/>
            </a:pPr>
            <a:r>
              <a:rPr lang="en-IN" sz="2400" b="1" dirty="0">
                <a:latin typeface="Times New Roman" panose="02020603050405020304" pitchFamily="18" charset="0"/>
                <a:cs typeface="Times New Roman" panose="02020603050405020304" pitchFamily="18" charset="0"/>
              </a:rPr>
              <a:t>GPU</a:t>
            </a:r>
            <a:r>
              <a:rPr lang="en-IN" sz="2400" dirty="0">
                <a:latin typeface="Times New Roman" panose="02020603050405020304" pitchFamily="18" charset="0"/>
                <a:cs typeface="Times New Roman" panose="02020603050405020304" pitchFamily="18" charset="0"/>
              </a:rPr>
              <a:t> :NVIDIA GTX 1650 for high-performance training. </a:t>
            </a:r>
          </a:p>
          <a:p>
            <a:pPr marL="742950" indent="-742950">
              <a:lnSpc>
                <a:spcPct val="150000"/>
              </a:lnSpc>
              <a:buAutoNum type="arabicPeriod"/>
            </a:pPr>
            <a:r>
              <a:rPr lang="en-IN" sz="2400" b="1" dirty="0">
                <a:latin typeface="Times New Roman" panose="02020603050405020304" pitchFamily="18" charset="0"/>
                <a:cs typeface="Times New Roman" panose="02020603050405020304" pitchFamily="18" charset="0"/>
              </a:rPr>
              <a:t>CPU</a:t>
            </a:r>
            <a:r>
              <a:rPr lang="en-IN" sz="2400" dirty="0">
                <a:latin typeface="Times New Roman" panose="02020603050405020304" pitchFamily="18" charset="0"/>
                <a:cs typeface="Times New Roman" panose="02020603050405020304" pitchFamily="18" charset="0"/>
              </a:rPr>
              <a:t> : Intel Core i5 or AMD </a:t>
            </a:r>
            <a:r>
              <a:rPr lang="en-IN" sz="2400" dirty="0" err="1">
                <a:latin typeface="Times New Roman" panose="02020603050405020304" pitchFamily="18" charset="0"/>
                <a:cs typeface="Times New Roman" panose="02020603050405020304" pitchFamily="18" charset="0"/>
              </a:rPr>
              <a:t>Ryzen</a:t>
            </a:r>
            <a:r>
              <a:rPr lang="en-IN" sz="2400" dirty="0">
                <a:latin typeface="Times New Roman" panose="02020603050405020304" pitchFamily="18" charset="0"/>
                <a:cs typeface="Times New Roman" panose="02020603050405020304" pitchFamily="18" charset="0"/>
              </a:rPr>
              <a:t> 5 for handling computations. </a:t>
            </a:r>
          </a:p>
          <a:p>
            <a:pPr marL="742950" indent="-742950">
              <a:lnSpc>
                <a:spcPct val="150000"/>
              </a:lnSpc>
              <a:buAutoNum type="arabicPeriod"/>
            </a:pPr>
            <a:r>
              <a:rPr lang="en-IN" sz="2400" b="1" dirty="0">
                <a:latin typeface="Times New Roman" panose="02020603050405020304" pitchFamily="18" charset="0"/>
                <a:cs typeface="Times New Roman" panose="02020603050405020304" pitchFamily="18" charset="0"/>
              </a:rPr>
              <a:t>RAM</a:t>
            </a:r>
            <a:r>
              <a:rPr lang="en-IN" sz="2400" dirty="0">
                <a:latin typeface="Times New Roman" panose="02020603050405020304" pitchFamily="18" charset="0"/>
                <a:cs typeface="Times New Roman" panose="02020603050405020304" pitchFamily="18" charset="0"/>
              </a:rPr>
              <a:t> : Minimum of 8 GB </a:t>
            </a:r>
            <a:r>
              <a:rPr lang="en-IN" sz="2400" dirty="0" err="1">
                <a:latin typeface="Times New Roman" panose="02020603050405020304" pitchFamily="18" charset="0"/>
                <a:cs typeface="Times New Roman" panose="02020603050405020304" pitchFamily="18" charset="0"/>
              </a:rPr>
              <a:t>upto</a:t>
            </a:r>
            <a:r>
              <a:rPr lang="en-IN" sz="2400" dirty="0">
                <a:latin typeface="Times New Roman" panose="02020603050405020304" pitchFamily="18" charset="0"/>
                <a:cs typeface="Times New Roman" panose="02020603050405020304" pitchFamily="18" charset="0"/>
              </a:rPr>
              <a:t> 16 GB recommended for larger datasets. </a:t>
            </a:r>
          </a:p>
          <a:p>
            <a:pPr marL="742950" indent="-742950">
              <a:lnSpc>
                <a:spcPct val="150000"/>
              </a:lnSpc>
              <a:buAutoNum type="arabicPeriod"/>
            </a:pPr>
            <a:r>
              <a:rPr lang="en-IN" sz="2400" b="1" dirty="0">
                <a:latin typeface="Times New Roman" panose="02020603050405020304" pitchFamily="18" charset="0"/>
                <a:cs typeface="Times New Roman" panose="02020603050405020304" pitchFamily="18" charset="0"/>
              </a:rPr>
              <a:t>Storage</a:t>
            </a:r>
            <a:r>
              <a:rPr lang="en-IN" sz="2400" dirty="0">
                <a:latin typeface="Times New Roman" panose="02020603050405020304" pitchFamily="18" charset="0"/>
                <a:cs typeface="Times New Roman" panose="02020603050405020304" pitchFamily="18" charset="0"/>
              </a:rPr>
              <a:t> : 512 GB SSD for faster data access; consider additional storage for large datasets.</a:t>
            </a:r>
            <a:endParaRPr lang="en-US" sz="2400" b="1" dirty="0">
              <a:latin typeface="Times New Roman" panose="02020603050405020304" pitchFamily="18" charset="0"/>
              <a:cs typeface="Times New Roman" pitchFamily="18" charset="0"/>
            </a:endParaRPr>
          </a:p>
        </p:txBody>
      </p:sp>
      <p:pic>
        <p:nvPicPr>
          <p:cNvPr id="12" name="Picture 11">
            <a:extLst>
              <a:ext uri="{FF2B5EF4-FFF2-40B4-BE49-F238E27FC236}">
                <a16:creationId xmlns:a16="http://schemas.microsoft.com/office/drawing/2014/main" id="{39A932E9-499E-8C64-3080-863B66328A1D}"/>
              </a:ext>
            </a:extLst>
          </p:cNvPr>
          <p:cNvPicPr>
            <a:picLocks noChangeAspect="1"/>
          </p:cNvPicPr>
          <p:nvPr/>
        </p:nvPicPr>
        <p:blipFill>
          <a:blip r:embed="rId2"/>
          <a:stretch>
            <a:fillRect/>
          </a:stretch>
        </p:blipFill>
        <p:spPr>
          <a:xfrm>
            <a:off x="3643" y="241002"/>
            <a:ext cx="681842" cy="390178"/>
          </a:xfrm>
          <a:prstGeom prst="rect">
            <a:avLst/>
          </a:prstGeom>
        </p:spPr>
      </p:pic>
      <p:sp>
        <p:nvSpPr>
          <p:cNvPr id="13" name="object 23">
            <a:extLst>
              <a:ext uri="{FF2B5EF4-FFF2-40B4-BE49-F238E27FC236}">
                <a16:creationId xmlns:a16="http://schemas.microsoft.com/office/drawing/2014/main" id="{7045852A-A2F3-70D1-D6DE-CF910530D045}"/>
              </a:ext>
            </a:extLst>
          </p:cNvPr>
          <p:cNvSpPr/>
          <p:nvPr/>
        </p:nvSpPr>
        <p:spPr>
          <a:xfrm>
            <a:off x="12183611" y="107719"/>
            <a:ext cx="1209819" cy="704826"/>
          </a:xfrm>
          <a:prstGeom prst="rect">
            <a:avLst/>
          </a:prstGeom>
          <a:blipFill>
            <a:blip r:embed="rId3" cstate="print"/>
            <a:stretch>
              <a:fillRect/>
            </a:stretch>
          </a:blipFill>
        </p:spPr>
        <p:txBody>
          <a:bodyPr wrap="square" lIns="0" tIns="0" rIns="0" bIns="0" rtlCol="0"/>
          <a:lstStyle/>
          <a:p>
            <a:endParaRPr>
              <a:solidFill>
                <a:prstClr val="black"/>
              </a:solidFill>
              <a:latin typeface="Aptos" panose="02110004020202020204"/>
            </a:endParaRPr>
          </a:p>
        </p:txBody>
      </p:sp>
      <p:pic>
        <p:nvPicPr>
          <p:cNvPr id="14" name="Picture 13" descr="A logo with a brain and text&#10;&#10;Description automatically generated">
            <a:extLst>
              <a:ext uri="{FF2B5EF4-FFF2-40B4-BE49-F238E27FC236}">
                <a16:creationId xmlns:a16="http://schemas.microsoft.com/office/drawing/2014/main" id="{F5A4A679-DDDB-520C-B9DC-58DDDBABA3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sp>
        <p:nvSpPr>
          <p:cNvPr id="15" name="object 21">
            <a:extLst>
              <a:ext uri="{FF2B5EF4-FFF2-40B4-BE49-F238E27FC236}">
                <a16:creationId xmlns:a16="http://schemas.microsoft.com/office/drawing/2014/main" id="{C357DBD2-FEA9-EA12-EA54-3DF16B404024}"/>
              </a:ext>
            </a:extLst>
          </p:cNvPr>
          <p:cNvSpPr/>
          <p:nvPr/>
        </p:nvSpPr>
        <p:spPr>
          <a:xfrm>
            <a:off x="833199" y="29986"/>
            <a:ext cx="2029524" cy="858129"/>
          </a:xfrm>
          <a:prstGeom prst="rect">
            <a:avLst/>
          </a:prstGeom>
          <a:blipFill>
            <a:blip r:embed="rId5"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16" name="Picture 15" descr="A yellow and orange circle with a red ribbon&#10;&#10;Description automatically generated">
            <a:extLst>
              <a:ext uri="{FF2B5EF4-FFF2-40B4-BE49-F238E27FC236}">
                <a16:creationId xmlns:a16="http://schemas.microsoft.com/office/drawing/2014/main" id="{62868A84-74E8-191F-9D7E-88BAA74BD3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17" name="Rectangle 16">
            <a:extLst>
              <a:ext uri="{FF2B5EF4-FFF2-40B4-BE49-F238E27FC236}">
                <a16:creationId xmlns:a16="http://schemas.microsoft.com/office/drawing/2014/main" id="{A8D0CF68-96F8-0FE5-5B08-021EA96B3C9C}"/>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18" name="Picture 17" descr="A close-up of a blue and gold logo&#10;&#10;Description automatically generated">
            <a:extLst>
              <a:ext uri="{FF2B5EF4-FFF2-40B4-BE49-F238E27FC236}">
                <a16:creationId xmlns:a16="http://schemas.microsoft.com/office/drawing/2014/main" id="{714A8117-68CD-FAD9-5ED8-6E364B6CA4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19" name="Picture 18">
            <a:extLst>
              <a:ext uri="{FF2B5EF4-FFF2-40B4-BE49-F238E27FC236}">
                <a16:creationId xmlns:a16="http://schemas.microsoft.com/office/drawing/2014/main" id="{31DB5D4E-633F-CA7A-517E-A8E21E580494}"/>
              </a:ext>
            </a:extLst>
          </p:cNvPr>
          <p:cNvPicPr>
            <a:picLocks noChangeAspect="1"/>
          </p:cNvPicPr>
          <p:nvPr/>
        </p:nvPicPr>
        <p:blipFill>
          <a:blip r:embed="rId8"/>
          <a:stretch>
            <a:fillRect/>
          </a:stretch>
        </p:blipFill>
        <p:spPr>
          <a:xfrm>
            <a:off x="-19559" y="7851615"/>
            <a:ext cx="14649958" cy="377985"/>
          </a:xfrm>
          <a:prstGeom prst="rect">
            <a:avLst/>
          </a:prstGeom>
        </p:spPr>
      </p:pic>
      <p:sp>
        <p:nvSpPr>
          <p:cNvPr id="20" name="TextBox 19">
            <a:extLst>
              <a:ext uri="{FF2B5EF4-FFF2-40B4-BE49-F238E27FC236}">
                <a16:creationId xmlns:a16="http://schemas.microsoft.com/office/drawing/2014/main" id="{980BCF4A-A762-AB10-6812-2CC85C4CE223}"/>
              </a:ext>
            </a:extLst>
          </p:cNvPr>
          <p:cNvSpPr txBox="1"/>
          <p:nvPr/>
        </p:nvSpPr>
        <p:spPr>
          <a:xfrm>
            <a:off x="4291663" y="7819905"/>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8C71331-A11D-4B0E-DD78-4CCF4D4B9144}"/>
              </a:ext>
            </a:extLst>
          </p:cNvPr>
          <p:cNvPicPr>
            <a:picLocks noChangeAspect="1"/>
          </p:cNvPicPr>
          <p:nvPr/>
        </p:nvPicPr>
        <p:blipFill>
          <a:blip r:embed="rId2"/>
          <a:stretch>
            <a:fillRect/>
          </a:stretch>
        </p:blipFill>
        <p:spPr>
          <a:xfrm>
            <a:off x="251209" y="1518733"/>
            <a:ext cx="6951176" cy="5816835"/>
          </a:xfrm>
          <a:prstGeom prst="rect">
            <a:avLst/>
          </a:prstGeom>
        </p:spPr>
      </p:pic>
      <p:sp>
        <p:nvSpPr>
          <p:cNvPr id="18" name="TextBox 17">
            <a:extLst>
              <a:ext uri="{FF2B5EF4-FFF2-40B4-BE49-F238E27FC236}">
                <a16:creationId xmlns:a16="http://schemas.microsoft.com/office/drawing/2014/main" id="{1B75FB3E-C79D-160A-FFEC-28BB86B68EED}"/>
              </a:ext>
            </a:extLst>
          </p:cNvPr>
          <p:cNvSpPr txBox="1"/>
          <p:nvPr/>
        </p:nvSpPr>
        <p:spPr>
          <a:xfrm>
            <a:off x="2823906" y="787677"/>
            <a:ext cx="7323364"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R</a:t>
            </a:r>
            <a:r>
              <a:rPr lang="en-IN" sz="3200" b="1" dirty="0">
                <a:latin typeface="Times New Roman" panose="02020603050405020304" pitchFamily="18" charset="0"/>
                <a:cs typeface="Times New Roman" panose="02020603050405020304" pitchFamily="18" charset="0"/>
              </a:rPr>
              <a:t>ESULTS</a:t>
            </a:r>
            <a:endParaRPr lang="en-IN" sz="4000" b="1"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39A932E9-499E-8C64-3080-863B66328A1D}"/>
              </a:ext>
            </a:extLst>
          </p:cNvPr>
          <p:cNvPicPr>
            <a:picLocks noChangeAspect="1"/>
          </p:cNvPicPr>
          <p:nvPr/>
        </p:nvPicPr>
        <p:blipFill>
          <a:blip r:embed="rId3"/>
          <a:stretch>
            <a:fillRect/>
          </a:stretch>
        </p:blipFill>
        <p:spPr>
          <a:xfrm>
            <a:off x="3643" y="241002"/>
            <a:ext cx="681842" cy="390178"/>
          </a:xfrm>
          <a:prstGeom prst="rect">
            <a:avLst/>
          </a:prstGeom>
        </p:spPr>
      </p:pic>
      <p:sp>
        <p:nvSpPr>
          <p:cNvPr id="17" name="object 23">
            <a:extLst>
              <a:ext uri="{FF2B5EF4-FFF2-40B4-BE49-F238E27FC236}">
                <a16:creationId xmlns:a16="http://schemas.microsoft.com/office/drawing/2014/main" id="{7045852A-A2F3-70D1-D6DE-CF910530D045}"/>
              </a:ext>
            </a:extLst>
          </p:cNvPr>
          <p:cNvSpPr/>
          <p:nvPr/>
        </p:nvSpPr>
        <p:spPr>
          <a:xfrm>
            <a:off x="12183611" y="107719"/>
            <a:ext cx="1209819" cy="704826"/>
          </a:xfrm>
          <a:prstGeom prst="rect">
            <a:avLst/>
          </a:prstGeom>
          <a:blipFill>
            <a:blip r:embed="rId4" cstate="print"/>
            <a:stretch>
              <a:fillRect/>
            </a:stretch>
          </a:blipFill>
        </p:spPr>
        <p:txBody>
          <a:bodyPr wrap="square" lIns="0" tIns="0" rIns="0" bIns="0" rtlCol="0"/>
          <a:lstStyle/>
          <a:p>
            <a:endParaRPr>
              <a:solidFill>
                <a:prstClr val="black"/>
              </a:solidFill>
              <a:latin typeface="Aptos" panose="02110004020202020204"/>
            </a:endParaRPr>
          </a:p>
        </p:txBody>
      </p:sp>
      <p:pic>
        <p:nvPicPr>
          <p:cNvPr id="19" name="Picture 18" descr="A logo with a brain and text&#10;&#10;Description automatically generated">
            <a:extLst>
              <a:ext uri="{FF2B5EF4-FFF2-40B4-BE49-F238E27FC236}">
                <a16:creationId xmlns:a16="http://schemas.microsoft.com/office/drawing/2014/main" id="{F5A4A679-DDDB-520C-B9DC-58DDDBABA3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sp>
        <p:nvSpPr>
          <p:cNvPr id="20" name="object 21">
            <a:extLst>
              <a:ext uri="{FF2B5EF4-FFF2-40B4-BE49-F238E27FC236}">
                <a16:creationId xmlns:a16="http://schemas.microsoft.com/office/drawing/2014/main" id="{C357DBD2-FEA9-EA12-EA54-3DF16B404024}"/>
              </a:ext>
            </a:extLst>
          </p:cNvPr>
          <p:cNvSpPr/>
          <p:nvPr/>
        </p:nvSpPr>
        <p:spPr>
          <a:xfrm>
            <a:off x="833199" y="29986"/>
            <a:ext cx="2029524" cy="858129"/>
          </a:xfrm>
          <a:prstGeom prst="rect">
            <a:avLst/>
          </a:prstGeom>
          <a:blipFill>
            <a:blip r:embed="rId6"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21" name="Picture 20" descr="A yellow and orange circle with a red ribbon&#10;&#10;Description automatically generated">
            <a:extLst>
              <a:ext uri="{FF2B5EF4-FFF2-40B4-BE49-F238E27FC236}">
                <a16:creationId xmlns:a16="http://schemas.microsoft.com/office/drawing/2014/main" id="{62868A84-74E8-191F-9D7E-88BAA74BD33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22" name="Rectangle 21">
            <a:extLst>
              <a:ext uri="{FF2B5EF4-FFF2-40B4-BE49-F238E27FC236}">
                <a16:creationId xmlns:a16="http://schemas.microsoft.com/office/drawing/2014/main" id="{A8D0CF68-96F8-0FE5-5B08-021EA96B3C9C}"/>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23" name="Picture 22" descr="A close-up of a blue and gold logo&#10;&#10;Description automatically generated">
            <a:extLst>
              <a:ext uri="{FF2B5EF4-FFF2-40B4-BE49-F238E27FC236}">
                <a16:creationId xmlns:a16="http://schemas.microsoft.com/office/drawing/2014/main" id="{714A8117-68CD-FAD9-5ED8-6E364B6CA43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24" name="Picture 23">
            <a:extLst>
              <a:ext uri="{FF2B5EF4-FFF2-40B4-BE49-F238E27FC236}">
                <a16:creationId xmlns:a16="http://schemas.microsoft.com/office/drawing/2014/main" id="{31DB5D4E-633F-CA7A-517E-A8E21E580494}"/>
              </a:ext>
            </a:extLst>
          </p:cNvPr>
          <p:cNvPicPr>
            <a:picLocks noChangeAspect="1"/>
          </p:cNvPicPr>
          <p:nvPr/>
        </p:nvPicPr>
        <p:blipFill>
          <a:blip r:embed="rId9"/>
          <a:stretch>
            <a:fillRect/>
          </a:stretch>
        </p:blipFill>
        <p:spPr>
          <a:xfrm>
            <a:off x="-19559" y="7851615"/>
            <a:ext cx="14649958" cy="377985"/>
          </a:xfrm>
          <a:prstGeom prst="rect">
            <a:avLst/>
          </a:prstGeom>
        </p:spPr>
      </p:pic>
      <p:sp>
        <p:nvSpPr>
          <p:cNvPr id="25" name="TextBox 24">
            <a:extLst>
              <a:ext uri="{FF2B5EF4-FFF2-40B4-BE49-F238E27FC236}">
                <a16:creationId xmlns:a16="http://schemas.microsoft.com/office/drawing/2014/main" id="{980BCF4A-A762-AB10-6812-2CC85C4CE223}"/>
              </a:ext>
            </a:extLst>
          </p:cNvPr>
          <p:cNvSpPr txBox="1"/>
          <p:nvPr/>
        </p:nvSpPr>
        <p:spPr>
          <a:xfrm>
            <a:off x="4291663" y="7819905"/>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pic>
        <p:nvPicPr>
          <p:cNvPr id="5" name="Picture 4">
            <a:extLst>
              <a:ext uri="{FF2B5EF4-FFF2-40B4-BE49-F238E27FC236}">
                <a16:creationId xmlns:a16="http://schemas.microsoft.com/office/drawing/2014/main" id="{45EB4FEB-82D0-94AB-84D6-DA6755BF4BE3}"/>
              </a:ext>
            </a:extLst>
          </p:cNvPr>
          <p:cNvPicPr>
            <a:picLocks noChangeAspect="1"/>
          </p:cNvPicPr>
          <p:nvPr/>
        </p:nvPicPr>
        <p:blipFill>
          <a:blip r:embed="rId10"/>
          <a:stretch>
            <a:fillRect/>
          </a:stretch>
        </p:blipFill>
        <p:spPr>
          <a:xfrm>
            <a:off x="7202385" y="1688009"/>
            <a:ext cx="7295056" cy="5643312"/>
          </a:xfrm>
          <a:prstGeom prst="rect">
            <a:avLst/>
          </a:prstGeom>
        </p:spPr>
      </p:pic>
    </p:spTree>
    <p:extLst>
      <p:ext uri="{BB962C8B-B14F-4D97-AF65-F5344CB8AC3E}">
        <p14:creationId xmlns:p14="http://schemas.microsoft.com/office/powerpoint/2010/main" val="1910031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709D5DC8-63AC-C065-7956-F00F74103AD0}"/>
              </a:ext>
            </a:extLst>
          </p:cNvPr>
          <p:cNvSpPr txBox="1"/>
          <p:nvPr/>
        </p:nvSpPr>
        <p:spPr>
          <a:xfrm>
            <a:off x="2964585" y="778033"/>
            <a:ext cx="7323364"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R</a:t>
            </a:r>
            <a:r>
              <a:rPr lang="en-IN" sz="3200" b="1" dirty="0">
                <a:latin typeface="Times New Roman" panose="02020603050405020304" pitchFamily="18" charset="0"/>
                <a:cs typeface="Times New Roman" panose="02020603050405020304" pitchFamily="18" charset="0"/>
              </a:rPr>
              <a:t>ESULTS</a:t>
            </a:r>
            <a:endParaRPr lang="en-IN" sz="4000" b="1"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39A932E9-499E-8C64-3080-863B66328A1D}"/>
              </a:ext>
            </a:extLst>
          </p:cNvPr>
          <p:cNvPicPr>
            <a:picLocks noChangeAspect="1"/>
          </p:cNvPicPr>
          <p:nvPr/>
        </p:nvPicPr>
        <p:blipFill>
          <a:blip r:embed="rId2"/>
          <a:stretch>
            <a:fillRect/>
          </a:stretch>
        </p:blipFill>
        <p:spPr>
          <a:xfrm>
            <a:off x="3643" y="241002"/>
            <a:ext cx="681842" cy="390178"/>
          </a:xfrm>
          <a:prstGeom prst="rect">
            <a:avLst/>
          </a:prstGeom>
        </p:spPr>
      </p:pic>
      <p:sp>
        <p:nvSpPr>
          <p:cNvPr id="17" name="object 23">
            <a:extLst>
              <a:ext uri="{FF2B5EF4-FFF2-40B4-BE49-F238E27FC236}">
                <a16:creationId xmlns:a16="http://schemas.microsoft.com/office/drawing/2014/main" id="{7045852A-A2F3-70D1-D6DE-CF910530D045}"/>
              </a:ext>
            </a:extLst>
          </p:cNvPr>
          <p:cNvSpPr/>
          <p:nvPr/>
        </p:nvSpPr>
        <p:spPr>
          <a:xfrm>
            <a:off x="12183611" y="107719"/>
            <a:ext cx="1209819" cy="704826"/>
          </a:xfrm>
          <a:prstGeom prst="rect">
            <a:avLst/>
          </a:prstGeom>
          <a:blipFill>
            <a:blip r:embed="rId3" cstate="print"/>
            <a:stretch>
              <a:fillRect/>
            </a:stretch>
          </a:blipFill>
        </p:spPr>
        <p:txBody>
          <a:bodyPr wrap="square" lIns="0" tIns="0" rIns="0" bIns="0" rtlCol="0"/>
          <a:lstStyle/>
          <a:p>
            <a:endParaRPr>
              <a:solidFill>
                <a:prstClr val="black"/>
              </a:solidFill>
              <a:latin typeface="Aptos" panose="02110004020202020204"/>
            </a:endParaRPr>
          </a:p>
        </p:txBody>
      </p:sp>
      <p:pic>
        <p:nvPicPr>
          <p:cNvPr id="18" name="Picture 17" descr="A logo with a brain and text&#10;&#10;Description automatically generated">
            <a:extLst>
              <a:ext uri="{FF2B5EF4-FFF2-40B4-BE49-F238E27FC236}">
                <a16:creationId xmlns:a16="http://schemas.microsoft.com/office/drawing/2014/main" id="{F5A4A679-DDDB-520C-B9DC-58DDDBABA3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sp>
        <p:nvSpPr>
          <p:cNvPr id="19" name="object 21">
            <a:extLst>
              <a:ext uri="{FF2B5EF4-FFF2-40B4-BE49-F238E27FC236}">
                <a16:creationId xmlns:a16="http://schemas.microsoft.com/office/drawing/2014/main" id="{C357DBD2-FEA9-EA12-EA54-3DF16B404024}"/>
              </a:ext>
            </a:extLst>
          </p:cNvPr>
          <p:cNvSpPr/>
          <p:nvPr/>
        </p:nvSpPr>
        <p:spPr>
          <a:xfrm>
            <a:off x="833199" y="29986"/>
            <a:ext cx="2029524" cy="858129"/>
          </a:xfrm>
          <a:prstGeom prst="rect">
            <a:avLst/>
          </a:prstGeom>
          <a:blipFill>
            <a:blip r:embed="rId5"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20" name="Picture 19" descr="A yellow and orange circle with a red ribbon&#10;&#10;Description automatically generated">
            <a:extLst>
              <a:ext uri="{FF2B5EF4-FFF2-40B4-BE49-F238E27FC236}">
                <a16:creationId xmlns:a16="http://schemas.microsoft.com/office/drawing/2014/main" id="{62868A84-74E8-191F-9D7E-88BAA74BD3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21" name="Rectangle 20">
            <a:extLst>
              <a:ext uri="{FF2B5EF4-FFF2-40B4-BE49-F238E27FC236}">
                <a16:creationId xmlns:a16="http://schemas.microsoft.com/office/drawing/2014/main" id="{A8D0CF68-96F8-0FE5-5B08-021EA96B3C9C}"/>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22" name="Picture 21" descr="A close-up of a blue and gold logo&#10;&#10;Description automatically generated">
            <a:extLst>
              <a:ext uri="{FF2B5EF4-FFF2-40B4-BE49-F238E27FC236}">
                <a16:creationId xmlns:a16="http://schemas.microsoft.com/office/drawing/2014/main" id="{714A8117-68CD-FAD9-5ED8-6E364B6CA4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23" name="Picture 22">
            <a:extLst>
              <a:ext uri="{FF2B5EF4-FFF2-40B4-BE49-F238E27FC236}">
                <a16:creationId xmlns:a16="http://schemas.microsoft.com/office/drawing/2014/main" id="{31DB5D4E-633F-CA7A-517E-A8E21E580494}"/>
              </a:ext>
            </a:extLst>
          </p:cNvPr>
          <p:cNvPicPr>
            <a:picLocks noChangeAspect="1"/>
          </p:cNvPicPr>
          <p:nvPr/>
        </p:nvPicPr>
        <p:blipFill>
          <a:blip r:embed="rId8"/>
          <a:stretch>
            <a:fillRect/>
          </a:stretch>
        </p:blipFill>
        <p:spPr>
          <a:xfrm>
            <a:off x="-19559" y="7851615"/>
            <a:ext cx="14649958" cy="377985"/>
          </a:xfrm>
          <a:prstGeom prst="rect">
            <a:avLst/>
          </a:prstGeom>
        </p:spPr>
      </p:pic>
      <p:sp>
        <p:nvSpPr>
          <p:cNvPr id="24" name="TextBox 23">
            <a:extLst>
              <a:ext uri="{FF2B5EF4-FFF2-40B4-BE49-F238E27FC236}">
                <a16:creationId xmlns:a16="http://schemas.microsoft.com/office/drawing/2014/main" id="{980BCF4A-A762-AB10-6812-2CC85C4CE223}"/>
              </a:ext>
            </a:extLst>
          </p:cNvPr>
          <p:cNvSpPr txBox="1"/>
          <p:nvPr/>
        </p:nvSpPr>
        <p:spPr>
          <a:xfrm>
            <a:off x="4291663" y="7819905"/>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pic>
        <p:nvPicPr>
          <p:cNvPr id="3" name="Picture 2">
            <a:extLst>
              <a:ext uri="{FF2B5EF4-FFF2-40B4-BE49-F238E27FC236}">
                <a16:creationId xmlns:a16="http://schemas.microsoft.com/office/drawing/2014/main" id="{A7531A53-B55A-60A9-9CF1-FB32CD87FFB8}"/>
              </a:ext>
            </a:extLst>
          </p:cNvPr>
          <p:cNvPicPr>
            <a:picLocks noChangeAspect="1"/>
          </p:cNvPicPr>
          <p:nvPr/>
        </p:nvPicPr>
        <p:blipFill>
          <a:blip r:embed="rId9"/>
          <a:stretch>
            <a:fillRect/>
          </a:stretch>
        </p:blipFill>
        <p:spPr>
          <a:xfrm>
            <a:off x="429558" y="1534258"/>
            <a:ext cx="7724209" cy="5852667"/>
          </a:xfrm>
          <a:prstGeom prst="rect">
            <a:avLst/>
          </a:prstGeom>
        </p:spPr>
      </p:pic>
      <p:pic>
        <p:nvPicPr>
          <p:cNvPr id="5" name="Picture 4">
            <a:extLst>
              <a:ext uri="{FF2B5EF4-FFF2-40B4-BE49-F238E27FC236}">
                <a16:creationId xmlns:a16="http://schemas.microsoft.com/office/drawing/2014/main" id="{6B2D2793-C3D2-1932-B9A6-E7B164D63D1E}"/>
              </a:ext>
            </a:extLst>
          </p:cNvPr>
          <p:cNvPicPr>
            <a:picLocks noChangeAspect="1"/>
          </p:cNvPicPr>
          <p:nvPr/>
        </p:nvPicPr>
        <p:blipFill>
          <a:blip r:embed="rId10"/>
          <a:stretch>
            <a:fillRect/>
          </a:stretch>
        </p:blipFill>
        <p:spPr>
          <a:xfrm>
            <a:off x="7315200" y="1842230"/>
            <a:ext cx="6668431" cy="5306165"/>
          </a:xfrm>
          <a:prstGeom prst="rect">
            <a:avLst/>
          </a:prstGeom>
        </p:spPr>
      </p:pic>
    </p:spTree>
    <p:extLst>
      <p:ext uri="{BB962C8B-B14F-4D97-AF65-F5344CB8AC3E}">
        <p14:creationId xmlns:p14="http://schemas.microsoft.com/office/powerpoint/2010/main" val="2876390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7723ECBD-5A63-6338-CDA4-4039D59E8652}"/>
              </a:ext>
            </a:extLst>
          </p:cNvPr>
          <p:cNvSpPr txBox="1"/>
          <p:nvPr/>
        </p:nvSpPr>
        <p:spPr>
          <a:xfrm>
            <a:off x="2909303" y="795647"/>
            <a:ext cx="7323364"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R</a:t>
            </a:r>
            <a:r>
              <a:rPr lang="en-IN" sz="3200" b="1" dirty="0">
                <a:latin typeface="Times New Roman" panose="02020603050405020304" pitchFamily="18" charset="0"/>
                <a:cs typeface="Times New Roman" panose="02020603050405020304" pitchFamily="18" charset="0"/>
              </a:rPr>
              <a:t>ESULTS</a:t>
            </a:r>
            <a:endParaRPr lang="en-IN" sz="40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742A497D-2A64-B6F8-A48E-D2E909CDBC6A}"/>
              </a:ext>
            </a:extLst>
          </p:cNvPr>
          <p:cNvPicPr>
            <a:picLocks noChangeAspect="1"/>
          </p:cNvPicPr>
          <p:nvPr/>
        </p:nvPicPr>
        <p:blipFill>
          <a:blip r:embed="rId2"/>
          <a:stretch>
            <a:fillRect/>
          </a:stretch>
        </p:blipFill>
        <p:spPr>
          <a:xfrm>
            <a:off x="1518557" y="1474433"/>
            <a:ext cx="11413672" cy="6069050"/>
          </a:xfrm>
          <a:prstGeom prst="rect">
            <a:avLst/>
          </a:prstGeom>
        </p:spPr>
      </p:pic>
      <p:pic>
        <p:nvPicPr>
          <p:cNvPr id="14" name="Picture 13">
            <a:extLst>
              <a:ext uri="{FF2B5EF4-FFF2-40B4-BE49-F238E27FC236}">
                <a16:creationId xmlns:a16="http://schemas.microsoft.com/office/drawing/2014/main" id="{39A932E9-499E-8C64-3080-863B66328A1D}"/>
              </a:ext>
            </a:extLst>
          </p:cNvPr>
          <p:cNvPicPr>
            <a:picLocks noChangeAspect="1"/>
          </p:cNvPicPr>
          <p:nvPr/>
        </p:nvPicPr>
        <p:blipFill>
          <a:blip r:embed="rId3"/>
          <a:stretch>
            <a:fillRect/>
          </a:stretch>
        </p:blipFill>
        <p:spPr>
          <a:xfrm>
            <a:off x="3643" y="241002"/>
            <a:ext cx="681842" cy="390178"/>
          </a:xfrm>
          <a:prstGeom prst="rect">
            <a:avLst/>
          </a:prstGeom>
        </p:spPr>
      </p:pic>
      <p:sp>
        <p:nvSpPr>
          <p:cNvPr id="15" name="object 23">
            <a:extLst>
              <a:ext uri="{FF2B5EF4-FFF2-40B4-BE49-F238E27FC236}">
                <a16:creationId xmlns:a16="http://schemas.microsoft.com/office/drawing/2014/main" id="{7045852A-A2F3-70D1-D6DE-CF910530D045}"/>
              </a:ext>
            </a:extLst>
          </p:cNvPr>
          <p:cNvSpPr/>
          <p:nvPr/>
        </p:nvSpPr>
        <p:spPr>
          <a:xfrm>
            <a:off x="12183611" y="107719"/>
            <a:ext cx="1209819" cy="704826"/>
          </a:xfrm>
          <a:prstGeom prst="rect">
            <a:avLst/>
          </a:prstGeom>
          <a:blipFill>
            <a:blip r:embed="rId4" cstate="print"/>
            <a:stretch>
              <a:fillRect/>
            </a:stretch>
          </a:blipFill>
        </p:spPr>
        <p:txBody>
          <a:bodyPr wrap="square" lIns="0" tIns="0" rIns="0" bIns="0" rtlCol="0"/>
          <a:lstStyle/>
          <a:p>
            <a:endParaRPr>
              <a:solidFill>
                <a:prstClr val="black"/>
              </a:solidFill>
              <a:latin typeface="Aptos" panose="02110004020202020204"/>
            </a:endParaRPr>
          </a:p>
        </p:txBody>
      </p:sp>
      <p:pic>
        <p:nvPicPr>
          <p:cNvPr id="16" name="Picture 15" descr="A logo with a brain and text&#10;&#10;Description automatically generated">
            <a:extLst>
              <a:ext uri="{FF2B5EF4-FFF2-40B4-BE49-F238E27FC236}">
                <a16:creationId xmlns:a16="http://schemas.microsoft.com/office/drawing/2014/main" id="{F5A4A679-DDDB-520C-B9DC-58DDDBABA3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sp>
        <p:nvSpPr>
          <p:cNvPr id="17" name="object 21">
            <a:extLst>
              <a:ext uri="{FF2B5EF4-FFF2-40B4-BE49-F238E27FC236}">
                <a16:creationId xmlns:a16="http://schemas.microsoft.com/office/drawing/2014/main" id="{C357DBD2-FEA9-EA12-EA54-3DF16B404024}"/>
              </a:ext>
            </a:extLst>
          </p:cNvPr>
          <p:cNvSpPr/>
          <p:nvPr/>
        </p:nvSpPr>
        <p:spPr>
          <a:xfrm>
            <a:off x="833199" y="29986"/>
            <a:ext cx="2029524" cy="858129"/>
          </a:xfrm>
          <a:prstGeom prst="rect">
            <a:avLst/>
          </a:prstGeom>
          <a:blipFill>
            <a:blip r:embed="rId6"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18" name="Picture 17" descr="A yellow and orange circle with a red ribbon&#10;&#10;Description automatically generated">
            <a:extLst>
              <a:ext uri="{FF2B5EF4-FFF2-40B4-BE49-F238E27FC236}">
                <a16:creationId xmlns:a16="http://schemas.microsoft.com/office/drawing/2014/main" id="{62868A84-74E8-191F-9D7E-88BAA74BD33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19" name="Rectangle 18">
            <a:extLst>
              <a:ext uri="{FF2B5EF4-FFF2-40B4-BE49-F238E27FC236}">
                <a16:creationId xmlns:a16="http://schemas.microsoft.com/office/drawing/2014/main" id="{A8D0CF68-96F8-0FE5-5B08-021EA96B3C9C}"/>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20" name="Picture 19" descr="A close-up of a blue and gold logo&#10;&#10;Description automatically generated">
            <a:extLst>
              <a:ext uri="{FF2B5EF4-FFF2-40B4-BE49-F238E27FC236}">
                <a16:creationId xmlns:a16="http://schemas.microsoft.com/office/drawing/2014/main" id="{714A8117-68CD-FAD9-5ED8-6E364B6CA43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21" name="Picture 20">
            <a:extLst>
              <a:ext uri="{FF2B5EF4-FFF2-40B4-BE49-F238E27FC236}">
                <a16:creationId xmlns:a16="http://schemas.microsoft.com/office/drawing/2014/main" id="{31DB5D4E-633F-CA7A-517E-A8E21E580494}"/>
              </a:ext>
            </a:extLst>
          </p:cNvPr>
          <p:cNvPicPr>
            <a:picLocks noChangeAspect="1"/>
          </p:cNvPicPr>
          <p:nvPr/>
        </p:nvPicPr>
        <p:blipFill>
          <a:blip r:embed="rId9"/>
          <a:stretch>
            <a:fillRect/>
          </a:stretch>
        </p:blipFill>
        <p:spPr>
          <a:xfrm>
            <a:off x="-19559" y="7851615"/>
            <a:ext cx="14649958" cy="377985"/>
          </a:xfrm>
          <a:prstGeom prst="rect">
            <a:avLst/>
          </a:prstGeom>
        </p:spPr>
      </p:pic>
      <p:sp>
        <p:nvSpPr>
          <p:cNvPr id="22" name="TextBox 21">
            <a:extLst>
              <a:ext uri="{FF2B5EF4-FFF2-40B4-BE49-F238E27FC236}">
                <a16:creationId xmlns:a16="http://schemas.microsoft.com/office/drawing/2014/main" id="{980BCF4A-A762-AB10-6812-2CC85C4CE223}"/>
              </a:ext>
            </a:extLst>
          </p:cNvPr>
          <p:cNvSpPr txBox="1"/>
          <p:nvPr/>
        </p:nvSpPr>
        <p:spPr>
          <a:xfrm>
            <a:off x="4291663" y="7819905"/>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spTree>
    <p:extLst>
      <p:ext uri="{BB962C8B-B14F-4D97-AF65-F5344CB8AC3E}">
        <p14:creationId xmlns:p14="http://schemas.microsoft.com/office/powerpoint/2010/main" val="16922445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89335590-D9EC-6385-CCC8-464F833CE598}"/>
              </a:ext>
            </a:extLst>
          </p:cNvPr>
          <p:cNvPicPr>
            <a:picLocks noChangeAspect="1"/>
          </p:cNvPicPr>
          <p:nvPr/>
        </p:nvPicPr>
        <p:blipFill>
          <a:blip r:embed="rId2"/>
          <a:stretch>
            <a:fillRect/>
          </a:stretch>
        </p:blipFill>
        <p:spPr>
          <a:xfrm>
            <a:off x="9146143" y="0"/>
            <a:ext cx="5484257" cy="8229600"/>
          </a:xfrm>
          <a:prstGeom prst="rect">
            <a:avLst/>
          </a:prstGeom>
        </p:spPr>
      </p:pic>
      <p:pic>
        <p:nvPicPr>
          <p:cNvPr id="2" name="Picture 1">
            <a:extLst>
              <a:ext uri="{FF2B5EF4-FFF2-40B4-BE49-F238E27FC236}">
                <a16:creationId xmlns:a16="http://schemas.microsoft.com/office/drawing/2014/main" id="{68E89748-FCDA-0A3E-0C4F-CC0F4499D55B}"/>
              </a:ext>
            </a:extLst>
          </p:cNvPr>
          <p:cNvPicPr>
            <a:picLocks noChangeAspect="1"/>
          </p:cNvPicPr>
          <p:nvPr/>
        </p:nvPicPr>
        <p:blipFill>
          <a:blip r:embed="rId3"/>
          <a:stretch>
            <a:fillRect/>
          </a:stretch>
        </p:blipFill>
        <p:spPr>
          <a:xfrm>
            <a:off x="3643" y="241002"/>
            <a:ext cx="681842" cy="390178"/>
          </a:xfrm>
          <a:prstGeom prst="rect">
            <a:avLst/>
          </a:prstGeom>
        </p:spPr>
      </p:pic>
      <p:sp>
        <p:nvSpPr>
          <p:cNvPr id="5" name="object 21">
            <a:extLst>
              <a:ext uri="{FF2B5EF4-FFF2-40B4-BE49-F238E27FC236}">
                <a16:creationId xmlns:a16="http://schemas.microsoft.com/office/drawing/2014/main" id="{FC1F2F4A-294D-A9BC-8B23-1FD41B9AD2CD}"/>
              </a:ext>
            </a:extLst>
          </p:cNvPr>
          <p:cNvSpPr/>
          <p:nvPr/>
        </p:nvSpPr>
        <p:spPr>
          <a:xfrm>
            <a:off x="833199" y="29986"/>
            <a:ext cx="2029524" cy="858129"/>
          </a:xfrm>
          <a:prstGeom prst="rect">
            <a:avLst/>
          </a:prstGeom>
          <a:blipFill>
            <a:blip r:embed="rId4" cstate="print"/>
            <a:stretch>
              <a:fillRect/>
            </a:stretch>
          </a:blipFill>
        </p:spPr>
        <p:txBody>
          <a:bodyPr wrap="square" lIns="0" tIns="0" rIns="0" bIns="0" rtlCol="0"/>
          <a:lstStyle/>
          <a:p>
            <a:endParaRPr dirty="0">
              <a:solidFill>
                <a:prstClr val="black"/>
              </a:solidFill>
              <a:latin typeface="Aptos" panose="02110004020202020204"/>
            </a:endParaRPr>
          </a:p>
        </p:txBody>
      </p:sp>
      <p:sp>
        <p:nvSpPr>
          <p:cNvPr id="18" name="object 23">
            <a:extLst>
              <a:ext uri="{FF2B5EF4-FFF2-40B4-BE49-F238E27FC236}">
                <a16:creationId xmlns:a16="http://schemas.microsoft.com/office/drawing/2014/main" id="{8FFA70BD-4393-0C2E-DD7C-9E9ABD30E252}"/>
              </a:ext>
            </a:extLst>
          </p:cNvPr>
          <p:cNvSpPr/>
          <p:nvPr/>
        </p:nvSpPr>
        <p:spPr>
          <a:xfrm>
            <a:off x="12183611" y="107719"/>
            <a:ext cx="1209819" cy="704826"/>
          </a:xfrm>
          <a:prstGeom prst="rect">
            <a:avLst/>
          </a:prstGeom>
          <a:blipFill>
            <a:blip r:embed="rId5" cstate="print"/>
            <a:stretch>
              <a:fillRect/>
            </a:stretch>
          </a:blipFill>
        </p:spPr>
        <p:txBody>
          <a:bodyPr wrap="square" lIns="0" tIns="0" rIns="0" bIns="0" rtlCol="0"/>
          <a:lstStyle/>
          <a:p>
            <a:endParaRPr>
              <a:solidFill>
                <a:prstClr val="black"/>
              </a:solidFill>
              <a:latin typeface="Aptos" panose="02110004020202020204"/>
            </a:endParaRPr>
          </a:p>
        </p:txBody>
      </p:sp>
      <p:pic>
        <p:nvPicPr>
          <p:cNvPr id="19" name="Picture 18" descr="A logo with a brain and text&#10;&#10;Description automatically generated">
            <a:extLst>
              <a:ext uri="{FF2B5EF4-FFF2-40B4-BE49-F238E27FC236}">
                <a16:creationId xmlns:a16="http://schemas.microsoft.com/office/drawing/2014/main" id="{60435EA9-B1B6-296A-9B66-AFB45F104DA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pic>
        <p:nvPicPr>
          <p:cNvPr id="20" name="Picture 19" descr="A yellow and orange circle with a red ribbon&#10;&#10;Description automatically generated">
            <a:extLst>
              <a:ext uri="{FF2B5EF4-FFF2-40B4-BE49-F238E27FC236}">
                <a16:creationId xmlns:a16="http://schemas.microsoft.com/office/drawing/2014/main" id="{8E4D0E6B-625F-14F9-84F8-DD56FFAB8DF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21" name="Rectangle 20">
            <a:extLst>
              <a:ext uri="{FF2B5EF4-FFF2-40B4-BE49-F238E27FC236}">
                <a16:creationId xmlns:a16="http://schemas.microsoft.com/office/drawing/2014/main" id="{8A0E17BE-B7F8-53ED-7485-B1061D8EB1A7}"/>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22" name="Picture 21" descr="A close-up of a blue and gold logo&#10;&#10;Description automatically generated">
            <a:extLst>
              <a:ext uri="{FF2B5EF4-FFF2-40B4-BE49-F238E27FC236}">
                <a16:creationId xmlns:a16="http://schemas.microsoft.com/office/drawing/2014/main" id="{6AD7F874-BCE1-38E2-7E77-C58CE1966E5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23" name="Picture 22">
            <a:extLst>
              <a:ext uri="{FF2B5EF4-FFF2-40B4-BE49-F238E27FC236}">
                <a16:creationId xmlns:a16="http://schemas.microsoft.com/office/drawing/2014/main" id="{9B8E5767-374E-95D9-37C1-943F23A103D9}"/>
              </a:ext>
            </a:extLst>
          </p:cNvPr>
          <p:cNvPicPr>
            <a:picLocks noChangeAspect="1"/>
          </p:cNvPicPr>
          <p:nvPr/>
        </p:nvPicPr>
        <p:blipFill>
          <a:blip r:embed="rId9"/>
          <a:stretch>
            <a:fillRect/>
          </a:stretch>
        </p:blipFill>
        <p:spPr>
          <a:xfrm>
            <a:off x="-19559" y="7851615"/>
            <a:ext cx="14649958" cy="377985"/>
          </a:xfrm>
          <a:prstGeom prst="rect">
            <a:avLst/>
          </a:prstGeom>
        </p:spPr>
      </p:pic>
      <p:sp>
        <p:nvSpPr>
          <p:cNvPr id="24" name="TextBox 23">
            <a:extLst>
              <a:ext uri="{FF2B5EF4-FFF2-40B4-BE49-F238E27FC236}">
                <a16:creationId xmlns:a16="http://schemas.microsoft.com/office/drawing/2014/main" id="{50B8502B-55A9-5DB0-08A5-4DBB6DE4BF9A}"/>
              </a:ext>
            </a:extLst>
          </p:cNvPr>
          <p:cNvSpPr txBox="1"/>
          <p:nvPr/>
        </p:nvSpPr>
        <p:spPr>
          <a:xfrm>
            <a:off x="4291663" y="7819905"/>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sp>
        <p:nvSpPr>
          <p:cNvPr id="36" name="Text 0">
            <a:extLst>
              <a:ext uri="{FF2B5EF4-FFF2-40B4-BE49-F238E27FC236}">
                <a16:creationId xmlns:a16="http://schemas.microsoft.com/office/drawing/2014/main" id="{33314508-8366-94E2-9FA6-A9ADD933F56C}"/>
              </a:ext>
            </a:extLst>
          </p:cNvPr>
          <p:cNvSpPr/>
          <p:nvPr/>
        </p:nvSpPr>
        <p:spPr>
          <a:xfrm>
            <a:off x="793789" y="2079784"/>
            <a:ext cx="7556421" cy="739616"/>
          </a:xfrm>
          <a:prstGeom prst="rect">
            <a:avLst/>
          </a:prstGeom>
          <a:noFill/>
          <a:ln/>
        </p:spPr>
        <p:txBody>
          <a:bodyPr wrap="square" lIns="0" tIns="0" rIns="0" bIns="0" rtlCol="0" anchor="t"/>
          <a:lstStyle/>
          <a:p>
            <a:pPr marL="0" indent="0">
              <a:lnSpc>
                <a:spcPts val="5550"/>
              </a:lnSpc>
              <a:buNone/>
            </a:pPr>
            <a:r>
              <a:rPr lang="en-US" sz="4450" b="1" dirty="0">
                <a:solidFill>
                  <a:srgbClr val="152D47"/>
                </a:solidFill>
                <a:latin typeface="Times New Roman" panose="02020603050405020304" pitchFamily="18" charset="0"/>
                <a:ea typeface="Crimson Pro Semi Bold" pitchFamily="34" charset="-122"/>
                <a:cs typeface="Times New Roman" panose="02020603050405020304" pitchFamily="18" charset="0"/>
              </a:rPr>
              <a:t>Conclusion:</a:t>
            </a:r>
            <a:endParaRPr lang="en-US" sz="4450" b="1" dirty="0">
              <a:latin typeface="Times New Roman" panose="02020603050405020304" pitchFamily="18" charset="0"/>
              <a:cs typeface="Times New Roman" panose="02020603050405020304" pitchFamily="18" charset="0"/>
            </a:endParaRPr>
          </a:p>
        </p:txBody>
      </p:sp>
      <p:sp>
        <p:nvSpPr>
          <p:cNvPr id="37" name="Text 1">
            <a:extLst>
              <a:ext uri="{FF2B5EF4-FFF2-40B4-BE49-F238E27FC236}">
                <a16:creationId xmlns:a16="http://schemas.microsoft.com/office/drawing/2014/main" id="{2D6D8F09-3A85-E991-EFC0-A0F4C85775F7}"/>
              </a:ext>
            </a:extLst>
          </p:cNvPr>
          <p:cNvSpPr/>
          <p:nvPr/>
        </p:nvSpPr>
        <p:spPr>
          <a:xfrm>
            <a:off x="773931" y="3341112"/>
            <a:ext cx="7556421" cy="3925372"/>
          </a:xfrm>
          <a:prstGeom prst="rect">
            <a:avLst/>
          </a:prstGeom>
          <a:noFill/>
          <a:ln/>
        </p:spPr>
        <p:txBody>
          <a:bodyPr wrap="square" lIns="0" tIns="0" rIns="0" bIns="0" rtlCol="0" anchor="t"/>
          <a:lstStyle/>
          <a:p>
            <a:pPr>
              <a:lnSpc>
                <a:spcPts val="2850"/>
              </a:lnSpc>
            </a:pPr>
            <a:r>
              <a:rPr lang="en-US" sz="2000" dirty="0">
                <a:latin typeface="Heebo" pitchFamily="34" charset="0"/>
                <a:ea typeface="Heebo" pitchFamily="34" charset="-122"/>
                <a:cs typeface="Heebo" pitchFamily="34" charset="-120"/>
              </a:rPr>
              <a:t>In conclusion, the implementation of a highly precise Convolutional Neural Network (CNN) model for brain tumor classification demonstrates the immense potential of deep learning in medical imaging. With a </a:t>
            </a:r>
            <a:r>
              <a:rPr lang="en-US" sz="2000" b="1" dirty="0">
                <a:latin typeface="Heebo" pitchFamily="34" charset="0"/>
                <a:ea typeface="Heebo" pitchFamily="34" charset="-122"/>
                <a:cs typeface="Heebo" pitchFamily="34" charset="-120"/>
              </a:rPr>
              <a:t>classification accuracy</a:t>
            </a:r>
            <a:r>
              <a:rPr lang="en-US" sz="2000" dirty="0">
                <a:latin typeface="Heebo" pitchFamily="34" charset="0"/>
                <a:ea typeface="Heebo" pitchFamily="34" charset="-122"/>
                <a:cs typeface="Heebo" pitchFamily="34" charset="-120"/>
              </a:rPr>
              <a:t> of approximately </a:t>
            </a:r>
            <a:r>
              <a:rPr lang="en-US" sz="2000" b="1" dirty="0">
                <a:latin typeface="Heebo" pitchFamily="34" charset="0"/>
                <a:ea typeface="Heebo" pitchFamily="34" charset="-122"/>
                <a:cs typeface="Heebo" pitchFamily="34" charset="-120"/>
              </a:rPr>
              <a:t>97%</a:t>
            </a:r>
            <a:r>
              <a:rPr lang="en-US" sz="2000" dirty="0">
                <a:latin typeface="Heebo" pitchFamily="34" charset="0"/>
                <a:ea typeface="Heebo" pitchFamily="34" charset="-122"/>
                <a:cs typeface="Heebo" pitchFamily="34" charset="-120"/>
              </a:rPr>
              <a:t>, the model proves to be a reliable and effective tool for assisting medical professionals in diagnosing brain tumors. The CNN's ability to extract and learn hierarchical features from MRI scans enables it to distinguish between different tumor types with exceptional precision. This high accuracy not only minimizes the risk of misdiagnosis but also enhances decision-making, ultimately contributing to improved patient outcomes.</a:t>
            </a:r>
          </a:p>
        </p:txBody>
      </p:sp>
    </p:spTree>
    <p:extLst>
      <p:ext uri="{BB962C8B-B14F-4D97-AF65-F5344CB8AC3E}">
        <p14:creationId xmlns:p14="http://schemas.microsoft.com/office/powerpoint/2010/main" val="4054629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D0CD49-FB61-DCD2-2835-AD7EBE70881C}"/>
              </a:ext>
            </a:extLst>
          </p:cNvPr>
          <p:cNvSpPr txBox="1"/>
          <p:nvPr/>
        </p:nvSpPr>
        <p:spPr>
          <a:xfrm>
            <a:off x="166729" y="1946702"/>
            <a:ext cx="13991922" cy="3785652"/>
          </a:xfrm>
          <a:prstGeom prst="rect">
            <a:avLst/>
          </a:prstGeom>
          <a:noFill/>
        </p:spPr>
        <p:txBody>
          <a:bodyPr wrap="square" rtlCol="0">
            <a:spAutoFit/>
          </a:bodyPr>
          <a:lstStyle/>
          <a:p>
            <a:pPr marL="457200" indent="-457200">
              <a:buAutoNum type="arabicPeriod"/>
            </a:pPr>
            <a:r>
              <a:rPr lang="en-US" sz="2000" b="1" dirty="0">
                <a:latin typeface="Times New Roman" panose="02020603050405020304" pitchFamily="18" charset="0"/>
                <a:cs typeface="Times New Roman" panose="02020603050405020304" pitchFamily="18" charset="0"/>
              </a:rPr>
              <a:t>Enhancing Dataset Diversity and Quality: </a:t>
            </a:r>
            <a:r>
              <a:rPr lang="en-US" sz="2000" dirty="0">
                <a:latin typeface="Times New Roman" panose="02020603050405020304" pitchFamily="18" charset="0"/>
                <a:cs typeface="Times New Roman" panose="02020603050405020304" pitchFamily="18" charset="0"/>
              </a:rPr>
              <a:t>Future work can focus on curating larger and more diverse datasets, including different MRI modalities, scanner types, and patient demographics, to improve the model's robustness, generalizability, and applicability across various clinical scenarios.</a:t>
            </a:r>
          </a:p>
          <a:p>
            <a:pPr marL="457200" indent="-457200">
              <a:buAutoNum type="arabicPeriod"/>
            </a:pPr>
            <a:endParaRPr lang="en-US" sz="2000" dirty="0">
              <a:latin typeface="Times New Roman" panose="02020603050405020304" pitchFamily="18" charset="0"/>
              <a:cs typeface="Times New Roman" panose="02020603050405020304" pitchFamily="18" charset="0"/>
            </a:endParaRPr>
          </a:p>
          <a:p>
            <a:pPr marL="457200" indent="-457200">
              <a:buAutoNum type="arabicPeriod"/>
            </a:pPr>
            <a:r>
              <a:rPr lang="en-US" sz="2000" b="1" dirty="0">
                <a:latin typeface="Times New Roman" panose="02020603050405020304" pitchFamily="18" charset="0"/>
                <a:cs typeface="Times New Roman" panose="02020603050405020304" pitchFamily="18" charset="0"/>
              </a:rPr>
              <a:t>Real-Time Tumor Localization and Analysis: </a:t>
            </a:r>
            <a:r>
              <a:rPr lang="en-US" sz="2000" dirty="0">
                <a:latin typeface="Times New Roman" panose="02020603050405020304" pitchFamily="18" charset="0"/>
                <a:cs typeface="Times New Roman" panose="02020603050405020304" pitchFamily="18" charset="0"/>
              </a:rPr>
              <a:t>Developing models capable of real-time tumor segmentation and classification could assist in surgical planning and intraoperative decision-making, leading to more precise and effective treatments. </a:t>
            </a:r>
          </a:p>
          <a:p>
            <a:pPr marL="457200" indent="-457200">
              <a:buAutoNum type="arabicPeriod"/>
            </a:pPr>
            <a:endParaRPr lang="en-US" sz="2000" dirty="0">
              <a:latin typeface="Times New Roman" panose="02020603050405020304" pitchFamily="18" charset="0"/>
              <a:cs typeface="Times New Roman" panose="02020603050405020304" pitchFamily="18" charset="0"/>
            </a:endParaRPr>
          </a:p>
          <a:p>
            <a:pPr marL="457200" indent="-457200">
              <a:buAutoNum type="arabicPeriod"/>
            </a:pPr>
            <a:r>
              <a:rPr lang="en-US" sz="2000" b="1" dirty="0">
                <a:latin typeface="Times New Roman" panose="02020603050405020304" pitchFamily="18" charset="0"/>
                <a:cs typeface="Times New Roman" panose="02020603050405020304" pitchFamily="18" charset="0"/>
              </a:rPr>
              <a:t>Deployment in Clinical Environments: </a:t>
            </a:r>
            <a:r>
              <a:rPr lang="en-US" sz="2000" dirty="0">
                <a:latin typeface="Times New Roman" panose="02020603050405020304" pitchFamily="18" charset="0"/>
                <a:cs typeface="Times New Roman" panose="02020603050405020304" pitchFamily="18" charset="0"/>
              </a:rPr>
              <a:t>Efforts can focus on translating the CNN model into user-friendly software or mobile applications, enabling its use by clinicians in resource-limited settings or for telemedicine applications.</a:t>
            </a:r>
          </a:p>
          <a:p>
            <a:pPr marL="457200" indent="-457200">
              <a:buAutoNum type="arabicPeriod"/>
            </a:pPr>
            <a:endParaRPr lang="en-US" sz="2000" dirty="0">
              <a:latin typeface="Times New Roman" panose="02020603050405020304" pitchFamily="18" charset="0"/>
              <a:cs typeface="Times New Roman" panose="02020603050405020304" pitchFamily="18" charset="0"/>
            </a:endParaRPr>
          </a:p>
          <a:p>
            <a:pPr marL="457200" indent="-457200">
              <a:buAutoNum type="arabicPeriod"/>
            </a:pPr>
            <a:r>
              <a:rPr lang="en-US" sz="2000" b="1" dirty="0">
                <a:latin typeface="Times New Roman" panose="02020603050405020304" pitchFamily="18" charset="0"/>
                <a:cs typeface="Times New Roman" panose="02020603050405020304" pitchFamily="18" charset="0"/>
              </a:rPr>
              <a:t>Personalized Treatment Recommendations: </a:t>
            </a:r>
            <a:r>
              <a:rPr lang="en-US" sz="2000" dirty="0">
                <a:latin typeface="Times New Roman" panose="02020603050405020304" pitchFamily="18" charset="0"/>
                <a:cs typeface="Times New Roman" panose="02020603050405020304" pitchFamily="18" charset="0"/>
              </a:rPr>
              <a:t>Expanding the model to predict tumor aggressiveness, recurrence likelihood, or responsiveness to specific treatments could facilitate personalized treatment plans, improving patient outcomes.</a:t>
            </a:r>
            <a:endParaRPr lang="en-IN"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30F904D-A7BB-1AC3-4AA9-942066C912AB}"/>
              </a:ext>
            </a:extLst>
          </p:cNvPr>
          <p:cNvSpPr txBox="1"/>
          <p:nvPr/>
        </p:nvSpPr>
        <p:spPr>
          <a:xfrm>
            <a:off x="2240782" y="1011694"/>
            <a:ext cx="9221875" cy="823752"/>
          </a:xfrm>
          <a:prstGeom prst="rect">
            <a:avLst/>
          </a:prstGeom>
          <a:noFill/>
        </p:spPr>
        <p:txBody>
          <a:bodyPr wrap="square">
            <a:spAutoFit/>
          </a:bodyPr>
          <a:lstStyle/>
          <a:p>
            <a:pPr algn="ctr">
              <a:lnSpc>
                <a:spcPct val="150000"/>
              </a:lnSpc>
            </a:pPr>
            <a:r>
              <a:rPr lang="en-IN" sz="3600" b="1" dirty="0">
                <a:latin typeface="Times New Roman" panose="02020603050405020304" pitchFamily="18" charset="0"/>
                <a:ea typeface="Times New Roman" panose="02020603050405020304" pitchFamily="18" charset="0"/>
                <a:cs typeface="Times New Roman" panose="02020603050405020304" pitchFamily="18" charset="0"/>
              </a:rPr>
              <a:t>Future Scope</a:t>
            </a:r>
            <a:endParaRPr lang="en-IN" sz="3600" b="1" dirty="0">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3EE6D1B4-D3DD-63B3-F304-710EB0D034F1}"/>
              </a:ext>
            </a:extLst>
          </p:cNvPr>
          <p:cNvPicPr>
            <a:picLocks noChangeAspect="1"/>
          </p:cNvPicPr>
          <p:nvPr/>
        </p:nvPicPr>
        <p:blipFill>
          <a:blip r:embed="rId2"/>
          <a:stretch>
            <a:fillRect/>
          </a:stretch>
        </p:blipFill>
        <p:spPr>
          <a:xfrm>
            <a:off x="3643" y="241002"/>
            <a:ext cx="681842" cy="390178"/>
          </a:xfrm>
          <a:prstGeom prst="rect">
            <a:avLst/>
          </a:prstGeom>
        </p:spPr>
      </p:pic>
      <p:sp>
        <p:nvSpPr>
          <p:cNvPr id="5" name="object 23">
            <a:extLst>
              <a:ext uri="{FF2B5EF4-FFF2-40B4-BE49-F238E27FC236}">
                <a16:creationId xmlns:a16="http://schemas.microsoft.com/office/drawing/2014/main" id="{912EBFDA-C253-2739-1B95-E949FC960258}"/>
              </a:ext>
            </a:extLst>
          </p:cNvPr>
          <p:cNvSpPr/>
          <p:nvPr/>
        </p:nvSpPr>
        <p:spPr>
          <a:xfrm>
            <a:off x="12183611" y="107719"/>
            <a:ext cx="1209819" cy="704826"/>
          </a:xfrm>
          <a:prstGeom prst="rect">
            <a:avLst/>
          </a:prstGeom>
          <a:blipFill>
            <a:blip r:embed="rId3" cstate="print"/>
            <a:stretch>
              <a:fillRect/>
            </a:stretch>
          </a:blipFill>
        </p:spPr>
        <p:txBody>
          <a:bodyPr wrap="square" lIns="0" tIns="0" rIns="0" bIns="0" rtlCol="0"/>
          <a:lstStyle/>
          <a:p>
            <a:endParaRPr>
              <a:solidFill>
                <a:prstClr val="black"/>
              </a:solidFill>
              <a:latin typeface="Aptos" panose="02110004020202020204"/>
            </a:endParaRPr>
          </a:p>
        </p:txBody>
      </p:sp>
      <p:pic>
        <p:nvPicPr>
          <p:cNvPr id="6" name="Picture 5" descr="A logo with a brain and text&#10;&#10;Description automatically generated">
            <a:extLst>
              <a:ext uri="{FF2B5EF4-FFF2-40B4-BE49-F238E27FC236}">
                <a16:creationId xmlns:a16="http://schemas.microsoft.com/office/drawing/2014/main" id="{9D18123C-FBAD-36D5-8A81-4B704C6AE0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sp>
        <p:nvSpPr>
          <p:cNvPr id="7" name="object 21">
            <a:extLst>
              <a:ext uri="{FF2B5EF4-FFF2-40B4-BE49-F238E27FC236}">
                <a16:creationId xmlns:a16="http://schemas.microsoft.com/office/drawing/2014/main" id="{249923C9-3FAB-6016-3D90-E79F43EB3669}"/>
              </a:ext>
            </a:extLst>
          </p:cNvPr>
          <p:cNvSpPr/>
          <p:nvPr/>
        </p:nvSpPr>
        <p:spPr>
          <a:xfrm>
            <a:off x="833199" y="29986"/>
            <a:ext cx="2029524" cy="858129"/>
          </a:xfrm>
          <a:prstGeom prst="rect">
            <a:avLst/>
          </a:prstGeom>
          <a:blipFill>
            <a:blip r:embed="rId5"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8" name="Picture 7" descr="A yellow and orange circle with a red ribbon&#10;&#10;Description automatically generated">
            <a:extLst>
              <a:ext uri="{FF2B5EF4-FFF2-40B4-BE49-F238E27FC236}">
                <a16:creationId xmlns:a16="http://schemas.microsoft.com/office/drawing/2014/main" id="{24B7234C-6B35-AC53-CDBC-0DBE8D5AFB0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9" name="Rectangle 8">
            <a:extLst>
              <a:ext uri="{FF2B5EF4-FFF2-40B4-BE49-F238E27FC236}">
                <a16:creationId xmlns:a16="http://schemas.microsoft.com/office/drawing/2014/main" id="{08B64EE9-D95C-8BEE-51E8-C08964A428A8}"/>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10" name="Picture 9" descr="A close-up of a blue and gold logo&#10;&#10;Description automatically generated">
            <a:extLst>
              <a:ext uri="{FF2B5EF4-FFF2-40B4-BE49-F238E27FC236}">
                <a16:creationId xmlns:a16="http://schemas.microsoft.com/office/drawing/2014/main" id="{E46EE5DE-ADD9-B2BC-52A4-11D32761C42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11" name="Picture 10">
            <a:extLst>
              <a:ext uri="{FF2B5EF4-FFF2-40B4-BE49-F238E27FC236}">
                <a16:creationId xmlns:a16="http://schemas.microsoft.com/office/drawing/2014/main" id="{B0CA837E-169B-7319-5A44-D1FD250143DA}"/>
              </a:ext>
            </a:extLst>
          </p:cNvPr>
          <p:cNvPicPr>
            <a:picLocks noChangeAspect="1"/>
          </p:cNvPicPr>
          <p:nvPr/>
        </p:nvPicPr>
        <p:blipFill>
          <a:blip r:embed="rId8"/>
          <a:stretch>
            <a:fillRect/>
          </a:stretch>
        </p:blipFill>
        <p:spPr>
          <a:xfrm>
            <a:off x="-19559" y="7851615"/>
            <a:ext cx="14649958" cy="377985"/>
          </a:xfrm>
          <a:prstGeom prst="rect">
            <a:avLst/>
          </a:prstGeom>
        </p:spPr>
      </p:pic>
      <p:sp>
        <p:nvSpPr>
          <p:cNvPr id="12" name="TextBox 11">
            <a:extLst>
              <a:ext uri="{FF2B5EF4-FFF2-40B4-BE49-F238E27FC236}">
                <a16:creationId xmlns:a16="http://schemas.microsoft.com/office/drawing/2014/main" id="{D4813568-C8FC-03FB-9520-EFC5EFA8AE2F}"/>
              </a:ext>
            </a:extLst>
          </p:cNvPr>
          <p:cNvSpPr txBox="1"/>
          <p:nvPr/>
        </p:nvSpPr>
        <p:spPr>
          <a:xfrm>
            <a:off x="4291663" y="7819905"/>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spTree>
    <p:extLst>
      <p:ext uri="{BB962C8B-B14F-4D97-AF65-F5344CB8AC3E}">
        <p14:creationId xmlns:p14="http://schemas.microsoft.com/office/powerpoint/2010/main" val="23980094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75803A4-4ECC-A03F-399F-C55460B5261E}"/>
              </a:ext>
            </a:extLst>
          </p:cNvPr>
          <p:cNvSpPr txBox="1"/>
          <p:nvPr/>
        </p:nvSpPr>
        <p:spPr>
          <a:xfrm>
            <a:off x="197402" y="372645"/>
            <a:ext cx="13959469" cy="6738768"/>
          </a:xfrm>
          <a:prstGeom prst="rect">
            <a:avLst/>
          </a:prstGeom>
          <a:noFill/>
        </p:spPr>
        <p:txBody>
          <a:bodyPr wrap="square" rtlCol="0">
            <a:spAutoFit/>
          </a:bodyPr>
          <a:lstStyle/>
          <a:p>
            <a:pPr algn="just">
              <a:lnSpc>
                <a:spcPct val="150000"/>
              </a:lnSpc>
            </a:pPr>
            <a:endParaRPr lang="en-IN" sz="2400" b="1" dirty="0">
              <a:latin typeface="Times New Roman" panose="02020603050405020304" pitchFamily="18" charset="0"/>
              <a:ea typeface="Times New Roman" panose="02020603050405020304" pitchFamily="18" charset="0"/>
            </a:endParaRPr>
          </a:p>
          <a:p>
            <a:pPr algn="just">
              <a:lnSpc>
                <a:spcPct val="150000"/>
              </a:lnSpc>
            </a:pPr>
            <a:r>
              <a:rPr lang="en-IN" sz="2800" b="1" dirty="0">
                <a:latin typeface="Times New Roman" panose="02020603050405020304" pitchFamily="18" charset="0"/>
                <a:ea typeface="Times New Roman" panose="02020603050405020304" pitchFamily="18" charset="0"/>
              </a:rPr>
              <a:t>REFERENCES</a:t>
            </a:r>
            <a:r>
              <a:rPr lang="en-IN" sz="2000" b="1" i="1" dirty="0">
                <a:effectLst/>
                <a:latin typeface="Times New Roman" panose="02020603050405020304" pitchFamily="18" charset="0"/>
                <a:ea typeface="Times New Roman" panose="02020603050405020304" pitchFamily="18" charset="0"/>
              </a:rPr>
              <a:t> :</a:t>
            </a:r>
          </a:p>
          <a:p>
            <a:pPr algn="just">
              <a:lnSpc>
                <a:spcPct val="150000"/>
              </a:lnSpc>
            </a:pPr>
            <a:endParaRPr lang="en-IN" b="1" i="1" dirty="0">
              <a:effectLst/>
              <a:latin typeface="Times New Roman" panose="02020603050405020304" pitchFamily="18" charset="0"/>
              <a:ea typeface="Times New Roman" panose="02020603050405020304" pitchFamily="18" charset="0"/>
            </a:endParaRPr>
          </a:p>
          <a:p>
            <a:pPr algn="just">
              <a:lnSpc>
                <a:spcPct val="150000"/>
              </a:lnSpc>
            </a:pPr>
            <a:r>
              <a:rPr lang="en-IN" sz="2000" dirty="0"/>
              <a:t>[1] </a:t>
            </a:r>
            <a:r>
              <a:rPr lang="en-IN" sz="2000" dirty="0">
                <a:latin typeface="Times New Roman" panose="02020603050405020304" pitchFamily="18" charset="0"/>
                <a:cs typeface="Times New Roman" panose="02020603050405020304" pitchFamily="18" charset="0"/>
              </a:rPr>
              <a:t>Sachin S. Patil, V. Kumar (2021).Brain </a:t>
            </a:r>
            <a:r>
              <a:rPr lang="en-IN" sz="2000" dirty="0" err="1">
                <a:latin typeface="Times New Roman" panose="02020603050405020304" pitchFamily="18" charset="0"/>
                <a:cs typeface="Times New Roman" panose="02020603050405020304" pitchFamily="18" charset="0"/>
              </a:rPr>
              <a:t>Tumor</a:t>
            </a:r>
            <a:r>
              <a:rPr lang="en-IN" sz="2000" dirty="0">
                <a:latin typeface="Times New Roman" panose="02020603050405020304" pitchFamily="18" charset="0"/>
                <a:cs typeface="Times New Roman" panose="02020603050405020304" pitchFamily="18" charset="0"/>
              </a:rPr>
              <a:t> Classification Using Convolutional Neural Networks. IEEE Access, Vol. 9, pp. 	72788-72799. [Link](https://ieeexplore.ieee.org/document/9478483) </a:t>
            </a:r>
          </a:p>
          <a:p>
            <a:pPr algn="just">
              <a:lnSpc>
                <a:spcPct val="150000"/>
              </a:lnSpc>
            </a:pPr>
            <a:r>
              <a:rPr lang="en-IN" sz="2000" dirty="0">
                <a:latin typeface="Times New Roman" panose="02020603050405020304" pitchFamily="18" charset="0"/>
                <a:cs typeface="Times New Roman" panose="02020603050405020304" pitchFamily="18" charset="0"/>
              </a:rPr>
              <a:t>[2] Kamran, A., Khan, S., &amp; Ahmad, S. (2022). Deep CNN with Connected CRF for Brain </a:t>
            </a:r>
            <a:r>
              <a:rPr lang="en-IN" sz="2000" dirty="0" err="1">
                <a:latin typeface="Times New Roman" panose="02020603050405020304" pitchFamily="18" charset="0"/>
                <a:cs typeface="Times New Roman" panose="02020603050405020304" pitchFamily="18" charset="0"/>
              </a:rPr>
              <a:t>Tumor</a:t>
            </a:r>
            <a:r>
              <a:rPr lang="en-IN" sz="2000" dirty="0">
                <a:latin typeface="Times New Roman" panose="02020603050405020304" pitchFamily="18" charset="0"/>
                <a:cs typeface="Times New Roman" panose="02020603050405020304" pitchFamily="18" charset="0"/>
              </a:rPr>
              <a:t> Segmentation. IEEE Access, 	Vol. 9, pp. 54242-54254. [Link](https://ieeexplore.ieee.org/document/9374549) </a:t>
            </a:r>
          </a:p>
          <a:p>
            <a:pPr algn="just">
              <a:lnSpc>
                <a:spcPct val="150000"/>
              </a:lnSpc>
            </a:pPr>
            <a:r>
              <a:rPr lang="en-IN" sz="2000" dirty="0">
                <a:latin typeface="Times New Roman" panose="02020603050405020304" pitchFamily="18" charset="0"/>
                <a:cs typeface="Times New Roman" panose="02020603050405020304" pitchFamily="18" charset="0"/>
              </a:rPr>
              <a:t>[3] Ozan </a:t>
            </a:r>
            <a:r>
              <a:rPr lang="en-IN" sz="2000" dirty="0" err="1">
                <a:latin typeface="Times New Roman" panose="02020603050405020304" pitchFamily="18" charset="0"/>
                <a:cs typeface="Times New Roman" panose="02020603050405020304" pitchFamily="18" charset="0"/>
              </a:rPr>
              <a:t>Oktay</a:t>
            </a:r>
            <a:r>
              <a:rPr lang="en-IN" sz="2000" dirty="0">
                <a:latin typeface="Times New Roman" panose="02020603050405020304" pitchFamily="18" charset="0"/>
                <a:cs typeface="Times New Roman" panose="02020603050405020304" pitchFamily="18" charset="0"/>
              </a:rPr>
              <a:t>, Jo </a:t>
            </a:r>
            <a:r>
              <a:rPr lang="en-IN" sz="2000" dirty="0" err="1">
                <a:latin typeface="Times New Roman" panose="02020603050405020304" pitchFamily="18" charset="0"/>
                <a:cs typeface="Times New Roman" panose="02020603050405020304" pitchFamily="18" charset="0"/>
              </a:rPr>
              <a:t>Schlemper</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Loic</a:t>
            </a:r>
            <a:r>
              <a:rPr lang="en-IN" sz="2000" dirty="0">
                <a:latin typeface="Times New Roman" panose="02020603050405020304" pitchFamily="18" charset="0"/>
                <a:cs typeface="Times New Roman" panose="02020603050405020304" pitchFamily="18" charset="0"/>
              </a:rPr>
              <a:t> Le </a:t>
            </a:r>
            <a:r>
              <a:rPr lang="en-IN" sz="2000" dirty="0" err="1">
                <a:latin typeface="Times New Roman" panose="02020603050405020304" pitchFamily="18" charset="0"/>
                <a:cs typeface="Times New Roman" panose="02020603050405020304" pitchFamily="18" charset="0"/>
              </a:rPr>
              <a:t>Folgoc</a:t>
            </a:r>
            <a:r>
              <a:rPr lang="en-IN" sz="2000" dirty="0">
                <a:latin typeface="Times New Roman" panose="02020603050405020304" pitchFamily="18" charset="0"/>
                <a:cs typeface="Times New Roman" panose="02020603050405020304" pitchFamily="18" charset="0"/>
              </a:rPr>
              <a:t>. (2022). Attention U-Net: Learning Where to Look for the Pancreas. IEEE Access, 	Vol. 9, pp. 67018-67026. [Link](https://ieeexplore.ieee.org/document/9484379) </a:t>
            </a:r>
          </a:p>
          <a:p>
            <a:pPr algn="just">
              <a:lnSpc>
                <a:spcPct val="150000"/>
              </a:lnSpc>
            </a:pPr>
            <a:r>
              <a:rPr lang="en-IN" sz="2000" dirty="0">
                <a:latin typeface="Times New Roman" panose="02020603050405020304" pitchFamily="18" charset="0"/>
                <a:cs typeface="Times New Roman" panose="02020603050405020304" pitchFamily="18" charset="0"/>
              </a:rPr>
              <a:t>[4] P. Afshar, M. </a:t>
            </a:r>
            <a:r>
              <a:rPr lang="en-IN" sz="2000" dirty="0" err="1">
                <a:latin typeface="Times New Roman" panose="02020603050405020304" pitchFamily="18" charset="0"/>
                <a:cs typeface="Times New Roman" panose="02020603050405020304" pitchFamily="18" charset="0"/>
              </a:rPr>
              <a:t>Plataniotis</a:t>
            </a:r>
            <a:r>
              <a:rPr lang="en-IN" sz="2000" dirty="0">
                <a:latin typeface="Times New Roman" panose="02020603050405020304" pitchFamily="18" charset="0"/>
                <a:cs typeface="Times New Roman" panose="02020603050405020304" pitchFamily="18" charset="0"/>
              </a:rPr>
              <a:t>, A. Mohammadi. (2021). Brain </a:t>
            </a:r>
            <a:r>
              <a:rPr lang="en-IN" sz="2000" dirty="0" err="1">
                <a:latin typeface="Times New Roman" panose="02020603050405020304" pitchFamily="18" charset="0"/>
                <a:cs typeface="Times New Roman" panose="02020603050405020304" pitchFamily="18" charset="0"/>
              </a:rPr>
              <a:t>Tumor</a:t>
            </a:r>
            <a:r>
              <a:rPr lang="en-IN" sz="2000" dirty="0">
                <a:latin typeface="Times New Roman" panose="02020603050405020304" pitchFamily="18" charset="0"/>
                <a:cs typeface="Times New Roman" panose="02020603050405020304" pitchFamily="18" charset="0"/>
              </a:rPr>
              <a:t> Segmentation and Classification Using CNN, Vol. 40, No. 3, 	pp. 889-900. [Link](</a:t>
            </a:r>
            <a:r>
              <a:rPr lang="en-IN" sz="2000" dirty="0">
                <a:latin typeface="Times New Roman" panose="02020603050405020304" pitchFamily="18" charset="0"/>
                <a:cs typeface="Times New Roman" panose="02020603050405020304" pitchFamily="18" charset="0"/>
                <a:hlinkClick r:id="rId2"/>
              </a:rPr>
              <a:t>https://ieeexplore.ieee.org/document/9134568</a:t>
            </a:r>
            <a:r>
              <a:rPr lang="en-IN" sz="2000" dirty="0">
                <a:latin typeface="Times New Roman" panose="02020603050405020304" pitchFamily="18" charset="0"/>
                <a:cs typeface="Times New Roman" panose="02020603050405020304" pitchFamily="18" charset="0"/>
              </a:rPr>
              <a:t>)</a:t>
            </a:r>
          </a:p>
          <a:p>
            <a:pPr algn="just">
              <a:lnSpc>
                <a:spcPct val="150000"/>
              </a:lnSpc>
            </a:pPr>
            <a:r>
              <a:rPr lang="en-IN" sz="2000" dirty="0">
                <a:latin typeface="Times New Roman" panose="02020603050405020304" pitchFamily="18" charset="0"/>
                <a:cs typeface="Times New Roman" panose="02020603050405020304" pitchFamily="18" charset="0"/>
              </a:rPr>
              <a:t> [5] H. </a:t>
            </a:r>
            <a:r>
              <a:rPr lang="en-IN" sz="2000" dirty="0" err="1">
                <a:latin typeface="Times New Roman" panose="02020603050405020304" pitchFamily="18" charset="0"/>
                <a:cs typeface="Times New Roman" panose="02020603050405020304" pitchFamily="18" charset="0"/>
              </a:rPr>
              <a:t>Talo</a:t>
            </a:r>
            <a:r>
              <a:rPr lang="en-IN" sz="2000" dirty="0">
                <a:latin typeface="Times New Roman" panose="02020603050405020304" pitchFamily="18" charset="0"/>
                <a:cs typeface="Times New Roman" panose="02020603050405020304" pitchFamily="18" charset="0"/>
              </a:rPr>
              <a:t>, Y. </a:t>
            </a:r>
            <a:r>
              <a:rPr lang="en-IN" sz="2000" dirty="0" err="1">
                <a:latin typeface="Times New Roman" panose="02020603050405020304" pitchFamily="18" charset="0"/>
                <a:cs typeface="Times New Roman" panose="02020603050405020304" pitchFamily="18" charset="0"/>
              </a:rPr>
              <a:t>Baloglu</a:t>
            </a:r>
            <a:r>
              <a:rPr lang="en-IN" sz="2000" dirty="0">
                <a:latin typeface="Times New Roman" panose="02020603050405020304" pitchFamily="18" charset="0"/>
                <a:cs typeface="Times New Roman" panose="02020603050405020304" pitchFamily="18" charset="0"/>
              </a:rPr>
              <a:t>, O. Yildirim. (2023). Multi-Scale Attention Convolutional Neural Network for Brain </a:t>
            </a:r>
            <a:r>
              <a:rPr lang="en-IN" sz="2000" dirty="0" err="1">
                <a:latin typeface="Times New Roman" panose="02020603050405020304" pitchFamily="18" charset="0"/>
                <a:cs typeface="Times New Roman" panose="02020603050405020304" pitchFamily="18" charset="0"/>
              </a:rPr>
              <a:t>Tumor</a:t>
            </a:r>
            <a:r>
              <a:rPr lang="en-IN" sz="2000" dirty="0">
                <a:latin typeface="Times New Roman" panose="02020603050405020304" pitchFamily="18" charset="0"/>
                <a:cs typeface="Times New Roman" panose="02020603050405020304" pitchFamily="18" charset="0"/>
              </a:rPr>
              <a:t> Classification. 	IEEE Transactions on Neural Networks and Learning Systems, Vol. 32, No. 6, pp. 1211-1220. 	[Link](https://ieeexplore.ieee.org/document/9197789)</a:t>
            </a:r>
            <a:endParaRPr lang="en-IN"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39A932E9-499E-8C64-3080-863B66328A1D}"/>
              </a:ext>
            </a:extLst>
          </p:cNvPr>
          <p:cNvPicPr>
            <a:picLocks noChangeAspect="1"/>
          </p:cNvPicPr>
          <p:nvPr/>
        </p:nvPicPr>
        <p:blipFill>
          <a:blip r:embed="rId3"/>
          <a:stretch>
            <a:fillRect/>
          </a:stretch>
        </p:blipFill>
        <p:spPr>
          <a:xfrm>
            <a:off x="3643" y="241002"/>
            <a:ext cx="681842" cy="390178"/>
          </a:xfrm>
          <a:prstGeom prst="rect">
            <a:avLst/>
          </a:prstGeom>
        </p:spPr>
      </p:pic>
      <p:sp>
        <p:nvSpPr>
          <p:cNvPr id="14" name="object 23">
            <a:extLst>
              <a:ext uri="{FF2B5EF4-FFF2-40B4-BE49-F238E27FC236}">
                <a16:creationId xmlns:a16="http://schemas.microsoft.com/office/drawing/2014/main" id="{7045852A-A2F3-70D1-D6DE-CF910530D045}"/>
              </a:ext>
            </a:extLst>
          </p:cNvPr>
          <p:cNvSpPr/>
          <p:nvPr/>
        </p:nvSpPr>
        <p:spPr>
          <a:xfrm>
            <a:off x="12183611" y="107719"/>
            <a:ext cx="1209819" cy="704826"/>
          </a:xfrm>
          <a:prstGeom prst="rect">
            <a:avLst/>
          </a:prstGeom>
          <a:blipFill>
            <a:blip r:embed="rId4" cstate="print"/>
            <a:stretch>
              <a:fillRect/>
            </a:stretch>
          </a:blipFill>
        </p:spPr>
        <p:txBody>
          <a:bodyPr wrap="square" lIns="0" tIns="0" rIns="0" bIns="0" rtlCol="0"/>
          <a:lstStyle/>
          <a:p>
            <a:endParaRPr>
              <a:solidFill>
                <a:prstClr val="black"/>
              </a:solidFill>
              <a:latin typeface="Aptos" panose="02110004020202020204"/>
            </a:endParaRPr>
          </a:p>
        </p:txBody>
      </p:sp>
      <p:pic>
        <p:nvPicPr>
          <p:cNvPr id="15" name="Picture 14" descr="A logo with a brain and text&#10;&#10;Description automatically generated">
            <a:extLst>
              <a:ext uri="{FF2B5EF4-FFF2-40B4-BE49-F238E27FC236}">
                <a16:creationId xmlns:a16="http://schemas.microsoft.com/office/drawing/2014/main" id="{F5A4A679-DDDB-520C-B9DC-58DDDBABA3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sp>
        <p:nvSpPr>
          <p:cNvPr id="16" name="object 21">
            <a:extLst>
              <a:ext uri="{FF2B5EF4-FFF2-40B4-BE49-F238E27FC236}">
                <a16:creationId xmlns:a16="http://schemas.microsoft.com/office/drawing/2014/main" id="{C357DBD2-FEA9-EA12-EA54-3DF16B404024}"/>
              </a:ext>
            </a:extLst>
          </p:cNvPr>
          <p:cNvSpPr/>
          <p:nvPr/>
        </p:nvSpPr>
        <p:spPr>
          <a:xfrm>
            <a:off x="833199" y="29986"/>
            <a:ext cx="2029524" cy="858129"/>
          </a:xfrm>
          <a:prstGeom prst="rect">
            <a:avLst/>
          </a:prstGeom>
          <a:blipFill>
            <a:blip r:embed="rId6"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17" name="Picture 16" descr="A yellow and orange circle with a red ribbon&#10;&#10;Description automatically generated">
            <a:extLst>
              <a:ext uri="{FF2B5EF4-FFF2-40B4-BE49-F238E27FC236}">
                <a16:creationId xmlns:a16="http://schemas.microsoft.com/office/drawing/2014/main" id="{62868A84-74E8-191F-9D7E-88BAA74BD33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18" name="Rectangle 17">
            <a:extLst>
              <a:ext uri="{FF2B5EF4-FFF2-40B4-BE49-F238E27FC236}">
                <a16:creationId xmlns:a16="http://schemas.microsoft.com/office/drawing/2014/main" id="{A8D0CF68-96F8-0FE5-5B08-021EA96B3C9C}"/>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19" name="Picture 18" descr="A close-up of a blue and gold logo&#10;&#10;Description automatically generated">
            <a:extLst>
              <a:ext uri="{FF2B5EF4-FFF2-40B4-BE49-F238E27FC236}">
                <a16:creationId xmlns:a16="http://schemas.microsoft.com/office/drawing/2014/main" id="{714A8117-68CD-FAD9-5ED8-6E364B6CA43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20" name="Picture 19">
            <a:extLst>
              <a:ext uri="{FF2B5EF4-FFF2-40B4-BE49-F238E27FC236}">
                <a16:creationId xmlns:a16="http://schemas.microsoft.com/office/drawing/2014/main" id="{31DB5D4E-633F-CA7A-517E-A8E21E580494}"/>
              </a:ext>
            </a:extLst>
          </p:cNvPr>
          <p:cNvPicPr>
            <a:picLocks noChangeAspect="1"/>
          </p:cNvPicPr>
          <p:nvPr/>
        </p:nvPicPr>
        <p:blipFill>
          <a:blip r:embed="rId9"/>
          <a:stretch>
            <a:fillRect/>
          </a:stretch>
        </p:blipFill>
        <p:spPr>
          <a:xfrm>
            <a:off x="-19559" y="7851615"/>
            <a:ext cx="14649958" cy="377985"/>
          </a:xfrm>
          <a:prstGeom prst="rect">
            <a:avLst/>
          </a:prstGeom>
        </p:spPr>
      </p:pic>
      <p:sp>
        <p:nvSpPr>
          <p:cNvPr id="21" name="TextBox 20">
            <a:extLst>
              <a:ext uri="{FF2B5EF4-FFF2-40B4-BE49-F238E27FC236}">
                <a16:creationId xmlns:a16="http://schemas.microsoft.com/office/drawing/2014/main" id="{980BCF4A-A762-AB10-6812-2CC85C4CE223}"/>
              </a:ext>
            </a:extLst>
          </p:cNvPr>
          <p:cNvSpPr txBox="1"/>
          <p:nvPr/>
        </p:nvSpPr>
        <p:spPr>
          <a:xfrm>
            <a:off x="4291663" y="7819905"/>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spTree>
    <p:extLst>
      <p:ext uri="{BB962C8B-B14F-4D97-AF65-F5344CB8AC3E}">
        <p14:creationId xmlns:p14="http://schemas.microsoft.com/office/powerpoint/2010/main" val="1882305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A932E9-499E-8C64-3080-863B66328A1D}"/>
              </a:ext>
            </a:extLst>
          </p:cNvPr>
          <p:cNvPicPr>
            <a:picLocks noChangeAspect="1"/>
          </p:cNvPicPr>
          <p:nvPr/>
        </p:nvPicPr>
        <p:blipFill>
          <a:blip r:embed="rId2"/>
          <a:stretch>
            <a:fillRect/>
          </a:stretch>
        </p:blipFill>
        <p:spPr>
          <a:xfrm>
            <a:off x="3643" y="241002"/>
            <a:ext cx="681842" cy="390178"/>
          </a:xfrm>
          <a:prstGeom prst="rect">
            <a:avLst/>
          </a:prstGeom>
        </p:spPr>
      </p:pic>
      <p:sp>
        <p:nvSpPr>
          <p:cNvPr id="4" name="object 23">
            <a:extLst>
              <a:ext uri="{FF2B5EF4-FFF2-40B4-BE49-F238E27FC236}">
                <a16:creationId xmlns:a16="http://schemas.microsoft.com/office/drawing/2014/main" id="{7045852A-A2F3-70D1-D6DE-CF910530D045}"/>
              </a:ext>
            </a:extLst>
          </p:cNvPr>
          <p:cNvSpPr/>
          <p:nvPr/>
        </p:nvSpPr>
        <p:spPr>
          <a:xfrm>
            <a:off x="12183611" y="107719"/>
            <a:ext cx="1209819" cy="704826"/>
          </a:xfrm>
          <a:prstGeom prst="rect">
            <a:avLst/>
          </a:prstGeom>
          <a:blipFill>
            <a:blip r:embed="rId3" cstate="print"/>
            <a:stretch>
              <a:fillRect/>
            </a:stretch>
          </a:blipFill>
        </p:spPr>
        <p:txBody>
          <a:bodyPr wrap="square" lIns="0" tIns="0" rIns="0" bIns="0" rtlCol="0"/>
          <a:lstStyle/>
          <a:p>
            <a:endParaRPr>
              <a:solidFill>
                <a:prstClr val="black"/>
              </a:solidFill>
              <a:latin typeface="Aptos" panose="02110004020202020204"/>
            </a:endParaRPr>
          </a:p>
        </p:txBody>
      </p:sp>
      <p:pic>
        <p:nvPicPr>
          <p:cNvPr id="5" name="Picture 4" descr="A logo with a brain and text&#10;&#10;Description automatically generated">
            <a:extLst>
              <a:ext uri="{FF2B5EF4-FFF2-40B4-BE49-F238E27FC236}">
                <a16:creationId xmlns:a16="http://schemas.microsoft.com/office/drawing/2014/main" id="{F5A4A679-DDDB-520C-B9DC-58DDDBABA3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34109" y="24753"/>
            <a:ext cx="1012874" cy="914401"/>
          </a:xfrm>
          <a:prstGeom prst="rect">
            <a:avLst/>
          </a:prstGeom>
        </p:spPr>
      </p:pic>
      <p:sp>
        <p:nvSpPr>
          <p:cNvPr id="6" name="object 21">
            <a:extLst>
              <a:ext uri="{FF2B5EF4-FFF2-40B4-BE49-F238E27FC236}">
                <a16:creationId xmlns:a16="http://schemas.microsoft.com/office/drawing/2014/main" id="{C357DBD2-FEA9-EA12-EA54-3DF16B404024}"/>
              </a:ext>
            </a:extLst>
          </p:cNvPr>
          <p:cNvSpPr/>
          <p:nvPr/>
        </p:nvSpPr>
        <p:spPr>
          <a:xfrm>
            <a:off x="833199" y="29986"/>
            <a:ext cx="2029524" cy="858129"/>
          </a:xfrm>
          <a:prstGeom prst="rect">
            <a:avLst/>
          </a:prstGeom>
          <a:blipFill>
            <a:blip r:embed="rId5" cstate="print"/>
            <a:stretch>
              <a:fillRect/>
            </a:stretch>
          </a:blipFill>
        </p:spPr>
        <p:txBody>
          <a:bodyPr wrap="square" lIns="0" tIns="0" rIns="0" bIns="0" rtlCol="0"/>
          <a:lstStyle/>
          <a:p>
            <a:endParaRPr dirty="0">
              <a:solidFill>
                <a:prstClr val="black"/>
              </a:solidFill>
              <a:latin typeface="Aptos" panose="02110004020202020204"/>
            </a:endParaRPr>
          </a:p>
        </p:txBody>
      </p:sp>
      <p:pic>
        <p:nvPicPr>
          <p:cNvPr id="7" name="Picture 6" descr="A yellow and orange circle with a red ribbon&#10;&#10;Description automatically generated">
            <a:extLst>
              <a:ext uri="{FF2B5EF4-FFF2-40B4-BE49-F238E27FC236}">
                <a16:creationId xmlns:a16="http://schemas.microsoft.com/office/drawing/2014/main" id="{62868A84-74E8-191F-9D7E-88BAA74BD3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03722" y="38820"/>
            <a:ext cx="970670" cy="900332"/>
          </a:xfrm>
          <a:prstGeom prst="rect">
            <a:avLst/>
          </a:prstGeom>
        </p:spPr>
      </p:pic>
      <p:sp>
        <p:nvSpPr>
          <p:cNvPr id="8" name="Rectangle 7">
            <a:extLst>
              <a:ext uri="{FF2B5EF4-FFF2-40B4-BE49-F238E27FC236}">
                <a16:creationId xmlns:a16="http://schemas.microsoft.com/office/drawing/2014/main" id="{A8D0CF68-96F8-0FE5-5B08-021EA96B3C9C}"/>
              </a:ext>
            </a:extLst>
          </p:cNvPr>
          <p:cNvSpPr/>
          <p:nvPr/>
        </p:nvSpPr>
        <p:spPr>
          <a:xfrm>
            <a:off x="3056027" y="237126"/>
            <a:ext cx="6307015" cy="393895"/>
          </a:xfrm>
          <a:prstGeom prst="rect">
            <a:avLst/>
          </a:prstGeom>
          <a:solidFill>
            <a:srgbClr val="0E2841">
              <a:lumMod val="75000"/>
              <a:lumOff val="25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196B24">
                  <a:lumMod val="40000"/>
                  <a:lumOff val="60000"/>
                </a:srgbClr>
              </a:solidFill>
              <a:effectLst/>
              <a:uLnTx/>
              <a:uFillTx/>
              <a:latin typeface="Aptos" panose="02110004020202020204"/>
              <a:ea typeface="+mn-ea"/>
              <a:cs typeface="+mn-cs"/>
            </a:endParaRPr>
          </a:p>
        </p:txBody>
      </p:sp>
      <p:pic>
        <p:nvPicPr>
          <p:cNvPr id="9" name="Picture 8" descr="A close-up of a blue and gold logo&#10;&#10;Description automatically generated">
            <a:extLst>
              <a:ext uri="{FF2B5EF4-FFF2-40B4-BE49-F238E27FC236}">
                <a16:creationId xmlns:a16="http://schemas.microsoft.com/office/drawing/2014/main" id="{714A8117-68CD-FAD9-5ED8-6E364B6CA4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86932" y="109160"/>
            <a:ext cx="1428940" cy="703385"/>
          </a:xfrm>
          <a:prstGeom prst="rect">
            <a:avLst/>
          </a:prstGeom>
        </p:spPr>
      </p:pic>
      <p:pic>
        <p:nvPicPr>
          <p:cNvPr id="10" name="Picture 9">
            <a:extLst>
              <a:ext uri="{FF2B5EF4-FFF2-40B4-BE49-F238E27FC236}">
                <a16:creationId xmlns:a16="http://schemas.microsoft.com/office/drawing/2014/main" id="{31DB5D4E-633F-CA7A-517E-A8E21E580494}"/>
              </a:ext>
            </a:extLst>
          </p:cNvPr>
          <p:cNvPicPr>
            <a:picLocks noChangeAspect="1"/>
          </p:cNvPicPr>
          <p:nvPr/>
        </p:nvPicPr>
        <p:blipFill>
          <a:blip r:embed="rId8"/>
          <a:stretch>
            <a:fillRect/>
          </a:stretch>
        </p:blipFill>
        <p:spPr>
          <a:xfrm>
            <a:off x="-19559" y="7851615"/>
            <a:ext cx="14649958" cy="377985"/>
          </a:xfrm>
          <a:prstGeom prst="rect">
            <a:avLst/>
          </a:prstGeom>
        </p:spPr>
      </p:pic>
      <p:sp>
        <p:nvSpPr>
          <p:cNvPr id="11" name="TextBox 10">
            <a:extLst>
              <a:ext uri="{FF2B5EF4-FFF2-40B4-BE49-F238E27FC236}">
                <a16:creationId xmlns:a16="http://schemas.microsoft.com/office/drawing/2014/main" id="{980BCF4A-A762-AB10-6812-2CC85C4CE223}"/>
              </a:ext>
            </a:extLst>
          </p:cNvPr>
          <p:cNvSpPr txBox="1"/>
          <p:nvPr/>
        </p:nvSpPr>
        <p:spPr>
          <a:xfrm>
            <a:off x="4291663" y="7819905"/>
            <a:ext cx="7724209" cy="400110"/>
          </a:xfrm>
          <a:prstGeom prst="rect">
            <a:avLst/>
          </a:prstGeom>
          <a:noFill/>
        </p:spPr>
        <p:txBody>
          <a:bodyPr wrap="square" rtlCol="0">
            <a:spAutoFit/>
          </a:bodyPr>
          <a:lstStyle/>
          <a:p>
            <a:r>
              <a:rPr lang="en-US" sz="2000" dirty="0">
                <a:solidFill>
                  <a:srgbClr val="FFFF00"/>
                </a:solidFill>
              </a:rPr>
              <a:t>Department of Computer Science and Engineering - AIML</a:t>
            </a:r>
          </a:p>
        </p:txBody>
      </p:sp>
      <p:sp>
        <p:nvSpPr>
          <p:cNvPr id="12" name="Rectangle 11"/>
          <p:cNvSpPr/>
          <p:nvPr/>
        </p:nvSpPr>
        <p:spPr>
          <a:xfrm>
            <a:off x="5701843" y="3408750"/>
            <a:ext cx="3226717"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Thank You </a:t>
            </a:r>
          </a:p>
        </p:txBody>
      </p:sp>
    </p:spTree>
    <p:extLst>
      <p:ext uri="{BB962C8B-B14F-4D97-AF65-F5344CB8AC3E}">
        <p14:creationId xmlns:p14="http://schemas.microsoft.com/office/powerpoint/2010/main" val="1816117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7694</TotalTime>
  <Words>1851</Words>
  <Application>Microsoft Office PowerPoint</Application>
  <PresentationFormat>Custom</PresentationFormat>
  <Paragraphs>159</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Aptos</vt:lpstr>
      <vt:lpstr>Arial</vt:lpstr>
      <vt:lpstr>Calibri</vt:lpstr>
      <vt:lpstr>Crimson Pro Semi Bold</vt:lpstr>
      <vt:lpstr>Heebo</vt:lpstr>
      <vt:lpstr>Times New Roman</vt:lpstr>
      <vt:lpstr>times of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Darren</cp:lastModifiedBy>
  <cp:revision>89</cp:revision>
  <dcterms:created xsi:type="dcterms:W3CDTF">2024-06-14T13:55:56Z</dcterms:created>
  <dcterms:modified xsi:type="dcterms:W3CDTF">2025-02-07T10:16:29Z</dcterms:modified>
</cp:coreProperties>
</file>